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70cd06019cd4c5c" /><Relationship Type="http://schemas.openxmlformats.org/officeDocument/2006/relationships/extended-properties" Target="/docProps/app.xml" Id="Rc27df8f6fb894ab0" /><Relationship Type="http://schemas.openxmlformats.org/officeDocument/2006/relationships/officeDocument" Target="/ppt/presentation.xml" Id="R2bf88394241942ee" /></Relationships>
</file>

<file path=ppt/presentation.xml><?xml version="1.0" encoding="utf-8"?>
<p:presentation xmlns:p="http://schemas.openxmlformats.org/presentationml/2006/main">
  <p:sldMasterIdLst>
    <p:sldMasterId xmlns:r="http://schemas.openxmlformats.org/officeDocument/2006/relationships" id="2147483648" r:id="Rcb2784a95dd446ae"/>
  </p:sldMasterIdLst>
  <p:notesMasterIdLst>
    <p:notesMasterId xmlns:r="http://schemas.openxmlformats.org/officeDocument/2006/relationships" r:id="R78d67af5e3c44004"/>
  </p:notesMasterIdLst>
  <p:sldIdLst>
    <p:sldId xmlns:r="http://schemas.openxmlformats.org/officeDocument/2006/relationships" id="256" r:id="R322baaa558a34acc"/>
    <p:sldId xmlns:r="http://schemas.openxmlformats.org/officeDocument/2006/relationships" id="257" r:id="Rad1430ae56834867"/>
    <p:sldId xmlns:r="http://schemas.openxmlformats.org/officeDocument/2006/relationships" id="258" r:id="Rdd71177ec27844d5"/>
    <p:sldId xmlns:r="http://schemas.openxmlformats.org/officeDocument/2006/relationships" id="259" r:id="Rbfdeabd5ca9449cd"/>
    <p:sldId xmlns:r="http://schemas.openxmlformats.org/officeDocument/2006/relationships" id="260" r:id="Rdfd687fcd1464181"/>
    <p:sldId xmlns:r="http://schemas.openxmlformats.org/officeDocument/2006/relationships" id="261" r:id="R2e65042ec2d04f35"/>
    <p:sldId xmlns:r="http://schemas.openxmlformats.org/officeDocument/2006/relationships" id="262" r:id="R5a031e9361d74103"/>
    <p:sldId xmlns:r="http://schemas.openxmlformats.org/officeDocument/2006/relationships" id="263" r:id="Ra3c1befcb8f1429c"/>
    <p:sldId xmlns:r="http://schemas.openxmlformats.org/officeDocument/2006/relationships" id="264" r:id="Reee01cfeb74342d4"/>
    <p:sldId xmlns:r="http://schemas.openxmlformats.org/officeDocument/2006/relationships" id="265" r:id="R4860114aaa68444b"/>
    <p:sldId xmlns:r="http://schemas.openxmlformats.org/officeDocument/2006/relationships" id="266" r:id="Rf632e9ded383444b"/>
    <p:sldId xmlns:r="http://schemas.openxmlformats.org/officeDocument/2006/relationships" id="267" r:id="R14b4054434bb4270"/>
    <p:sldId xmlns:r="http://schemas.openxmlformats.org/officeDocument/2006/relationships" id="268" r:id="R2e0b7a7af5cd4ef7"/>
    <p:sldId xmlns:r="http://schemas.openxmlformats.org/officeDocument/2006/relationships" id="269" r:id="Rdcfeb0e6c7d84e72"/>
    <p:sldId xmlns:r="http://schemas.openxmlformats.org/officeDocument/2006/relationships" id="270" r:id="R1faed253e49c4793"/>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40fb95baad04097" /><Relationship Type="http://schemas.openxmlformats.org/officeDocument/2006/relationships/slideMaster" Target="/ppt/slideMasters/slideMaster1.xml" Id="Rcb2784a95dd446ae" /><Relationship Type="http://schemas.openxmlformats.org/officeDocument/2006/relationships/notesMaster" Target="/ppt/notesMasters/notesMaster1.xml" Id="R78d67af5e3c44004" /><Relationship Type="http://schemas.openxmlformats.org/officeDocument/2006/relationships/presProps" Target="/ppt/presProps.xml" Id="Ra63553d40c484b3e" /><Relationship Type="http://schemas.openxmlformats.org/officeDocument/2006/relationships/viewProps" Target="/ppt/viewProps.xml" Id="R57babf96b4d34964" /><Relationship Type="http://schemas.openxmlformats.org/officeDocument/2006/relationships/tableStyles" Target="/ppt/tableStyles.xml" Id="R798b1f6c010f4f74" /><Relationship Type="http://schemas.openxmlformats.org/officeDocument/2006/relationships/slide" Target="/ppt/slides/slide1.xml" Id="R322baaa558a34acc" /><Relationship Type="http://schemas.openxmlformats.org/officeDocument/2006/relationships/slide" Target="/ppt/slides/slide2.xml" Id="Rad1430ae56834867" /><Relationship Type="http://schemas.openxmlformats.org/officeDocument/2006/relationships/slide" Target="/ppt/slides/slide3.xml" Id="Rdd71177ec27844d5" /><Relationship Type="http://schemas.openxmlformats.org/officeDocument/2006/relationships/slide" Target="/ppt/slides/slide4.xml" Id="Rbfdeabd5ca9449cd" /><Relationship Type="http://schemas.openxmlformats.org/officeDocument/2006/relationships/slide" Target="/ppt/slides/slide5.xml" Id="Rdfd687fcd1464181" /><Relationship Type="http://schemas.openxmlformats.org/officeDocument/2006/relationships/slide" Target="/ppt/slides/slide6.xml" Id="R2e65042ec2d04f35" /><Relationship Type="http://schemas.openxmlformats.org/officeDocument/2006/relationships/slide" Target="/ppt/slides/slide7.xml" Id="R5a031e9361d74103" /><Relationship Type="http://schemas.openxmlformats.org/officeDocument/2006/relationships/slide" Target="/ppt/slides/slide8.xml" Id="Ra3c1befcb8f1429c" /><Relationship Type="http://schemas.openxmlformats.org/officeDocument/2006/relationships/slide" Target="/ppt/slides/slide9.xml" Id="Reee01cfeb74342d4" /><Relationship Type="http://schemas.openxmlformats.org/officeDocument/2006/relationships/slide" Target="/ppt/slides/slide10.xml" Id="R4860114aaa68444b" /><Relationship Type="http://schemas.openxmlformats.org/officeDocument/2006/relationships/slide" Target="/ppt/slides/slide11.xml" Id="Rf632e9ded383444b" /><Relationship Type="http://schemas.openxmlformats.org/officeDocument/2006/relationships/slide" Target="/ppt/slides/slide12.xml" Id="R14b4054434bb4270" /><Relationship Type="http://schemas.openxmlformats.org/officeDocument/2006/relationships/slide" Target="/ppt/slides/slide13.xml" Id="R2e0b7a7af5cd4ef7" /><Relationship Type="http://schemas.openxmlformats.org/officeDocument/2006/relationships/slide" Target="/ppt/slides/slide14.xml" Id="Rdcfeb0e6c7d84e72" /><Relationship Type="http://schemas.openxmlformats.org/officeDocument/2006/relationships/slide" Target="/ppt/slides/slide15.xml" Id="R1faed253e49c47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e217e2aff448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209611c6e74575" /><Relationship Type="http://schemas.openxmlformats.org/officeDocument/2006/relationships/notesMaster" Target="/ppt/notesMasters/notesMaster1.xml" Id="R35313450c56944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b90a6cb2324272" /><Relationship Type="http://schemas.openxmlformats.org/officeDocument/2006/relationships/notesMaster" Target="/ppt/notesMasters/notesMaster1.xml" Id="Rac41ec67ca074a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b599dd296c4b2a" /><Relationship Type="http://schemas.openxmlformats.org/officeDocument/2006/relationships/notesMaster" Target="/ppt/notesMasters/notesMaster1.xml" Id="Rec7cb80e48cc44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1a915df40b4e00" /><Relationship Type="http://schemas.openxmlformats.org/officeDocument/2006/relationships/notesMaster" Target="/ppt/notesMasters/notesMaster1.xml" Id="R77c8037604874f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9bb6bc35d64fc9" /><Relationship Type="http://schemas.openxmlformats.org/officeDocument/2006/relationships/notesMaster" Target="/ppt/notesMasters/notesMaster1.xml" Id="Re754868596864b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e388cb7bff4a36" /><Relationship Type="http://schemas.openxmlformats.org/officeDocument/2006/relationships/notesMaster" Target="/ppt/notesMasters/notesMaster1.xml" Id="R494d440d07ae42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0e82d87f5e4395" /><Relationship Type="http://schemas.openxmlformats.org/officeDocument/2006/relationships/notesMaster" Target="/ppt/notesMasters/notesMaster1.xml" Id="R9a5a16fd14194f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76aed8cdcb4f2f" /><Relationship Type="http://schemas.openxmlformats.org/officeDocument/2006/relationships/notesMaster" Target="/ppt/notesMasters/notesMaster1.xml" Id="R4483f11d9d184b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2be9980af146a5" /><Relationship Type="http://schemas.openxmlformats.org/officeDocument/2006/relationships/notesMaster" Target="/ppt/notesMasters/notesMaster1.xml" Id="R0be99ff0724349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c8b6c04d15c4e2c" /><Relationship Type="http://schemas.openxmlformats.org/officeDocument/2006/relationships/notesMaster" Target="/ppt/notesMasters/notesMaster1.xml" Id="Rda33f0e3e33f42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d8c4f5b36f41ec" /><Relationship Type="http://schemas.openxmlformats.org/officeDocument/2006/relationships/notesMaster" Target="/ppt/notesMasters/notesMaster1.xml" Id="R1f4b987ab70549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db9f910f0f84a78" /><Relationship Type="http://schemas.openxmlformats.org/officeDocument/2006/relationships/notesMaster" Target="/ppt/notesMasters/notesMaster1.xml" Id="Re226e5ba26f84b9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2eaf25879424d8d" /><Relationship Type="http://schemas.openxmlformats.org/officeDocument/2006/relationships/notesMaster" Target="/ppt/notesMasters/notesMaster1.xml" Id="R8453c127df4f48d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ab51a7d6eb24241" /><Relationship Type="http://schemas.openxmlformats.org/officeDocument/2006/relationships/notesMaster" Target="/ppt/notesMasters/notesMaster1.xml" Id="R358a67405ead42d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41c9688a9ee481e" /><Relationship Type="http://schemas.openxmlformats.org/officeDocument/2006/relationships/notesMaster" Target="/ppt/notesMasters/notesMaster1.xml" Id="R6e96ddd0f44140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an abstract simulation, not a deployed 5G stack. Three procedures, 12 scenarios and 2,640 experiment runs. Team and design retained from original proposal.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aggregates responsibilities. N2 is control signaling; N3 is gNB-UPF user plane; N4 is SMF-UPF control. N4/UPF state is not separately simulated.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 paper: DOI 10.1109/ICTC66702.2025.11388910. Additional consistency work: DOI 10.1109/ICIN48450.2020.9059408. No ML baseline replication or general superiority claim.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engineering contribution under explicit assumptions. KPI anomaly detection and protocol-state contradiction detection use different inputs and definitions.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modeled RAN may apply a target before Core completion processing fails. NGAP reliable SCTP transport: TS 38.412, section 4.1. Application commit semantics here are experimental.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 model: research/formal_model.md. Release substitutes for the proposed full handover procedure; local cell change is a negative control. No RRC_INACTIVE implementation.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source: ue_context/model.py, simulation.py, verifier.py and metrics.py. Tests include the dashboard. Fault eligibility is per session with probability 0.7. The oracle uses actual state but shares semantic predicates.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Default timeout 110 ms, freshness 60 ms, grace 12 ms, polling 15 ms, monitor ticks 2 ms. Missing or temporally incompatible telemetry clears evidence. A timeout alone cannot prove permanent message loss. Recovery is bounded to two attempts.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results/final-benchmark/summary.json. Each row aggregates 40 seeds. Lead time is conditional on a future failed probe in the same episode. Setup / release detection delays: 21.87 / 22.35 ms. Observation outage: 84.36 ms delay and no qualifying lead. Recovery under outage succeeds in only 15/167 jobs; unavailable adapter succeeds in 0/167.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results/final-benchmark/summary.json. 40 paired seeds, six sessions per run. Synthetic model; no real-network performance claim. Immediate 240/240 = 100%; fixed 225/240 = 93.75%; aware 0/240 = 0%. Each application leg is uniformly delayed 18–42 ms. No truth episodes occur in this scenario. Recall is undefined here.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results/final-benchmark/summary.json. 40 paired seeds, six sessions per run. Synthetic model; no real-network performance claim. Delays: 21.87, 20.93, 22.35, 22.48, 84.36 ms. Conditional mean probe lead times: 138.15, 18.35, 22.67, 98.44, N/A. Probe timing is fixed and independent of alarms.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results/final-benchmark/summary.json. 40 paired seeds, six sessions per run. Synthetic model; no real-network performance claim. Failed off/on counts: setup 334/0, QoS 334/148, release 167/41, load 267/21, outage 334/334, adapter failure 334/334. Probes check actual stable context contradictions at 285,335,510 ms. Recovery success is distinct from probe success.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results/final-benchmark/summary.json. 40 paired seeds, six sessions per run. Synthetic model; no real-network performance claim. TP 167/167/167/154/167; FP and FN zero. Shared semantic predicates define both oracle and verifier rules, but the verifier never receives labels. Exposure is total episode duration over sessions, not elapsed time for one UE. Successful rollback may deactivate resources.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Recovery reduces exposure in the chosen model. It can remove orphan resources without restoring a usable session. Six sessions per run do not establish scalability. Full handover, clock skew and packet delivery remain unvalidated.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https://doi.org/10.1109/ICTC66702.2025.11388910</a:t>
            </a:r>
            <a:endParaRPr/>
          </a:p>
          <a:p xmlns:a="http://schemas.openxmlformats.org/drawingml/2006/main">
            <a:r>
              <a:t>https://doi.org/10.1109/ICIN48450.2020.9059408</a:t>
            </a:r>
            <a:endParaRPr/>
          </a:p>
          <a:p xmlns:a="http://schemas.openxmlformats.org/drawingml/2006/main">
            <a:r>
              <a:t>https://www.etsi.org/deliver/etsi_ts/138400_138499/138412/16.00.00_60/ts_138412v160000p.pdf</a:t>
            </a:r>
            <a:endParaRPr/>
          </a:p>
          <a:p xmlns:a="http://schemas.openxmlformats.org/drawingml/2006/main">
            <a:r>
              <a:t>Formal scope and measurement evidence are in the accompanying IEEE report.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1db1c8537f4a6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31f4d987424fd5" /><Relationship Type="http://schemas.openxmlformats.org/officeDocument/2006/relationships/slideLayout" Target="/ppt/slideLayouts/slideLayout1.xml" Id="R2c2e581ea995484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2e581ea995484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73c597b46845c4" /><Relationship Type="http://schemas.openxmlformats.org/officeDocument/2006/relationships/notesSlide" Target="/ppt/notesSlides/notesSlide1.xml" Id="Rfe4eaf1e5deb40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7c4b0ccd25a4fb5" /><Relationship Type="http://schemas.openxmlformats.org/officeDocument/2006/relationships/notesSlide" Target="/ppt/notesSlides/notesSlide2.xml" Id="Rd4e9fb00ce6a49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44925133f043d5" /><Relationship Type="http://schemas.openxmlformats.org/officeDocument/2006/relationships/notesSlide" Target="/ppt/notesSlides/notesSlide3.xml" Id="R6e1cd01ae57d43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8475489563a4683" /><Relationship Type="http://schemas.openxmlformats.org/officeDocument/2006/relationships/notesSlide" Target="/ppt/notesSlides/notesSlide4.xml" Id="R915ee2063f0743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fccbca3260b49a0" /><Relationship Type="http://schemas.openxmlformats.org/officeDocument/2006/relationships/notesSlide" Target="/ppt/notesSlides/notesSlide5.xml" Id="Rf4b1afb3725e42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c5809365bc947df" /><Relationship Type="http://schemas.openxmlformats.org/officeDocument/2006/relationships/notesSlide" Target="/ppt/notesSlides/notesSlide6.xml" Id="R4803377ca2db4f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1fc5e4021bc4644" /><Relationship Type="http://schemas.openxmlformats.org/officeDocument/2006/relationships/notesSlide" Target="/ppt/notesSlides/notesSlide7.xml" Id="R9c56e14de41649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0cee1c91d8b48fb" /><Relationship Type="http://schemas.openxmlformats.org/officeDocument/2006/relationships/notesSlide" Target="/ppt/notesSlides/notesSlide8.xml" Id="Rdbe566b369cf41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543765dd7c1454b" /><Relationship Type="http://schemas.openxmlformats.org/officeDocument/2006/relationships/notesSlide" Target="/ppt/notesSlides/notesSlide9.xml" Id="R901feff24b014df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a95dc7ecd9546bc" /><Relationship Type="http://schemas.openxmlformats.org/officeDocument/2006/relationships/chart" Target="/ppt/slides/charts/chart1.xml" Id="R83e5b8b4fa844af2" /><Relationship Type="http://schemas.openxmlformats.org/officeDocument/2006/relationships/notesSlide" Target="/ppt/notesSlides/notesSlide10.xml" Id="R2ba20915390a41d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f95bc0a78b149cf" /><Relationship Type="http://schemas.openxmlformats.org/officeDocument/2006/relationships/chart" Target="/ppt/slides/charts/chart2.xml" Id="R040a7bf1647745a3" /><Relationship Type="http://schemas.openxmlformats.org/officeDocument/2006/relationships/notesSlide" Target="/ppt/notesSlides/notesSlide11.xml" Id="R307fa8c959e747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89d4696ee1c42fe" /><Relationship Type="http://schemas.openxmlformats.org/officeDocument/2006/relationships/chart" Target="/ppt/slides/charts/chart3.xml" Id="R880cdc0a8acd4800" /><Relationship Type="http://schemas.openxmlformats.org/officeDocument/2006/relationships/notesSlide" Target="/ppt/notesSlides/notesSlide12.xml" Id="R3211b700c5d44ce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8760def45f54032" /><Relationship Type="http://schemas.openxmlformats.org/officeDocument/2006/relationships/notesSlide" Target="/ppt/notesSlides/notesSlide13.xml" Id="R3de1c676da51425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4524cc1f65d4222" /><Relationship Type="http://schemas.openxmlformats.org/officeDocument/2006/relationships/notesSlide" Target="/ppt/notesSlides/notesSlide14.xml" Id="R596b9321c511447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4442448557d4a64" /><Relationship Type="http://schemas.openxmlformats.org/officeDocument/2006/relationships/notesSlide" Target="/ppt/notesSlides/notesSlide15.xml" Id="R8538bf963b744e7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False-positive sessions (%)</c:v>
          </c:tx>
          <c:spPr>
            <a:solidFill xmlns:a="http://schemas.openxmlformats.org/drawingml/2006/main">
              <a:srgbClr val="2F6FED"/>
            </a:solidFill>
          </c:spPr>
          <c:invertIfNegative val="0"/>
          <c:cat>
            <c:strRef>
              <c:f>'Chart Data'!$A$2:$A$4</c:f>
              <c:strCache>
                <c:ptCount val="3"/>
                <c:pt idx="0">
                  <c:v>Immediate</c:v>
                </c:pt>
                <c:pt idx="1">
                  <c:v>Fixed 25 ms</c:v>
                </c:pt>
                <c:pt idx="2">
                  <c:v>Protocol-aware</c:v>
                </c:pt>
              </c:strCache>
            </c:strRef>
          </c:cat>
          <c:val>
            <c:numRef>
              <c:f>'Chart Data'!$B$2:$B$4</c:f>
              <c:numCache>
                <c:formatCode>General</c:formatCode>
                <c:ptCount val="3"/>
                <c:pt idx="0">
                  <c:v>100</c:v>
                </c:pt>
                <c:pt idx="1">
                  <c:v>93.75</c:v>
                </c:pt>
                <c:pt idx="2">
                  <c:v>0</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A344D"/>
                  </a:solidFill>
                  <a:latin typeface="Aptos"/>
                  <a:ea typeface="Aptos"/>
                  <a:cs typeface="Aptos"/>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8E3"/>
            </a:solidFill>
          </a:ln>
        </c:spPr>
        <c:txPr>
          <a:bodyPr xmlns:a="http://schemas.openxmlformats.org/drawingml/2006/main" anchorCtr="1"/>
          <a:lstStyle xmlns:a="http://schemas.openxmlformats.org/drawingml/2006/main"/>
          <a:p xmlns:a="http://schemas.openxmlformats.org/drawingml/2006/main">
            <a:pPr>
              <a:defRPr sz="1425">
                <a:solidFill>
                  <a:srgbClr val="5C6978"/>
                </a:solidFill>
                <a:latin typeface="Aptos"/>
                <a:ea typeface="Aptos"/>
                <a:cs typeface="Aptos"/>
              </a:defRPr>
            </a:pPr>
          </a:p>
        </c:txPr>
        <c:crossAx val="48672768"/>
      </c:catAx>
      <c:valAx>
        <c:axId val="48672768"/>
        <c:scaling>
          <c:orientation val="minMax"/>
          <c:max val="110"/>
          <c:min val="0"/>
        </c:scaling>
        <c:delete val="0"/>
        <c:axPos val="l"/>
        <c:majorGridlines>
          <c:spPr>
            <a:ln xmlns:a="http://schemas.openxmlformats.org/drawingml/2006/main" w="9525">
              <a:solidFill>
                <a:srgbClr val="E8EDF3"/>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C6978"/>
                </a:solidFill>
                <a:latin typeface="Aptos"/>
                <a:ea typeface="Aptos"/>
                <a:cs typeface="Aptos"/>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detection delay (ms)</c:v>
          </c:tx>
          <c:spPr>
            <a:solidFill xmlns:a="http://schemas.openxmlformats.org/drawingml/2006/main">
              <a:srgbClr val="00A58F"/>
            </a:solidFill>
          </c:spPr>
          <c:invertIfNegative val="0"/>
          <c:cat>
            <c:strRef>
              <c:f>'Chart Data'!$A$2:$A$6</c:f>
              <c:strCache>
                <c:ptCount val="5"/>
                <c:pt idx="0">
                  <c:v>Setup
completion</c:v>
                </c:pt>
                <c:pt idx="1">
                  <c:v>QoS
completion</c:v>
                </c:pt>
                <c:pt idx="2">
                  <c:v>Release
completion</c:v>
                </c:pt>
                <c:pt idx="3">
                  <c:v>Queued
high load</c:v>
                </c:pt>
                <c:pt idx="4">
                  <c:v>Observation
outage</c:v>
                </c:pt>
              </c:strCache>
            </c:strRef>
          </c:cat>
          <c:val>
            <c:numRef>
              <c:f>'Chart Data'!$B$2:$B$6</c:f>
              <c:numCache>
                <c:formatCode>General</c:formatCode>
                <c:ptCount val="5"/>
                <c:pt idx="0">
                  <c:v>21.87</c:v>
                </c:pt>
                <c:pt idx="1">
                  <c:v>20.93</c:v>
                </c:pt>
                <c:pt idx="2">
                  <c:v>22.35</c:v>
                </c:pt>
                <c:pt idx="3">
                  <c:v>22.48</c:v>
                </c:pt>
                <c:pt idx="4">
                  <c:v>84.36</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A344D"/>
                  </a:solidFill>
                  <a:latin typeface="Aptos"/>
                  <a:ea typeface="Aptos"/>
                  <a:cs typeface="Aptos"/>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8E3"/>
            </a:solidFill>
          </a:ln>
        </c:spPr>
        <c:txPr>
          <a:bodyPr xmlns:a="http://schemas.openxmlformats.org/drawingml/2006/main" anchorCtr="1"/>
          <a:lstStyle xmlns:a="http://schemas.openxmlformats.org/drawingml/2006/main"/>
          <a:p xmlns:a="http://schemas.openxmlformats.org/drawingml/2006/main">
            <a:pPr>
              <a:defRPr sz="1425">
                <a:solidFill>
                  <a:srgbClr val="5C6978"/>
                </a:solidFill>
                <a:latin typeface="Aptos"/>
                <a:ea typeface="Aptos"/>
                <a:cs typeface="Aptos"/>
              </a:defRPr>
            </a:pPr>
          </a:p>
        </c:txPr>
        <c:crossAx val="48672768"/>
      </c:catAx>
      <c:valAx>
        <c:axId val="48672768"/>
        <c:scaling>
          <c:orientation val="minMax"/>
          <c:max val="100"/>
          <c:min val="0"/>
        </c:scaling>
        <c:delete val="0"/>
        <c:axPos val="l"/>
        <c:majorGridlines>
          <c:spPr>
            <a:ln xmlns:a="http://schemas.openxmlformats.org/drawingml/2006/main" w="9525">
              <a:solidFill>
                <a:srgbClr val="E8EDF3"/>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C6978"/>
                </a:solidFill>
                <a:latin typeface="Aptos"/>
                <a:ea typeface="Aptos"/>
                <a:cs typeface="Aptos"/>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Recovery off</c:v>
          </c:tx>
          <c:spPr>
            <a:solidFill xmlns:a="http://schemas.openxmlformats.org/drawingml/2006/main">
              <a:srgbClr val="2F6FED"/>
            </a:solidFill>
          </c:spPr>
          <c:invertIfNegative val="0"/>
          <c:cat>
            <c:strRef>
              <c:f>'Chart Data'!$A$2:$A$7</c:f>
              <c:strCache>
                <c:ptCount val="6"/>
                <c:pt idx="0">
                  <c:v>Setup</c:v>
                </c:pt>
                <c:pt idx="1">
                  <c:v>QoS</c:v>
                </c:pt>
                <c:pt idx="2">
                  <c:v>Release</c:v>
                </c:pt>
                <c:pt idx="3">
                  <c:v>High load</c:v>
                </c:pt>
                <c:pt idx="4">
                  <c:v>Observation
outage</c:v>
                </c:pt>
                <c:pt idx="5">
                  <c:v>Adapter
unavailable</c:v>
                </c:pt>
              </c:strCache>
            </c:strRef>
          </c:cat>
          <c:val>
            <c:numRef>
              <c:f>'Chart Data'!$B$2:$B$7</c:f>
              <c:numCache>
                <c:formatCode>General</c:formatCode>
                <c:ptCount val="6"/>
                <c:pt idx="0">
                  <c:v>334</c:v>
                </c:pt>
                <c:pt idx="1">
                  <c:v>334</c:v>
                </c:pt>
                <c:pt idx="2">
                  <c:v>167</c:v>
                </c:pt>
                <c:pt idx="3">
                  <c:v>267</c:v>
                </c:pt>
                <c:pt idx="4">
                  <c:v>334</c:v>
                </c:pt>
                <c:pt idx="5">
                  <c:v>334</c:v>
                </c:pt>
              </c:numCache>
            </c:numRef>
          </c:val>
        </c:ser>
        <c:ser>
          <c:idx val="1"/>
          <c:order val="1"/>
          <c:tx>
            <c:v>Recovery on</c:v>
          </c:tx>
          <c:spPr>
            <a:solidFill xmlns:a="http://schemas.openxmlformats.org/drawingml/2006/main">
              <a:srgbClr val="00A58F"/>
            </a:solidFill>
          </c:spPr>
          <c:invertIfNegative val="0"/>
          <c:cat>
            <c:strRef>
              <c:f>'Chart Data'!$C$2:$C$7</c:f>
              <c:strCache>
                <c:ptCount val="6"/>
                <c:pt idx="0">
                  <c:v>Setup</c:v>
                </c:pt>
                <c:pt idx="1">
                  <c:v>QoS</c:v>
                </c:pt>
                <c:pt idx="2">
                  <c:v>Release</c:v>
                </c:pt>
                <c:pt idx="3">
                  <c:v>High load</c:v>
                </c:pt>
                <c:pt idx="4">
                  <c:v>Observation
outage</c:v>
                </c:pt>
                <c:pt idx="5">
                  <c:v>Adapter
unavailable</c:v>
                </c:pt>
              </c:strCache>
            </c:strRef>
          </c:cat>
          <c:val>
            <c:numRef>
              <c:f>'Chart Data'!$D$2:$D$7</c:f>
              <c:numCache>
                <c:formatCode>General</c:formatCode>
                <c:ptCount val="6"/>
                <c:pt idx="0">
                  <c:v>0</c:v>
                </c:pt>
                <c:pt idx="1">
                  <c:v>148</c:v>
                </c:pt>
                <c:pt idx="2">
                  <c:v>41</c:v>
                </c:pt>
                <c:pt idx="3">
                  <c:v>21</c:v>
                </c:pt>
                <c:pt idx="4">
                  <c:v>334</c:v>
                </c:pt>
                <c:pt idx="5">
                  <c:v>334</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A344D"/>
                  </a:solidFill>
                  <a:latin typeface="Aptos"/>
                  <a:ea typeface="Aptos"/>
                  <a:cs typeface="Aptos"/>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8E3"/>
            </a:solidFill>
          </a:ln>
        </c:spPr>
        <c:txPr>
          <a:bodyPr xmlns:a="http://schemas.openxmlformats.org/drawingml/2006/main" anchorCtr="1"/>
          <a:lstStyle xmlns:a="http://schemas.openxmlformats.org/drawingml/2006/main"/>
          <a:p xmlns:a="http://schemas.openxmlformats.org/drawingml/2006/main">
            <a:pPr>
              <a:defRPr sz="1425">
                <a:solidFill>
                  <a:srgbClr val="5C6978"/>
                </a:solidFill>
                <a:latin typeface="Aptos"/>
                <a:ea typeface="Aptos"/>
                <a:cs typeface="Aptos"/>
              </a:defRPr>
            </a:pPr>
          </a:p>
        </c:txPr>
        <c:crossAx val="48672768"/>
      </c:catAx>
      <c:valAx>
        <c:axId val="48672768"/>
        <c:scaling>
          <c:orientation val="minMax"/>
          <c:max val="400"/>
          <c:min val="0"/>
        </c:scaling>
        <c:delete val="0"/>
        <c:axPos val="l"/>
        <c:majorGridlines>
          <c:spPr>
            <a:ln xmlns:a="http://schemas.openxmlformats.org/drawingml/2006/main" w="9525">
              <a:solidFill>
                <a:srgbClr val="E8EDF3"/>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C6978"/>
                </a:solidFill>
                <a:latin typeface="Aptos"/>
                <a:ea typeface="Aptos"/>
                <a:cs typeface="Aptos"/>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425">
              <a:latin typeface="Aptos"/>
              <a:ea typeface="Aptos"/>
              <a:cs typeface="Aptos"/>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8A942C2-1A0A-47CF-BD71-540FDA16461F}"/>
              </a:ext>
            </a:extLst>
          </p:cNvPr>
          <p:cNvSpPr>
            <a:spLocks xmlns:a="http://schemas.openxmlformats.org/drawingml/2006/main" noGrp="1"/>
          </p:cNvSpPr>
          <p:nvPr/>
        </p:nvSpPr>
        <p:spPr>
          <a:xfrm xmlns:a="http://schemas.openxmlformats.org/drawingml/2006/main">
            <a:off x="0" y="0"/>
            <a:ext cx="4297680" cy="6858000"/>
          </a:xfrm>
          <a:prstGeom xmlns:a="http://schemas.openxmlformats.org/drawingml/2006/main" prst="rect">
            <a:avLst/>
          </a:prstGeom>
          <a:solidFill xmlns:a="http://schemas.openxmlformats.org/drawingml/2006/main">
            <a:srgbClr val="0F2538"/>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328C0CDC-48BE-4D59-B215-75CF11686F95}"/>
              </a:ext>
            </a:extLst>
          </p:cNvPr>
          <p:cNvSpPr>
            <a:spLocks xmlns:a="http://schemas.openxmlformats.org/drawingml/2006/main" noGrp="1"/>
          </p:cNvSpPr>
          <p:nvPr/>
        </p:nvSpPr>
        <p:spPr>
          <a:xfrm xmlns:a="http://schemas.openxmlformats.org/drawingml/2006/main">
            <a:off x="502920" y="548640"/>
            <a:ext cx="33832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50">
                <a:solidFill>
                  <a:srgbClr val="7FB2FF"/>
                </a:solidFill>
                <a:latin typeface="Aptos"/>
                <a:ea typeface="Aptos"/>
                <a:cs typeface="Aptos"/>
              </a:rPr>
              <a:t>FINAL PROJECT</a:t>
            </a:r>
            <a:endParaRPr sz="1100"/>
          </a:p>
        </p:txBody>
      </p:sp>
      <p:sp>
        <p:nvSpPr>
          <p:cNvPr id="4" name="Text 2">
            <a:extLst xmlns:a="http://schemas.openxmlformats.org/drawingml/2006/main">
              <a:ext uri="{FF2B5EF4-FFF2-40B4-BE49-F238E27FC236}">
                <a16:creationId xmlns:a16="http://schemas.microsoft.com/office/drawing/2014/main" id="{12E9AEE6-1B44-411D-AF15-EAC980BAC6DB}"/>
              </a:ext>
            </a:extLst>
          </p:cNvPr>
          <p:cNvSpPr>
            <a:spLocks xmlns:a="http://schemas.openxmlformats.org/drawingml/2006/main" noGrp="1"/>
          </p:cNvSpPr>
          <p:nvPr/>
        </p:nvSpPr>
        <p:spPr>
          <a:xfrm xmlns:a="http://schemas.openxmlformats.org/drawingml/2006/main">
            <a:off x="502920" y="932688"/>
            <a:ext cx="3429000" cy="1874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8000"/>
              </a:lnSpc>
              <a:buNone/>
            </a:pPr>
            <a:r>
              <a:rPr sz="2300" b="1">
                <a:solidFill>
                  <a:srgbClr val="FFFFFF"/>
                </a:solidFill>
                <a:latin typeface="Aptos"/>
                <a:ea typeface="Aptos"/>
                <a:cs typeface="Aptos"/>
              </a:rPr>
              <a:t>5G UE Context</a:t>
            </a:r>
            <a:endParaRPr sz="2300"/>
          </a:p>
          <a:p xmlns:a="http://schemas.openxmlformats.org/drawingml/2006/main">
            <a:pPr marL="0" indent="0">
              <a:lnSpc>
                <a:spcPct val="118000"/>
              </a:lnSpc>
              <a:buNone/>
            </a:pPr>
            <a:r>
              <a:rPr sz="2300" b="1">
                <a:solidFill>
                  <a:srgbClr val="FFFFFF"/>
                </a:solidFill>
                <a:latin typeface="Aptos"/>
                <a:ea typeface="Aptos"/>
                <a:cs typeface="Aptos"/>
              </a:rPr>
              <a:t>Desynchronization</a:t>
            </a:r>
            <a:endParaRPr sz="2300"/>
          </a:p>
          <a:p xmlns:a="http://schemas.openxmlformats.org/drawingml/2006/main">
            <a:pPr marL="0" indent="0">
              <a:lnSpc>
                <a:spcPct val="118000"/>
              </a:lnSpc>
              <a:buNone/>
            </a:pPr>
            <a:r>
              <a:rPr sz="2300" b="1">
                <a:solidFill>
                  <a:srgbClr val="FFFFFF"/>
                </a:solidFill>
                <a:latin typeface="Aptos"/>
                <a:ea typeface="Aptos"/>
                <a:cs typeface="Aptos"/>
              </a:rPr>
              <a:t>Detection &amp; Recovery</a:t>
            </a:r>
            <a:endParaRPr sz="2300"/>
          </a:p>
        </p:txBody>
      </p:sp>
      <p:sp>
        <p:nvSpPr>
          <p:cNvPr id="5" name="Text 3">
            <a:extLst xmlns:a="http://schemas.openxmlformats.org/drawingml/2006/main">
              <a:ext uri="{FF2B5EF4-FFF2-40B4-BE49-F238E27FC236}">
                <a16:creationId xmlns:a16="http://schemas.microsoft.com/office/drawing/2014/main" id="{313A571C-3C2B-48B7-BDA3-E40B57F731E2}"/>
              </a:ext>
            </a:extLst>
          </p:cNvPr>
          <p:cNvSpPr>
            <a:spLocks xmlns:a="http://schemas.openxmlformats.org/drawingml/2006/main" noGrp="1"/>
          </p:cNvSpPr>
          <p:nvPr/>
        </p:nvSpPr>
        <p:spPr>
          <a:xfrm xmlns:a="http://schemas.openxmlformats.org/drawingml/2006/main">
            <a:off x="502920" y="2971800"/>
            <a:ext cx="3383280" cy="9601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30000"/>
              </a:lnSpc>
              <a:buNone/>
            </a:pPr>
            <a:r>
              <a:rPr sz="1150">
                <a:solidFill>
                  <a:srgbClr val="C7D4E3"/>
                </a:solidFill>
                <a:latin typeface="Aptos"/>
                <a:ea typeface="Aptos"/>
                <a:cs typeface="Aptos"/>
              </a:rPr>
              <a:t>A protocol-aware simulation for detecting persistent RAN–Core context mismatches and evaluating recovery.</a:t>
            </a:r>
            <a:endParaRPr sz="1150"/>
          </a:p>
        </p:txBody>
      </p:sp>
      <p:sp>
        <p:nvSpPr>
          <p:cNvPr id="6" name="Shape 4">
            <a:extLst xmlns:a="http://schemas.openxmlformats.org/drawingml/2006/main">
              <a:ext uri="{FF2B5EF4-FFF2-40B4-BE49-F238E27FC236}">
                <a16:creationId xmlns:a16="http://schemas.microsoft.com/office/drawing/2014/main" id="{6ED261C5-91ED-40BE-BDFC-C9A5A54A0E96}"/>
              </a:ext>
            </a:extLst>
          </p:cNvPr>
          <p:cNvSpPr>
            <a:spLocks xmlns:a="http://schemas.openxmlformats.org/drawingml/2006/main" noGrp="1"/>
          </p:cNvSpPr>
          <p:nvPr/>
        </p:nvSpPr>
        <p:spPr>
          <a:xfrm xmlns:a="http://schemas.openxmlformats.org/drawingml/2006/main">
            <a:off x="502920" y="4160520"/>
            <a:ext cx="3291840" cy="0"/>
          </a:xfrm>
          <a:prstGeom xmlns:a="http://schemas.openxmlformats.org/drawingml/2006/main" prst="line">
            <a:avLst/>
          </a:prstGeom>
          <a:noFill xmlns:a="http://schemas.openxmlformats.org/drawingml/2006/main"/>
          <a:ln xmlns:a="http://schemas.openxmlformats.org/drawingml/2006/main" w="12700">
            <a:solidFill>
              <a:srgbClr val="35506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0029AB86-468D-4477-BBEE-6C2ECAC795A2}"/>
              </a:ext>
            </a:extLst>
          </p:cNvPr>
          <p:cNvSpPr>
            <a:spLocks xmlns:a="http://schemas.openxmlformats.org/drawingml/2006/main" noGrp="1"/>
          </p:cNvSpPr>
          <p:nvPr/>
        </p:nvSpPr>
        <p:spPr>
          <a:xfrm xmlns:a="http://schemas.openxmlformats.org/drawingml/2006/main">
            <a:off x="502920" y="4315968"/>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spc="120">
                <a:solidFill>
                  <a:srgbClr val="7FB2FF"/>
                </a:solidFill>
                <a:latin typeface="Aptos"/>
                <a:ea typeface="Aptos"/>
                <a:cs typeface="Aptos"/>
              </a:rPr>
              <a:t>TEAM</a:t>
            </a:r>
            <a:endParaRPr sz="1050"/>
          </a:p>
        </p:txBody>
      </p:sp>
      <p:sp>
        <p:nvSpPr>
          <p:cNvPr id="8" name="Text 6">
            <a:extLst xmlns:a="http://schemas.openxmlformats.org/drawingml/2006/main">
              <a:ext uri="{FF2B5EF4-FFF2-40B4-BE49-F238E27FC236}">
                <a16:creationId xmlns:a16="http://schemas.microsoft.com/office/drawing/2014/main" id="{B9480DF1-2A42-4E8D-8743-5081D159B424}"/>
              </a:ext>
            </a:extLst>
          </p:cNvPr>
          <p:cNvSpPr>
            <a:spLocks xmlns:a="http://schemas.openxmlformats.org/drawingml/2006/main" noGrp="1"/>
          </p:cNvSpPr>
          <p:nvPr/>
        </p:nvSpPr>
        <p:spPr>
          <a:xfrm xmlns:a="http://schemas.openxmlformats.org/drawingml/2006/main">
            <a:off x="502920" y="4617720"/>
            <a:ext cx="33832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FFFFFF"/>
                </a:solidFill>
                <a:latin typeface="Aptos"/>
                <a:ea typeface="Aptos"/>
                <a:cs typeface="Aptos"/>
              </a:rPr>
              <a:t>Laxminarayan Sahu</a:t>
            </a:r>
            <a:r>
              <a:rPr sz="1050">
                <a:solidFill>
                  <a:srgbClr val="8FA4BC"/>
                </a:solidFill>
                <a:latin typeface="Aptos"/>
                <a:ea typeface="Aptos"/>
                <a:cs typeface="Aptos"/>
              </a:rPr>
              <a:t>   231IT035</a:t>
            </a:r>
            <a:endParaRPr sz="1250"/>
          </a:p>
        </p:txBody>
      </p:sp>
      <p:sp>
        <p:nvSpPr>
          <p:cNvPr id="9" name="Text 7">
            <a:extLst xmlns:a="http://schemas.openxmlformats.org/drawingml/2006/main">
              <a:ext uri="{FF2B5EF4-FFF2-40B4-BE49-F238E27FC236}">
                <a16:creationId xmlns:a16="http://schemas.microsoft.com/office/drawing/2014/main" id="{F53ABD81-DD2B-43FE-8889-392264D35D3C}"/>
              </a:ext>
            </a:extLst>
          </p:cNvPr>
          <p:cNvSpPr>
            <a:spLocks xmlns:a="http://schemas.openxmlformats.org/drawingml/2006/main" noGrp="1"/>
          </p:cNvSpPr>
          <p:nvPr/>
        </p:nvSpPr>
        <p:spPr>
          <a:xfrm xmlns:a="http://schemas.openxmlformats.org/drawingml/2006/main">
            <a:off x="502920" y="4983480"/>
            <a:ext cx="33832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FFFFFF"/>
                </a:solidFill>
                <a:latin typeface="Aptos"/>
                <a:ea typeface="Aptos"/>
                <a:cs typeface="Aptos"/>
              </a:rPr>
              <a:t>Sandesh K</a:t>
            </a:r>
            <a:r>
              <a:rPr sz="1050">
                <a:solidFill>
                  <a:srgbClr val="8FA4BC"/>
                </a:solidFill>
                <a:latin typeface="Aptos"/>
                <a:ea typeface="Aptos"/>
                <a:cs typeface="Aptos"/>
              </a:rPr>
              <a:t>   231IT061</a:t>
            </a:r>
            <a:endParaRPr sz="1250"/>
          </a:p>
        </p:txBody>
      </p:sp>
      <p:sp>
        <p:nvSpPr>
          <p:cNvPr id="10" name="Text 8">
            <a:extLst xmlns:a="http://schemas.openxmlformats.org/drawingml/2006/main">
              <a:ext uri="{FF2B5EF4-FFF2-40B4-BE49-F238E27FC236}">
                <a16:creationId xmlns:a16="http://schemas.microsoft.com/office/drawing/2014/main" id="{B753FF13-4024-4B28-8CCB-25CDF9B03D63}"/>
              </a:ext>
            </a:extLst>
          </p:cNvPr>
          <p:cNvSpPr>
            <a:spLocks xmlns:a="http://schemas.openxmlformats.org/drawingml/2006/main" noGrp="1"/>
          </p:cNvSpPr>
          <p:nvPr/>
        </p:nvSpPr>
        <p:spPr>
          <a:xfrm xmlns:a="http://schemas.openxmlformats.org/drawingml/2006/main">
            <a:off x="502920" y="5349240"/>
            <a:ext cx="338328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FFFFFF"/>
                </a:solidFill>
                <a:latin typeface="Aptos"/>
                <a:ea typeface="Aptos"/>
                <a:cs typeface="Aptos"/>
              </a:rPr>
              <a:t>Sujan H</a:t>
            </a:r>
            <a:r>
              <a:rPr sz="1050">
                <a:solidFill>
                  <a:srgbClr val="8FA4BC"/>
                </a:solidFill>
                <a:latin typeface="Aptos"/>
                <a:ea typeface="Aptos"/>
                <a:cs typeface="Aptos"/>
              </a:rPr>
              <a:t>   231IT076</a:t>
            </a:r>
          </a:p>
        </p:txBody>
      </p:sp>
      <p:sp>
        <p:nvSpPr>
          <p:cNvPr id="12" name="Shape 10">
            <a:extLst xmlns:a="http://schemas.openxmlformats.org/drawingml/2006/main">
              <a:ext uri="{FF2B5EF4-FFF2-40B4-BE49-F238E27FC236}">
                <a16:creationId xmlns:a16="http://schemas.microsoft.com/office/drawing/2014/main" id="{A5652ABA-6A9B-4546-8869-BE9D62EE225D}"/>
              </a:ext>
            </a:extLst>
          </p:cNvPr>
          <p:cNvSpPr>
            <a:spLocks xmlns:a="http://schemas.openxmlformats.org/drawingml/2006/main" noGrp="1"/>
          </p:cNvSpPr>
          <p:nvPr/>
        </p:nvSpPr>
        <p:spPr>
          <a:xfrm xmlns:a="http://schemas.openxmlformats.org/drawingml/2006/main">
            <a:off x="4709160" y="777240"/>
            <a:ext cx="2112264" cy="50292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19050">
            <a:solidFill>
              <a:srgbClr val="1A344D"/>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3DD4AFDF-5169-4D36-AC53-88DD19A148F4}"/>
              </a:ext>
            </a:extLst>
          </p:cNvPr>
          <p:cNvSpPr>
            <a:spLocks xmlns:a="http://schemas.openxmlformats.org/drawingml/2006/main" noGrp="1"/>
          </p:cNvSpPr>
          <p:nvPr/>
        </p:nvSpPr>
        <p:spPr>
          <a:xfrm xmlns:a="http://schemas.openxmlformats.org/drawingml/2006/main">
            <a:off x="4709160" y="777240"/>
            <a:ext cx="211226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1A344D"/>
                </a:solidFill>
                <a:latin typeface="Aptos"/>
                <a:ea typeface="Aptos"/>
                <a:cs typeface="Aptos"/>
              </a:rPr>
              <a:t>UE</a:t>
            </a:r>
            <a:endParaRPr sz="1200"/>
          </a:p>
        </p:txBody>
      </p:sp>
      <p:sp>
        <p:nvSpPr>
          <p:cNvPr id="14" name="Shape 12">
            <a:extLst xmlns:a="http://schemas.openxmlformats.org/drawingml/2006/main">
              <a:ext uri="{FF2B5EF4-FFF2-40B4-BE49-F238E27FC236}">
                <a16:creationId xmlns:a16="http://schemas.microsoft.com/office/drawing/2014/main" id="{E8FD728E-EB43-4A54-A23A-31BF2B96F119}"/>
              </a:ext>
            </a:extLst>
          </p:cNvPr>
          <p:cNvSpPr>
            <a:spLocks xmlns:a="http://schemas.openxmlformats.org/drawingml/2006/main" noGrp="1"/>
          </p:cNvSpPr>
          <p:nvPr/>
        </p:nvSpPr>
        <p:spPr>
          <a:xfrm xmlns:a="http://schemas.openxmlformats.org/drawingml/2006/main">
            <a:off x="6821424" y="1028700"/>
            <a:ext cx="320040" cy="0"/>
          </a:xfrm>
          <a:prstGeom xmlns:a="http://schemas.openxmlformats.org/drawingml/2006/main" prst="line">
            <a:avLst/>
          </a:prstGeom>
          <a:noFill xmlns:a="http://schemas.openxmlformats.org/drawingml/2006/main"/>
          <a:ln xmlns:a="http://schemas.openxmlformats.org/drawingml/2006/main" w="15875">
            <a:solidFill>
              <a:srgbClr val="8A94A0"/>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hape 13">
            <a:extLst xmlns:a="http://schemas.openxmlformats.org/drawingml/2006/main">
              <a:ext uri="{FF2B5EF4-FFF2-40B4-BE49-F238E27FC236}">
                <a16:creationId xmlns:a16="http://schemas.microsoft.com/office/drawing/2014/main" id="{93C0DFF7-7C98-4E0B-9A3C-38374B73A9EF}"/>
              </a:ext>
            </a:extLst>
          </p:cNvPr>
          <p:cNvSpPr>
            <a:spLocks xmlns:a="http://schemas.openxmlformats.org/drawingml/2006/main" noGrp="1"/>
          </p:cNvSpPr>
          <p:nvPr/>
        </p:nvSpPr>
        <p:spPr>
          <a:xfrm xmlns:a="http://schemas.openxmlformats.org/drawingml/2006/main">
            <a:off x="7141464" y="777240"/>
            <a:ext cx="2112264" cy="50292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C5B1C613-99B2-400F-8477-84A37937E10A}"/>
              </a:ext>
            </a:extLst>
          </p:cNvPr>
          <p:cNvSpPr>
            <a:spLocks xmlns:a="http://schemas.openxmlformats.org/drawingml/2006/main" noGrp="1"/>
          </p:cNvSpPr>
          <p:nvPr/>
        </p:nvSpPr>
        <p:spPr>
          <a:xfrm xmlns:a="http://schemas.openxmlformats.org/drawingml/2006/main">
            <a:off x="7141464" y="777240"/>
            <a:ext cx="211226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2F6FED"/>
                </a:solidFill>
                <a:latin typeface="Aptos"/>
                <a:ea typeface="Aptos"/>
                <a:cs typeface="Aptos"/>
              </a:rPr>
              <a:t>RAN / gNB</a:t>
            </a:r>
            <a:endParaRPr sz="1200"/>
          </a:p>
        </p:txBody>
      </p:sp>
      <p:sp>
        <p:nvSpPr>
          <p:cNvPr id="17" name="Shape 15">
            <a:extLst xmlns:a="http://schemas.openxmlformats.org/drawingml/2006/main">
              <a:ext uri="{FF2B5EF4-FFF2-40B4-BE49-F238E27FC236}">
                <a16:creationId xmlns:a16="http://schemas.microsoft.com/office/drawing/2014/main" id="{B8ECD2AD-528A-46FB-BD8E-BF760133C5BF}"/>
              </a:ext>
            </a:extLst>
          </p:cNvPr>
          <p:cNvSpPr>
            <a:spLocks xmlns:a="http://schemas.openxmlformats.org/drawingml/2006/main" noGrp="1"/>
          </p:cNvSpPr>
          <p:nvPr/>
        </p:nvSpPr>
        <p:spPr>
          <a:xfrm xmlns:a="http://schemas.openxmlformats.org/drawingml/2006/main">
            <a:off x="9253728" y="1028700"/>
            <a:ext cx="320040" cy="0"/>
          </a:xfrm>
          <a:prstGeom xmlns:a="http://schemas.openxmlformats.org/drawingml/2006/main" prst="line">
            <a:avLst/>
          </a:prstGeom>
          <a:noFill xmlns:a="http://schemas.openxmlformats.org/drawingml/2006/main"/>
          <a:ln xmlns:a="http://schemas.openxmlformats.org/drawingml/2006/main" w="15875">
            <a:solidFill>
              <a:srgbClr val="8A94A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hape 16">
            <a:extLst xmlns:a="http://schemas.openxmlformats.org/drawingml/2006/main">
              <a:ext uri="{FF2B5EF4-FFF2-40B4-BE49-F238E27FC236}">
                <a16:creationId xmlns:a16="http://schemas.microsoft.com/office/drawing/2014/main" id="{944BDBDB-B14D-40FF-961E-FFB025DA314E}"/>
              </a:ext>
            </a:extLst>
          </p:cNvPr>
          <p:cNvSpPr>
            <a:spLocks xmlns:a="http://schemas.openxmlformats.org/drawingml/2006/main" noGrp="1"/>
          </p:cNvSpPr>
          <p:nvPr/>
        </p:nvSpPr>
        <p:spPr>
          <a:xfrm xmlns:a="http://schemas.openxmlformats.org/drawingml/2006/main">
            <a:off x="9573768" y="777240"/>
            <a:ext cx="2112264" cy="50292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19050">
            <a:solidFill>
              <a:srgbClr val="1B9E8C"/>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BB3F68B6-FEA3-4370-8A36-00820ACB51B5}"/>
              </a:ext>
            </a:extLst>
          </p:cNvPr>
          <p:cNvSpPr>
            <a:spLocks xmlns:a="http://schemas.openxmlformats.org/drawingml/2006/main" noGrp="1"/>
          </p:cNvSpPr>
          <p:nvPr/>
        </p:nvSpPr>
        <p:spPr>
          <a:xfrm xmlns:a="http://schemas.openxmlformats.org/drawingml/2006/main">
            <a:off x="9573768" y="777240"/>
            <a:ext cx="211226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1B9E8C"/>
                </a:solidFill>
                <a:latin typeface="Aptos"/>
                <a:ea typeface="Aptos"/>
                <a:cs typeface="Aptos"/>
              </a:rPr>
              <a:t>CORE</a:t>
            </a:r>
            <a:endParaRPr sz="1200"/>
          </a:p>
        </p:txBody>
      </p:sp>
      <p:sp>
        <p:nvSpPr>
          <p:cNvPr id="20" name="Shape 18">
            <a:extLst xmlns:a="http://schemas.openxmlformats.org/drawingml/2006/main">
              <a:ext uri="{FF2B5EF4-FFF2-40B4-BE49-F238E27FC236}">
                <a16:creationId xmlns:a16="http://schemas.microsoft.com/office/drawing/2014/main" id="{5F3FA167-940A-40F7-A5B1-37993B933CAE}"/>
              </a:ext>
            </a:extLst>
          </p:cNvPr>
          <p:cNvSpPr>
            <a:spLocks xmlns:a="http://schemas.openxmlformats.org/drawingml/2006/main" noGrp="1"/>
          </p:cNvSpPr>
          <p:nvPr/>
        </p:nvSpPr>
        <p:spPr>
          <a:xfrm xmlns:a="http://schemas.openxmlformats.org/drawingml/2006/main">
            <a:off x="4709160" y="1600200"/>
            <a:ext cx="6976872" cy="1371600"/>
          </a:xfrm>
          <a:prstGeom xmlns:a="http://schemas.openxmlformats.org/drawingml/2006/main" prst="roundRect">
            <a:avLst>
              <a:gd name="adj" fmla="val 6000"/>
            </a:avLst>
          </a:prstGeom>
          <a:solidFill xmlns:a="http://schemas.openxmlformats.org/drawingml/2006/main">
            <a:srgbClr val="F6F8FB"/>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ECC8BAE9-9C03-4527-83FC-C5F00794A9A7}"/>
              </a:ext>
            </a:extLst>
          </p:cNvPr>
          <p:cNvSpPr>
            <a:spLocks xmlns:a="http://schemas.openxmlformats.org/drawingml/2006/main" noGrp="1"/>
          </p:cNvSpPr>
          <p:nvPr/>
        </p:nvSpPr>
        <p:spPr>
          <a:xfrm xmlns:a="http://schemas.openxmlformats.org/drawingml/2006/main">
            <a:off x="5001768" y="1810512"/>
            <a:ext cx="2743200" cy="25603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b="1" spc="100">
                <a:solidFill>
                  <a:srgbClr val="2F6FED"/>
                </a:solidFill>
                <a:latin typeface="Aptos"/>
                <a:ea typeface="Aptos"/>
                <a:cs typeface="Aptos"/>
              </a:rPr>
              <a:t>KEY IDEA</a:t>
            </a:r>
            <a:endParaRPr sz="1000"/>
          </a:p>
        </p:txBody>
      </p:sp>
      <p:sp>
        <p:nvSpPr>
          <p:cNvPr id="22" name="Text 20">
            <a:extLst xmlns:a="http://schemas.openxmlformats.org/drawingml/2006/main">
              <a:ext uri="{FF2B5EF4-FFF2-40B4-BE49-F238E27FC236}">
                <a16:creationId xmlns:a16="http://schemas.microsoft.com/office/drawing/2014/main" id="{BE35B221-B8AF-4D21-9B71-AEEE747A4D8E}"/>
              </a:ext>
            </a:extLst>
          </p:cNvPr>
          <p:cNvSpPr>
            <a:spLocks xmlns:a="http://schemas.openxmlformats.org/drawingml/2006/main" noGrp="1"/>
          </p:cNvSpPr>
          <p:nvPr/>
        </p:nvSpPr>
        <p:spPr>
          <a:xfrm xmlns:a="http://schemas.openxmlformats.org/drawingml/2006/main">
            <a:off x="5001768" y="2084832"/>
            <a:ext cx="6391656"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25000"/>
              </a:lnSpc>
              <a:buNone/>
            </a:pPr>
            <a:r>
              <a:rPr sz="1400">
                <a:solidFill>
                  <a:srgbClr val="1A344D"/>
                </a:solidFill>
                <a:latin typeface="Aptos"/>
                <a:ea typeface="Aptos"/>
                <a:cs typeface="Aptos"/>
              </a:rPr>
              <a:t>Detect persistent disagreement between RAN and Core using fresh, aligned state observations.</a:t>
            </a:r>
            <a:endParaRPr sz="1400"/>
          </a:p>
        </p:txBody>
      </p:sp>
      <p:sp>
        <p:nvSpPr>
          <p:cNvPr id="23" name="Shape 21">
            <a:extLst xmlns:a="http://schemas.openxmlformats.org/drawingml/2006/main">
              <a:ext uri="{FF2B5EF4-FFF2-40B4-BE49-F238E27FC236}">
                <a16:creationId xmlns:a16="http://schemas.microsoft.com/office/drawing/2014/main" id="{4A23A783-A685-4374-A5A3-DC9C78AB9371}"/>
              </a:ext>
            </a:extLst>
          </p:cNvPr>
          <p:cNvSpPr>
            <a:spLocks xmlns:a="http://schemas.openxmlformats.org/drawingml/2006/main" noGrp="1"/>
          </p:cNvSpPr>
          <p:nvPr/>
        </p:nvSpPr>
        <p:spPr>
          <a:xfrm xmlns:a="http://schemas.openxmlformats.org/drawingml/2006/main">
            <a:off x="4709160" y="3291840"/>
            <a:ext cx="1661922" cy="594360"/>
          </a:xfrm>
          <a:prstGeom xmlns:a="http://schemas.openxmlformats.org/drawingml/2006/main" prst="roundRect">
            <a:avLst>
              <a:gd name="adj" fmla="val 10769"/>
            </a:avLst>
          </a:prstGeom>
          <a:solidFill xmlns:a="http://schemas.openxmlformats.org/drawingml/2006/main">
            <a:srgbClr val="FFFFFF"/>
          </a:solidFill>
          <a:ln xmlns:a="http://schemas.openxmlformats.org/drawingml/2006/main" w="12700">
            <a:solidFill>
              <a:srgbClr val="E4E9F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CEBF6708-2EE8-4745-97D3-89C5B100F338}"/>
              </a:ext>
            </a:extLst>
          </p:cNvPr>
          <p:cNvSpPr>
            <a:spLocks xmlns:a="http://schemas.openxmlformats.org/drawingml/2006/main" noGrp="1"/>
          </p:cNvSpPr>
          <p:nvPr/>
        </p:nvSpPr>
        <p:spPr>
          <a:xfrm xmlns:a="http://schemas.openxmlformats.org/drawingml/2006/main">
            <a:off x="4754880" y="3291840"/>
            <a:ext cx="157048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ct val="105000"/>
              </a:lnSpc>
              <a:buNone/>
            </a:pPr>
            <a:r>
              <a:rPr sz="950" b="1">
                <a:solidFill>
                  <a:srgbClr val="1A344D"/>
                </a:solidFill>
                <a:latin typeface="Aptos"/>
                <a:ea typeface="Aptos"/>
                <a:cs typeface="Aptos"/>
              </a:rPr>
              <a:t>Message fault</a:t>
            </a:r>
            <a:endParaRPr sz="950"/>
          </a:p>
        </p:txBody>
      </p:sp>
      <p:sp>
        <p:nvSpPr>
          <p:cNvPr id="25" name="Shape 23">
            <a:extLst xmlns:a="http://schemas.openxmlformats.org/drawingml/2006/main">
              <a:ext uri="{FF2B5EF4-FFF2-40B4-BE49-F238E27FC236}">
                <a16:creationId xmlns:a16="http://schemas.microsoft.com/office/drawing/2014/main" id="{D125E349-1F2D-46AC-93F6-0A423326E3EB}"/>
              </a:ext>
            </a:extLst>
          </p:cNvPr>
          <p:cNvSpPr>
            <a:spLocks xmlns:a="http://schemas.openxmlformats.org/drawingml/2006/main" noGrp="1"/>
          </p:cNvSpPr>
          <p:nvPr/>
        </p:nvSpPr>
        <p:spPr>
          <a:xfrm xmlns:a="http://schemas.openxmlformats.org/drawingml/2006/main">
            <a:off x="6480810" y="3291840"/>
            <a:ext cx="1661922" cy="594360"/>
          </a:xfrm>
          <a:prstGeom xmlns:a="http://schemas.openxmlformats.org/drawingml/2006/main" prst="roundRect">
            <a:avLst>
              <a:gd name="adj" fmla="val 10769"/>
            </a:avLst>
          </a:prstGeom>
          <a:solidFill xmlns:a="http://schemas.openxmlformats.org/drawingml/2006/main">
            <a:srgbClr val="FFFFFF"/>
          </a:solidFill>
          <a:ln xmlns:a="http://schemas.openxmlformats.org/drawingml/2006/main" w="12700">
            <a:solidFill>
              <a:srgbClr val="E4E9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235BCEF8-88AD-4AB3-B871-EAE190975B9A}"/>
              </a:ext>
            </a:extLst>
          </p:cNvPr>
          <p:cNvSpPr>
            <a:spLocks xmlns:a="http://schemas.openxmlformats.org/drawingml/2006/main" noGrp="1"/>
          </p:cNvSpPr>
          <p:nvPr/>
        </p:nvSpPr>
        <p:spPr>
          <a:xfrm xmlns:a="http://schemas.openxmlformats.org/drawingml/2006/main">
            <a:off x="6526530" y="3291840"/>
            <a:ext cx="157048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ct val="105000"/>
              </a:lnSpc>
              <a:buNone/>
            </a:pPr>
            <a:r>
              <a:rPr sz="950" b="1">
                <a:solidFill>
                  <a:srgbClr val="1A344D"/>
                </a:solidFill>
                <a:latin typeface="Aptos"/>
                <a:ea typeface="Aptos"/>
                <a:cs typeface="Aptos"/>
              </a:rPr>
              <a:t>State divergence</a:t>
            </a:r>
            <a:endParaRPr sz="950"/>
          </a:p>
        </p:txBody>
      </p:sp>
      <p:sp>
        <p:nvSpPr>
          <p:cNvPr id="27" name="Shape 25">
            <a:extLst xmlns:a="http://schemas.openxmlformats.org/drawingml/2006/main">
              <a:ext uri="{FF2B5EF4-FFF2-40B4-BE49-F238E27FC236}">
                <a16:creationId xmlns:a16="http://schemas.microsoft.com/office/drawing/2014/main" id="{861FED09-F82D-4FEA-BE08-7AFFCA07CD73}"/>
              </a:ext>
            </a:extLst>
          </p:cNvPr>
          <p:cNvSpPr>
            <a:spLocks xmlns:a="http://schemas.openxmlformats.org/drawingml/2006/main" noGrp="1"/>
          </p:cNvSpPr>
          <p:nvPr/>
        </p:nvSpPr>
        <p:spPr>
          <a:xfrm xmlns:a="http://schemas.openxmlformats.org/drawingml/2006/main">
            <a:off x="8252460" y="3291840"/>
            <a:ext cx="1661922" cy="594360"/>
          </a:xfrm>
          <a:prstGeom xmlns:a="http://schemas.openxmlformats.org/drawingml/2006/main" prst="roundRect">
            <a:avLst>
              <a:gd name="adj" fmla="val 10769"/>
            </a:avLst>
          </a:prstGeom>
          <a:solidFill xmlns:a="http://schemas.openxmlformats.org/drawingml/2006/main">
            <a:srgbClr val="FFFFFF"/>
          </a:solidFill>
          <a:ln xmlns:a="http://schemas.openxmlformats.org/drawingml/2006/main" w="12700">
            <a:solidFill>
              <a:srgbClr val="E4E9F0"/>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316CE12A-709B-4093-9BED-F27DCFDA8508}"/>
              </a:ext>
            </a:extLst>
          </p:cNvPr>
          <p:cNvSpPr>
            <a:spLocks xmlns:a="http://schemas.openxmlformats.org/drawingml/2006/main" noGrp="1"/>
          </p:cNvSpPr>
          <p:nvPr/>
        </p:nvSpPr>
        <p:spPr>
          <a:xfrm xmlns:a="http://schemas.openxmlformats.org/drawingml/2006/main">
            <a:off x="8298180" y="3291840"/>
            <a:ext cx="157048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ct val="105000"/>
              </a:lnSpc>
              <a:buNone/>
            </a:pPr>
            <a:r>
              <a:rPr sz="950" b="1">
                <a:solidFill>
                  <a:srgbClr val="1A344D"/>
                </a:solidFill>
                <a:latin typeface="Aptos"/>
                <a:ea typeface="Aptos"/>
                <a:cs typeface="Aptos"/>
              </a:rPr>
              <a:t>Hidden condition</a:t>
            </a:r>
            <a:endParaRPr sz="950"/>
          </a:p>
        </p:txBody>
      </p:sp>
      <p:sp>
        <p:nvSpPr>
          <p:cNvPr id="29" name="Shape 27">
            <a:extLst xmlns:a="http://schemas.openxmlformats.org/drawingml/2006/main">
              <a:ext uri="{FF2B5EF4-FFF2-40B4-BE49-F238E27FC236}">
                <a16:creationId xmlns:a16="http://schemas.microsoft.com/office/drawing/2014/main" id="{4AA5741F-1A67-458D-BDAF-B9EC7B5D3997}"/>
              </a:ext>
            </a:extLst>
          </p:cNvPr>
          <p:cNvSpPr>
            <a:spLocks xmlns:a="http://schemas.openxmlformats.org/drawingml/2006/main" noGrp="1"/>
          </p:cNvSpPr>
          <p:nvPr/>
        </p:nvSpPr>
        <p:spPr>
          <a:xfrm xmlns:a="http://schemas.openxmlformats.org/drawingml/2006/main">
            <a:off x="10024110" y="3291840"/>
            <a:ext cx="1661922" cy="594360"/>
          </a:xfrm>
          <a:prstGeom xmlns:a="http://schemas.openxmlformats.org/drawingml/2006/main" prst="roundRect">
            <a:avLst>
              <a:gd name="adj" fmla="val 10769"/>
            </a:avLst>
          </a:prstGeom>
          <a:solidFill xmlns:a="http://schemas.openxmlformats.org/drawingml/2006/main">
            <a:srgbClr val="FFFFFF"/>
          </a:solidFill>
          <a:ln xmlns:a="http://schemas.openxmlformats.org/drawingml/2006/main" w="12700">
            <a:solidFill>
              <a:srgbClr val="E4E9F0"/>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16CA1F03-2057-4259-AFE7-A40E314A7035}"/>
              </a:ext>
            </a:extLst>
          </p:cNvPr>
          <p:cNvSpPr>
            <a:spLocks xmlns:a="http://schemas.openxmlformats.org/drawingml/2006/main" noGrp="1"/>
          </p:cNvSpPr>
          <p:nvPr/>
        </p:nvSpPr>
        <p:spPr>
          <a:xfrm xmlns:a="http://schemas.openxmlformats.org/drawingml/2006/main">
            <a:off x="10069830" y="3291840"/>
            <a:ext cx="1570482"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ct val="105000"/>
              </a:lnSpc>
              <a:buNone/>
            </a:pPr>
            <a:r>
              <a:rPr sz="950" b="1">
                <a:solidFill>
                  <a:srgbClr val="1A344D"/>
                </a:solidFill>
                <a:latin typeface="Aptos"/>
                <a:ea typeface="Aptos"/>
                <a:cs typeface="Aptos"/>
              </a:rPr>
              <a:t>User impact</a:t>
            </a:r>
            <a:endParaRPr sz="950"/>
          </a:p>
        </p:txBody>
      </p:sp>
      <p:sp>
        <p:nvSpPr>
          <p:cNvPr id="31" name="Text 29">
            <a:extLst xmlns:a="http://schemas.openxmlformats.org/drawingml/2006/main">
              <a:ext uri="{FF2B5EF4-FFF2-40B4-BE49-F238E27FC236}">
                <a16:creationId xmlns:a16="http://schemas.microsoft.com/office/drawing/2014/main" id="{ABCEC984-5F89-4A80-9480-DDE36C30F5B7}"/>
              </a:ext>
            </a:extLst>
          </p:cNvPr>
          <p:cNvSpPr>
            <a:spLocks xmlns:a="http://schemas.openxmlformats.org/drawingml/2006/main" noGrp="1"/>
          </p:cNvSpPr>
          <p:nvPr/>
        </p:nvSpPr>
        <p:spPr>
          <a:xfrm xmlns:a="http://schemas.openxmlformats.org/drawingml/2006/main">
            <a:off x="4709160" y="4041648"/>
            <a:ext cx="6976872"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i="1">
                <a:solidFill>
                  <a:srgbClr val="5C6978"/>
                </a:solidFill>
                <a:latin typeface="Aptos"/>
                <a:ea typeface="Aptos"/>
                <a:cs typeface="Aptos"/>
              </a:rPr>
              <a:t>We measure detection before a failed consistency probe.</a:t>
            </a:r>
            <a:endParaRPr sz="1050"/>
          </a:p>
        </p:txBody>
      </p:sp>
      <p:sp>
        <p:nvSpPr>
          <p:cNvPr id="32" name="Shape 30">
            <a:extLst xmlns:a="http://schemas.openxmlformats.org/drawingml/2006/main">
              <a:ext uri="{FF2B5EF4-FFF2-40B4-BE49-F238E27FC236}">
                <a16:creationId xmlns:a16="http://schemas.microsoft.com/office/drawing/2014/main" id="{21AA7AD6-AD75-441B-86C5-0C4B334DC974}"/>
              </a:ext>
            </a:extLst>
          </p:cNvPr>
          <p:cNvSpPr>
            <a:spLocks xmlns:a="http://schemas.openxmlformats.org/drawingml/2006/main" noGrp="1"/>
          </p:cNvSpPr>
          <p:nvPr/>
        </p:nvSpPr>
        <p:spPr>
          <a:xfrm xmlns:a="http://schemas.openxmlformats.org/drawingml/2006/main">
            <a:off x="4709160" y="4663440"/>
            <a:ext cx="6976872" cy="1417320"/>
          </a:xfrm>
          <a:prstGeom xmlns:a="http://schemas.openxmlformats.org/drawingml/2006/main" prst="roundRect">
            <a:avLst>
              <a:gd name="adj" fmla="val 5806"/>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33" name="Text 31">
            <a:extLst xmlns:a="http://schemas.openxmlformats.org/drawingml/2006/main">
              <a:ext uri="{FF2B5EF4-FFF2-40B4-BE49-F238E27FC236}">
                <a16:creationId xmlns:a16="http://schemas.microsoft.com/office/drawing/2014/main" id="{CFBB00E2-8679-4433-B6DA-C999F706A66F}"/>
              </a:ext>
            </a:extLst>
          </p:cNvPr>
          <p:cNvSpPr>
            <a:spLocks xmlns:a="http://schemas.openxmlformats.org/drawingml/2006/main" noGrp="1"/>
          </p:cNvSpPr>
          <p:nvPr/>
        </p:nvSpPr>
        <p:spPr>
          <a:xfrm xmlns:a="http://schemas.openxmlformats.org/drawingml/2006/main">
            <a:off x="4709160" y="4846320"/>
            <a:ext cx="232562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600" b="1">
                <a:solidFill>
                  <a:srgbClr val="2F6FED"/>
                </a:solidFill>
                <a:latin typeface="Aptos"/>
                <a:ea typeface="Aptos"/>
                <a:cs typeface="Aptos"/>
              </a:rPr>
              <a:t>3</a:t>
            </a:r>
            <a:endParaRPr sz="2600"/>
          </a:p>
        </p:txBody>
      </p:sp>
      <p:sp>
        <p:nvSpPr>
          <p:cNvPr id="34" name="Text 32">
            <a:extLst xmlns:a="http://schemas.openxmlformats.org/drawingml/2006/main">
              <a:ext uri="{FF2B5EF4-FFF2-40B4-BE49-F238E27FC236}">
                <a16:creationId xmlns:a16="http://schemas.microsoft.com/office/drawing/2014/main" id="{0DDC2382-0C7B-4157-9B82-B9361D3E7059}"/>
              </a:ext>
            </a:extLst>
          </p:cNvPr>
          <p:cNvSpPr>
            <a:spLocks xmlns:a="http://schemas.openxmlformats.org/drawingml/2006/main" noGrp="1"/>
          </p:cNvSpPr>
          <p:nvPr/>
        </p:nvSpPr>
        <p:spPr>
          <a:xfrm xmlns:a="http://schemas.openxmlformats.org/drawingml/2006/main">
            <a:off x="4846320" y="5376672"/>
            <a:ext cx="2051304"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ct val="120000"/>
              </a:lnSpc>
              <a:buNone/>
            </a:pPr>
            <a:r>
              <a:rPr sz="950">
                <a:solidFill>
                  <a:srgbClr val="5C6978"/>
                </a:solidFill>
                <a:latin typeface="Aptos"/>
                <a:ea typeface="Aptos"/>
                <a:cs typeface="Aptos"/>
              </a:rPr>
              <a:t>signaling procedures modeled</a:t>
            </a:r>
            <a:endParaRPr sz="950"/>
          </a:p>
        </p:txBody>
      </p:sp>
      <p:sp>
        <p:nvSpPr>
          <p:cNvPr id="35" name="Shape 33">
            <a:extLst xmlns:a="http://schemas.openxmlformats.org/drawingml/2006/main">
              <a:ext uri="{FF2B5EF4-FFF2-40B4-BE49-F238E27FC236}">
                <a16:creationId xmlns:a16="http://schemas.microsoft.com/office/drawing/2014/main" id="{D33F0765-1B4D-42FF-9469-706339B37896}"/>
              </a:ext>
            </a:extLst>
          </p:cNvPr>
          <p:cNvSpPr>
            <a:spLocks xmlns:a="http://schemas.openxmlformats.org/drawingml/2006/main" noGrp="1"/>
          </p:cNvSpPr>
          <p:nvPr/>
        </p:nvSpPr>
        <p:spPr>
          <a:xfrm xmlns:a="http://schemas.openxmlformats.org/drawingml/2006/main">
            <a:off x="7034784" y="4846320"/>
            <a:ext cx="0" cy="1097280"/>
          </a:xfrm>
          <a:prstGeom xmlns:a="http://schemas.openxmlformats.org/drawingml/2006/main" prst="line">
            <a:avLst/>
          </a:prstGeom>
          <a:noFill xmlns:a="http://schemas.openxmlformats.org/drawingml/2006/main"/>
          <a:ln xmlns:a="http://schemas.openxmlformats.org/drawingml/2006/main" w="12700">
            <a:solidFill>
              <a:srgbClr val="E4E9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1ABF3033-0465-4284-8D83-C3FF541B6236}"/>
              </a:ext>
            </a:extLst>
          </p:cNvPr>
          <p:cNvSpPr>
            <a:spLocks xmlns:a="http://schemas.openxmlformats.org/drawingml/2006/main" noGrp="1"/>
          </p:cNvSpPr>
          <p:nvPr/>
        </p:nvSpPr>
        <p:spPr>
          <a:xfrm xmlns:a="http://schemas.openxmlformats.org/drawingml/2006/main">
            <a:off x="7034784" y="4846320"/>
            <a:ext cx="232562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600" b="1">
                <a:solidFill>
                  <a:srgbClr val="2F6FED"/>
                </a:solidFill>
                <a:latin typeface="Aptos"/>
                <a:ea typeface="Aptos"/>
                <a:cs typeface="Aptos"/>
              </a:rPr>
              <a:t>12</a:t>
            </a:r>
            <a:endParaRPr sz="2600"/>
          </a:p>
        </p:txBody>
      </p:sp>
      <p:sp>
        <p:nvSpPr>
          <p:cNvPr id="37" name="Text 35">
            <a:extLst xmlns:a="http://schemas.openxmlformats.org/drawingml/2006/main">
              <a:ext uri="{FF2B5EF4-FFF2-40B4-BE49-F238E27FC236}">
                <a16:creationId xmlns:a16="http://schemas.microsoft.com/office/drawing/2014/main" id="{EDD8E1BB-0C10-4595-8DF5-5988D4C62491}"/>
              </a:ext>
            </a:extLst>
          </p:cNvPr>
          <p:cNvSpPr>
            <a:spLocks xmlns:a="http://schemas.openxmlformats.org/drawingml/2006/main" noGrp="1"/>
          </p:cNvSpPr>
          <p:nvPr/>
        </p:nvSpPr>
        <p:spPr>
          <a:xfrm xmlns:a="http://schemas.openxmlformats.org/drawingml/2006/main">
            <a:off x="7171944" y="5376672"/>
            <a:ext cx="2051304"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ct val="120000"/>
              </a:lnSpc>
              <a:buNone/>
            </a:pPr>
            <a:r>
              <a:rPr sz="950">
                <a:solidFill>
                  <a:srgbClr val="5C6978"/>
                </a:solidFill>
                <a:latin typeface="Aptos"/>
                <a:ea typeface="Aptos"/>
                <a:cs typeface="Aptos"/>
              </a:rPr>
              <a:t>scenarios and controls</a:t>
            </a:r>
            <a:endParaRPr sz="950"/>
          </a:p>
        </p:txBody>
      </p:sp>
      <p:sp>
        <p:nvSpPr>
          <p:cNvPr id="38" name="Shape 36">
            <a:extLst xmlns:a="http://schemas.openxmlformats.org/drawingml/2006/main">
              <a:ext uri="{FF2B5EF4-FFF2-40B4-BE49-F238E27FC236}">
                <a16:creationId xmlns:a16="http://schemas.microsoft.com/office/drawing/2014/main" id="{D1CEE6CD-957D-4BAF-8C82-BC3384573696}"/>
              </a:ext>
            </a:extLst>
          </p:cNvPr>
          <p:cNvSpPr>
            <a:spLocks xmlns:a="http://schemas.openxmlformats.org/drawingml/2006/main" noGrp="1"/>
          </p:cNvSpPr>
          <p:nvPr/>
        </p:nvSpPr>
        <p:spPr>
          <a:xfrm xmlns:a="http://schemas.openxmlformats.org/drawingml/2006/main">
            <a:off x="9360408" y="4846320"/>
            <a:ext cx="0" cy="1097280"/>
          </a:xfrm>
          <a:prstGeom xmlns:a="http://schemas.openxmlformats.org/drawingml/2006/main" prst="line">
            <a:avLst/>
          </a:prstGeom>
          <a:noFill xmlns:a="http://schemas.openxmlformats.org/drawingml/2006/main"/>
          <a:ln xmlns:a="http://schemas.openxmlformats.org/drawingml/2006/main" w="12700">
            <a:solidFill>
              <a:srgbClr val="E4E9F0"/>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Text 37">
            <a:extLst xmlns:a="http://schemas.openxmlformats.org/drawingml/2006/main">
              <a:ext uri="{FF2B5EF4-FFF2-40B4-BE49-F238E27FC236}">
                <a16:creationId xmlns:a16="http://schemas.microsoft.com/office/drawing/2014/main" id="{7246856B-4746-4575-B425-16CCBF76708D}"/>
              </a:ext>
            </a:extLst>
          </p:cNvPr>
          <p:cNvSpPr>
            <a:spLocks xmlns:a="http://schemas.openxmlformats.org/drawingml/2006/main" noGrp="1"/>
          </p:cNvSpPr>
          <p:nvPr/>
        </p:nvSpPr>
        <p:spPr>
          <a:xfrm xmlns:a="http://schemas.openxmlformats.org/drawingml/2006/main">
            <a:off x="9360408" y="4846320"/>
            <a:ext cx="2325624"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600" b="1">
                <a:solidFill>
                  <a:srgbClr val="2F6FED"/>
                </a:solidFill>
                <a:latin typeface="Aptos"/>
                <a:ea typeface="Aptos"/>
                <a:cs typeface="Aptos"/>
              </a:rPr>
              <a:t>2,640</a:t>
            </a:r>
            <a:endParaRPr sz="2600"/>
          </a:p>
        </p:txBody>
      </p:sp>
      <p:sp>
        <p:nvSpPr>
          <p:cNvPr id="40" name="Text 38">
            <a:extLst xmlns:a="http://schemas.openxmlformats.org/drawingml/2006/main">
              <a:ext uri="{FF2B5EF4-FFF2-40B4-BE49-F238E27FC236}">
                <a16:creationId xmlns:a16="http://schemas.microsoft.com/office/drawing/2014/main" id="{83516486-C9E5-44B2-B1DB-460CCC59B901}"/>
              </a:ext>
            </a:extLst>
          </p:cNvPr>
          <p:cNvSpPr>
            <a:spLocks xmlns:a="http://schemas.openxmlformats.org/drawingml/2006/main" noGrp="1"/>
          </p:cNvSpPr>
          <p:nvPr/>
        </p:nvSpPr>
        <p:spPr>
          <a:xfrm xmlns:a="http://schemas.openxmlformats.org/drawingml/2006/main">
            <a:off x="9497568" y="5376672"/>
            <a:ext cx="2051304"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lnSpc>
                <a:spcPct val="120000"/>
              </a:lnSpc>
              <a:buNone/>
            </a:pPr>
            <a:r>
              <a:rPr sz="950">
                <a:solidFill>
                  <a:srgbClr val="5C6978"/>
                </a:solidFill>
                <a:latin typeface="Aptos"/>
                <a:ea typeface="Aptos"/>
                <a:cs typeface="Aptos"/>
              </a:rPr>
              <a:t>experiment runs</a:t>
            </a:r>
            <a:endParaRPr sz="950"/>
          </a:p>
        </p:txBody>
      </p:sp>
    </p:spTree>
    <p:extLst>
      <p:ext uri="{BB962C8B-B14F-4D97-AF65-F5344CB8AC3E}">
        <p14:creationId xmlns:p14="http://schemas.microsoft.com/office/powerpoint/2010/main" val="4006928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1ED01E0-8A96-4774-8C8E-29FF132F72B3}"/>
              </a:ext>
            </a:extLst>
          </p:cNvPr>
          <p:cNvSpPr>
            <a:spLocks xmlns:a="http://schemas.openxmlformats.org/drawingml/2006/main" noGrp="1"/>
          </p:cNvSpPr>
          <p:nvPr/>
        </p:nvSpPr>
        <p:spPr>
          <a:xfrm xmlns:a="http://schemas.openxmlformats.org/drawingml/2006/main">
            <a:off x="566928"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2F6FED"/>
                </a:solidFill>
                <a:latin typeface="Aptos"/>
                <a:ea typeface="Aptos"/>
                <a:cs typeface="Aptos"/>
              </a:rPr>
              <a:t>01 · INTRODUCTION</a:t>
            </a:r>
            <a:endParaRPr sz="1100"/>
          </a:p>
        </p:txBody>
      </p:sp>
      <p:sp>
        <p:nvSpPr>
          <p:cNvPr id="3" name="Text 1">
            <a:extLst xmlns:a="http://schemas.openxmlformats.org/drawingml/2006/main">
              <a:ext uri="{FF2B5EF4-FFF2-40B4-BE49-F238E27FC236}">
                <a16:creationId xmlns:a16="http://schemas.microsoft.com/office/drawing/2014/main" id="{848F892A-6F24-431C-9A0C-BD6A19C7F599}"/>
              </a:ext>
            </a:extLst>
          </p:cNvPr>
          <p:cNvSpPr>
            <a:spLocks xmlns:a="http://schemas.openxmlformats.org/drawingml/2006/main" noGrp="1"/>
          </p:cNvSpPr>
          <p:nvPr/>
        </p:nvSpPr>
        <p:spPr>
          <a:xfrm xmlns:a="http://schemas.openxmlformats.org/drawingml/2006/main">
            <a:off x="566928" y="676656"/>
            <a:ext cx="10789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344D"/>
                </a:solidFill>
                <a:latin typeface="Aptos"/>
                <a:ea typeface="Aptos"/>
                <a:cs typeface="Aptos"/>
              </a:rPr>
              <a:t>Where the UE context lives</a:t>
            </a:r>
            <a:endParaRPr sz="3000"/>
          </a:p>
        </p:txBody>
      </p:sp>
      <p:sp>
        <p:nvSpPr>
          <p:cNvPr id="4" name="Text 2">
            <a:extLst xmlns:a="http://schemas.openxmlformats.org/drawingml/2006/main">
              <a:ext uri="{FF2B5EF4-FFF2-40B4-BE49-F238E27FC236}">
                <a16:creationId xmlns:a16="http://schemas.microsoft.com/office/drawing/2014/main" id="{8602A7B8-960B-4BA7-A767-916B2482B90F}"/>
              </a:ext>
            </a:extLst>
          </p:cNvPr>
          <p:cNvSpPr>
            <a:spLocks xmlns:a="http://schemas.openxmlformats.org/drawingml/2006/main" noGrp="1"/>
          </p:cNvSpPr>
          <p:nvPr/>
        </p:nvSpPr>
        <p:spPr>
          <a:xfrm xmlns:a="http://schemas.openxmlformats.org/drawingml/2006/main">
            <a:off x="566928" y="1225296"/>
            <a:ext cx="106070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5C6978"/>
                </a:solidFill>
                <a:latin typeface="Aptos"/>
                <a:ea typeface="Aptos"/>
                <a:cs typeface="Aptos"/>
              </a:rPr>
              <a:t>RAN and Core each maintain a different part of the same user session.</a:t>
            </a:r>
            <a:endParaRPr sz="1300"/>
          </a:p>
        </p:txBody>
      </p:sp>
      <p:sp>
        <p:nvSpPr>
          <p:cNvPr id="5" name="Shape 3">
            <a:extLst xmlns:a="http://schemas.openxmlformats.org/drawingml/2006/main">
              <a:ext uri="{FF2B5EF4-FFF2-40B4-BE49-F238E27FC236}">
                <a16:creationId xmlns:a16="http://schemas.microsoft.com/office/drawing/2014/main" id="{D394A5C1-00C3-48E0-8981-48F34396A509}"/>
              </a:ext>
            </a:extLst>
          </p:cNvPr>
          <p:cNvSpPr>
            <a:spLocks xmlns:a="http://schemas.openxmlformats.org/drawingml/2006/main" noGrp="1"/>
          </p:cNvSpPr>
          <p:nvPr/>
        </p:nvSpPr>
        <p:spPr>
          <a:xfrm xmlns:a="http://schemas.openxmlformats.org/drawingml/2006/main">
            <a:off x="566928" y="1965960"/>
            <a:ext cx="2834640" cy="1691640"/>
          </a:xfrm>
          <a:prstGeom xmlns:a="http://schemas.openxmlformats.org/drawingml/2006/main" prst="roundRect">
            <a:avLst>
              <a:gd name="adj" fmla="val 4865"/>
            </a:avLst>
          </a:prstGeom>
          <a:solidFill xmlns:a="http://schemas.openxmlformats.org/drawingml/2006/main">
            <a:srgbClr val="FFFFFF"/>
          </a:solidFill>
          <a:ln xmlns:a="http://schemas.openxmlformats.org/drawingml/2006/main" w="12700">
            <a:solidFill>
              <a:srgbClr val="1A344D"/>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3EDABFAD-B247-466B-B9AE-7A3668E203E4}"/>
              </a:ext>
            </a:extLst>
          </p:cNvPr>
          <p:cNvSpPr>
            <a:spLocks xmlns:a="http://schemas.openxmlformats.org/drawingml/2006/main" noGrp="1"/>
          </p:cNvSpPr>
          <p:nvPr/>
        </p:nvSpPr>
        <p:spPr>
          <a:xfrm xmlns:a="http://schemas.openxmlformats.org/drawingml/2006/main">
            <a:off x="804672" y="2203704"/>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1A344D"/>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F0A40ABF-B043-4D99-BA82-D49CAA0CBF3C}"/>
              </a:ext>
            </a:extLst>
          </p:cNvPr>
          <p:cNvSpPr>
            <a:spLocks xmlns:a="http://schemas.openxmlformats.org/drawingml/2006/main" noGrp="1"/>
          </p:cNvSpPr>
          <p:nvPr/>
        </p:nvSpPr>
        <p:spPr>
          <a:xfrm xmlns:a="http://schemas.openxmlformats.org/drawingml/2006/main">
            <a:off x="804672" y="2203704"/>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1A344D"/>
                </a:solidFill>
                <a:latin typeface="Aptos"/>
                <a:ea typeface="Aptos"/>
                <a:cs typeface="Aptos"/>
              </a:rPr>
              <a:t>U</a:t>
            </a:r>
            <a:endParaRPr sz="1200"/>
          </a:p>
        </p:txBody>
      </p:sp>
      <p:sp>
        <p:nvSpPr>
          <p:cNvPr id="8" name="Text 6">
            <a:extLst xmlns:a="http://schemas.openxmlformats.org/drawingml/2006/main">
              <a:ext uri="{FF2B5EF4-FFF2-40B4-BE49-F238E27FC236}">
                <a16:creationId xmlns:a16="http://schemas.microsoft.com/office/drawing/2014/main" id="{A8E4A687-27DA-4B43-8FE1-445CE8A4A9BD}"/>
              </a:ext>
            </a:extLst>
          </p:cNvPr>
          <p:cNvSpPr>
            <a:spLocks xmlns:a="http://schemas.openxmlformats.org/drawingml/2006/main" noGrp="1"/>
          </p:cNvSpPr>
          <p:nvPr/>
        </p:nvSpPr>
        <p:spPr>
          <a:xfrm xmlns:a="http://schemas.openxmlformats.org/drawingml/2006/main">
            <a:off x="1316736" y="2185416"/>
            <a:ext cx="18288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1A344D"/>
                </a:solidFill>
                <a:latin typeface="Aptos"/>
                <a:ea typeface="Aptos"/>
                <a:cs typeface="Aptos"/>
              </a:rPr>
              <a:t>UE</a:t>
            </a:r>
            <a:endParaRPr sz="1600"/>
          </a:p>
        </p:txBody>
      </p:sp>
      <p:sp>
        <p:nvSpPr>
          <p:cNvPr id="9" name="Text 7">
            <a:extLst xmlns:a="http://schemas.openxmlformats.org/drawingml/2006/main">
              <a:ext uri="{FF2B5EF4-FFF2-40B4-BE49-F238E27FC236}">
                <a16:creationId xmlns:a16="http://schemas.microsoft.com/office/drawing/2014/main" id="{AAFBD176-67EC-4165-894E-B9DB758F9144}"/>
              </a:ext>
            </a:extLst>
          </p:cNvPr>
          <p:cNvSpPr>
            <a:spLocks xmlns:a="http://schemas.openxmlformats.org/drawingml/2006/main" noGrp="1"/>
          </p:cNvSpPr>
          <p:nvPr/>
        </p:nvSpPr>
        <p:spPr>
          <a:xfrm xmlns:a="http://schemas.openxmlformats.org/drawingml/2006/main">
            <a:off x="804672" y="2770632"/>
            <a:ext cx="2377440"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30000"/>
              </a:lnSpc>
              <a:buNone/>
            </a:pPr>
            <a:r>
              <a:rPr sz="1100">
                <a:solidFill>
                  <a:srgbClr val="5C6978"/>
                </a:solidFill>
                <a:latin typeface="Aptos"/>
                <a:ea typeface="Aptos"/>
                <a:cs typeface="Aptos"/>
              </a:rPr>
              <a:t>User device — phone, IoT, router. Requests access and services.</a:t>
            </a:r>
            <a:endParaRPr sz="1100"/>
          </a:p>
        </p:txBody>
      </p:sp>
      <p:sp>
        <p:nvSpPr>
          <p:cNvPr id="10" name="Shape 8">
            <a:extLst xmlns:a="http://schemas.openxmlformats.org/drawingml/2006/main">
              <a:ext uri="{FF2B5EF4-FFF2-40B4-BE49-F238E27FC236}">
                <a16:creationId xmlns:a16="http://schemas.microsoft.com/office/drawing/2014/main" id="{6D14C632-2B8E-41EA-B8B4-B14B68F91001}"/>
              </a:ext>
            </a:extLst>
          </p:cNvPr>
          <p:cNvSpPr>
            <a:spLocks xmlns:a="http://schemas.openxmlformats.org/drawingml/2006/main" noGrp="1"/>
          </p:cNvSpPr>
          <p:nvPr/>
        </p:nvSpPr>
        <p:spPr>
          <a:xfrm xmlns:a="http://schemas.openxmlformats.org/drawingml/2006/main">
            <a:off x="3721608" y="1965960"/>
            <a:ext cx="2834640" cy="1691640"/>
          </a:xfrm>
          <a:prstGeom xmlns:a="http://schemas.openxmlformats.org/drawingml/2006/main" prst="roundRect">
            <a:avLst>
              <a:gd name="adj" fmla="val 4865"/>
            </a:avLst>
          </a:prstGeom>
          <a:solidFill xmlns:a="http://schemas.openxmlformats.org/drawingml/2006/main">
            <a:srgbClr val="EEF3FD"/>
          </a:solidFill>
          <a:ln xmlns:a="http://schemas.openxmlformats.org/drawingml/2006/main" w="12700">
            <a:solidFill>
              <a:srgbClr val="2F6FED"/>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8283311-77ED-430E-B8F4-08A9DA2C2941}"/>
              </a:ext>
            </a:extLst>
          </p:cNvPr>
          <p:cNvSpPr>
            <a:spLocks xmlns:a="http://schemas.openxmlformats.org/drawingml/2006/main" noGrp="1"/>
          </p:cNvSpPr>
          <p:nvPr/>
        </p:nvSpPr>
        <p:spPr>
          <a:xfrm xmlns:a="http://schemas.openxmlformats.org/drawingml/2006/main">
            <a:off x="3959352" y="2203704"/>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E0E8D551-CB09-4D5E-922D-48D0EDE98CE9}"/>
              </a:ext>
            </a:extLst>
          </p:cNvPr>
          <p:cNvSpPr>
            <a:spLocks xmlns:a="http://schemas.openxmlformats.org/drawingml/2006/main" noGrp="1"/>
          </p:cNvSpPr>
          <p:nvPr/>
        </p:nvSpPr>
        <p:spPr>
          <a:xfrm xmlns:a="http://schemas.openxmlformats.org/drawingml/2006/main">
            <a:off x="3959352" y="2203704"/>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2F6FED"/>
                </a:solidFill>
                <a:latin typeface="Aptos"/>
                <a:ea typeface="Aptos"/>
                <a:cs typeface="Aptos"/>
              </a:rPr>
              <a:t>R</a:t>
            </a:r>
            <a:endParaRPr sz="1200"/>
          </a:p>
        </p:txBody>
      </p:sp>
      <p:sp>
        <p:nvSpPr>
          <p:cNvPr id="13" name="Text 11">
            <a:extLst xmlns:a="http://schemas.openxmlformats.org/drawingml/2006/main">
              <a:ext uri="{FF2B5EF4-FFF2-40B4-BE49-F238E27FC236}">
                <a16:creationId xmlns:a16="http://schemas.microsoft.com/office/drawing/2014/main" id="{9F92C02D-63D0-4296-84B4-C4671CB19FC9}"/>
              </a:ext>
            </a:extLst>
          </p:cNvPr>
          <p:cNvSpPr>
            <a:spLocks xmlns:a="http://schemas.openxmlformats.org/drawingml/2006/main" noGrp="1"/>
          </p:cNvSpPr>
          <p:nvPr/>
        </p:nvSpPr>
        <p:spPr>
          <a:xfrm xmlns:a="http://schemas.openxmlformats.org/drawingml/2006/main">
            <a:off x="4471416" y="2185416"/>
            <a:ext cx="201168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2F6FED"/>
                </a:solidFill>
                <a:latin typeface="Aptos"/>
                <a:ea typeface="Aptos"/>
                <a:cs typeface="Aptos"/>
              </a:rPr>
              <a:t>RAN / gNB</a:t>
            </a:r>
            <a:endParaRPr sz="1600"/>
          </a:p>
        </p:txBody>
      </p:sp>
      <p:sp>
        <p:nvSpPr>
          <p:cNvPr id="14" name="Text 12">
            <a:extLst xmlns:a="http://schemas.openxmlformats.org/drawingml/2006/main">
              <a:ext uri="{FF2B5EF4-FFF2-40B4-BE49-F238E27FC236}">
                <a16:creationId xmlns:a16="http://schemas.microsoft.com/office/drawing/2014/main" id="{0F92A858-7178-4E05-B9F8-23CC9C5ACFAA}"/>
              </a:ext>
            </a:extLst>
          </p:cNvPr>
          <p:cNvSpPr>
            <a:spLocks xmlns:a="http://schemas.openxmlformats.org/drawingml/2006/main" noGrp="1"/>
          </p:cNvSpPr>
          <p:nvPr/>
        </p:nvSpPr>
        <p:spPr>
          <a:xfrm xmlns:a="http://schemas.openxmlformats.org/drawingml/2006/main">
            <a:off x="3959352" y="2770632"/>
            <a:ext cx="2450592"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30000"/>
              </a:lnSpc>
              <a:buNone/>
            </a:pPr>
            <a:r>
              <a:rPr sz="1100">
                <a:solidFill>
                  <a:srgbClr val="5C6978"/>
                </a:solidFill>
                <a:latin typeface="Aptos"/>
                <a:ea typeface="Aptos"/>
                <a:cs typeface="Aptos"/>
              </a:rPr>
              <a:t>Radio connection, RRC state, radio bearers, mobility at the radio side.</a:t>
            </a:r>
            <a:endParaRPr sz="1100"/>
          </a:p>
        </p:txBody>
      </p:sp>
      <p:sp>
        <p:nvSpPr>
          <p:cNvPr id="15" name="Shape 13">
            <a:extLst xmlns:a="http://schemas.openxmlformats.org/drawingml/2006/main">
              <a:ext uri="{FF2B5EF4-FFF2-40B4-BE49-F238E27FC236}">
                <a16:creationId xmlns:a16="http://schemas.microsoft.com/office/drawing/2014/main" id="{ECDE59A1-FC51-4BD3-AE07-7CA8F78A4A19}"/>
              </a:ext>
            </a:extLst>
          </p:cNvPr>
          <p:cNvSpPr>
            <a:spLocks xmlns:a="http://schemas.openxmlformats.org/drawingml/2006/main" noGrp="1"/>
          </p:cNvSpPr>
          <p:nvPr/>
        </p:nvSpPr>
        <p:spPr>
          <a:xfrm xmlns:a="http://schemas.openxmlformats.org/drawingml/2006/main">
            <a:off x="6876288" y="1965960"/>
            <a:ext cx="3429000" cy="1691640"/>
          </a:xfrm>
          <a:prstGeom xmlns:a="http://schemas.openxmlformats.org/drawingml/2006/main" prst="roundRect">
            <a:avLst>
              <a:gd name="adj" fmla="val 4865"/>
            </a:avLst>
          </a:prstGeom>
          <a:solidFill xmlns:a="http://schemas.openxmlformats.org/drawingml/2006/main">
            <a:srgbClr val="E9F6F3"/>
          </a:solidFill>
          <a:ln xmlns:a="http://schemas.openxmlformats.org/drawingml/2006/main" w="12700">
            <a:solidFill>
              <a:srgbClr val="1B9E8C"/>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E09AE7AF-29C0-4816-B781-EB9F4930E924}"/>
              </a:ext>
            </a:extLst>
          </p:cNvPr>
          <p:cNvSpPr>
            <a:spLocks xmlns:a="http://schemas.openxmlformats.org/drawingml/2006/main" noGrp="1"/>
          </p:cNvSpPr>
          <p:nvPr/>
        </p:nvSpPr>
        <p:spPr>
          <a:xfrm xmlns:a="http://schemas.openxmlformats.org/drawingml/2006/main">
            <a:off x="7114032" y="2203704"/>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1B9E8C"/>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13BCC1A6-377E-4A76-BE53-7760CCCC2AB8}"/>
              </a:ext>
            </a:extLst>
          </p:cNvPr>
          <p:cNvSpPr>
            <a:spLocks xmlns:a="http://schemas.openxmlformats.org/drawingml/2006/main" noGrp="1"/>
          </p:cNvSpPr>
          <p:nvPr/>
        </p:nvSpPr>
        <p:spPr>
          <a:xfrm xmlns:a="http://schemas.openxmlformats.org/drawingml/2006/main">
            <a:off x="7114032" y="2203704"/>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1B9E8C"/>
                </a:solidFill>
                <a:latin typeface="Aptos"/>
                <a:ea typeface="Aptos"/>
                <a:cs typeface="Aptos"/>
              </a:rPr>
              <a:t>C</a:t>
            </a:r>
            <a:endParaRPr sz="1200"/>
          </a:p>
        </p:txBody>
      </p:sp>
      <p:sp>
        <p:nvSpPr>
          <p:cNvPr id="18" name="Text 16">
            <a:extLst xmlns:a="http://schemas.openxmlformats.org/drawingml/2006/main">
              <a:ext uri="{FF2B5EF4-FFF2-40B4-BE49-F238E27FC236}">
                <a16:creationId xmlns:a16="http://schemas.microsoft.com/office/drawing/2014/main" id="{9998D778-9C87-4DF6-A614-AF12A5104324}"/>
              </a:ext>
            </a:extLst>
          </p:cNvPr>
          <p:cNvSpPr>
            <a:spLocks xmlns:a="http://schemas.openxmlformats.org/drawingml/2006/main" noGrp="1"/>
          </p:cNvSpPr>
          <p:nvPr/>
        </p:nvSpPr>
        <p:spPr>
          <a:xfrm xmlns:a="http://schemas.openxmlformats.org/drawingml/2006/main">
            <a:off x="7626096" y="2185416"/>
            <a:ext cx="25603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1B9E8C"/>
                </a:solidFill>
                <a:latin typeface="Aptos"/>
                <a:ea typeface="Aptos"/>
                <a:cs typeface="Aptos"/>
              </a:rPr>
              <a:t>AMF / SMF / UPF</a:t>
            </a:r>
            <a:endParaRPr sz="1600"/>
          </a:p>
        </p:txBody>
      </p:sp>
      <p:sp>
        <p:nvSpPr>
          <p:cNvPr id="19" name="Text 17">
            <a:extLst xmlns:a="http://schemas.openxmlformats.org/drawingml/2006/main">
              <a:ext uri="{FF2B5EF4-FFF2-40B4-BE49-F238E27FC236}">
                <a16:creationId xmlns:a16="http://schemas.microsoft.com/office/drawing/2014/main" id="{9E9B8615-4CB8-4E58-816C-67B350FE8B69}"/>
              </a:ext>
            </a:extLst>
          </p:cNvPr>
          <p:cNvSpPr>
            <a:spLocks xmlns:a="http://schemas.openxmlformats.org/drawingml/2006/main" noGrp="1"/>
          </p:cNvSpPr>
          <p:nvPr/>
        </p:nvSpPr>
        <p:spPr>
          <a:xfrm xmlns:a="http://schemas.openxmlformats.org/drawingml/2006/main">
            <a:off x="7114032" y="2770632"/>
            <a:ext cx="3017520"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30000"/>
              </a:lnSpc>
              <a:buNone/>
            </a:pPr>
            <a:r>
              <a:rPr sz="1100">
                <a:solidFill>
                  <a:srgbClr val="5C6978"/>
                </a:solidFill>
                <a:latin typeface="Aptos"/>
                <a:ea typeface="Aptos"/>
                <a:cs typeface="Aptos"/>
              </a:rPr>
              <a:t>Registration, mobility, PDU sessions, and the data path.</a:t>
            </a:r>
            <a:endParaRPr sz="1100"/>
          </a:p>
        </p:txBody>
      </p:sp>
      <p:sp>
        <p:nvSpPr>
          <p:cNvPr id="20" name="Shape 18">
            <a:extLst xmlns:a="http://schemas.openxmlformats.org/drawingml/2006/main">
              <a:ext uri="{FF2B5EF4-FFF2-40B4-BE49-F238E27FC236}">
                <a16:creationId xmlns:a16="http://schemas.microsoft.com/office/drawing/2014/main" id="{3F4A53DB-2454-4984-8D78-82BB87628A05}"/>
              </a:ext>
            </a:extLst>
          </p:cNvPr>
          <p:cNvSpPr>
            <a:spLocks xmlns:a="http://schemas.openxmlformats.org/drawingml/2006/main" noGrp="1"/>
          </p:cNvSpPr>
          <p:nvPr/>
        </p:nvSpPr>
        <p:spPr>
          <a:xfrm xmlns:a="http://schemas.openxmlformats.org/drawingml/2006/main">
            <a:off x="3401568" y="2811780"/>
            <a:ext cx="320040" cy="0"/>
          </a:xfrm>
          <a:prstGeom xmlns:a="http://schemas.openxmlformats.org/drawingml/2006/main" prst="line">
            <a:avLst/>
          </a:prstGeom>
          <a:noFill xmlns:a="http://schemas.openxmlformats.org/drawingml/2006/main"/>
          <a:ln xmlns:a="http://schemas.openxmlformats.org/drawingml/2006/main" w="15875">
            <a:solidFill>
              <a:srgbClr val="8A94A0"/>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8A37A988-0B28-423C-B658-DA145AFFD8A2}"/>
              </a:ext>
            </a:extLst>
          </p:cNvPr>
          <p:cNvSpPr>
            <a:spLocks xmlns:a="http://schemas.openxmlformats.org/drawingml/2006/main" noGrp="1"/>
          </p:cNvSpPr>
          <p:nvPr/>
        </p:nvSpPr>
        <p:spPr>
          <a:xfrm xmlns:a="http://schemas.openxmlformats.org/drawingml/2006/main">
            <a:off x="2898648" y="2427732"/>
            <a:ext cx="13258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50">
                <a:solidFill>
                  <a:srgbClr val="5C6978"/>
                </a:solidFill>
                <a:latin typeface="Aptos"/>
                <a:ea typeface="Aptos"/>
                <a:cs typeface="Aptos"/>
              </a:rPr>
              <a:t>5G radio</a:t>
            </a:r>
            <a:endParaRPr sz="850"/>
          </a:p>
        </p:txBody>
      </p:sp>
      <p:sp>
        <p:nvSpPr>
          <p:cNvPr id="22" name="Shape 20">
            <a:extLst xmlns:a="http://schemas.openxmlformats.org/drawingml/2006/main">
              <a:ext uri="{FF2B5EF4-FFF2-40B4-BE49-F238E27FC236}">
                <a16:creationId xmlns:a16="http://schemas.microsoft.com/office/drawing/2014/main" id="{F51EAFB5-9530-4A1D-9C75-FFD95BD2FA30}"/>
              </a:ext>
            </a:extLst>
          </p:cNvPr>
          <p:cNvSpPr>
            <a:spLocks xmlns:a="http://schemas.openxmlformats.org/drawingml/2006/main" noGrp="1"/>
          </p:cNvSpPr>
          <p:nvPr/>
        </p:nvSpPr>
        <p:spPr>
          <a:xfrm xmlns:a="http://schemas.openxmlformats.org/drawingml/2006/main">
            <a:off x="6556248" y="2811780"/>
            <a:ext cx="320040" cy="0"/>
          </a:xfrm>
          <a:prstGeom xmlns:a="http://schemas.openxmlformats.org/drawingml/2006/main" prst="line">
            <a:avLst/>
          </a:prstGeom>
          <a:noFill xmlns:a="http://schemas.openxmlformats.org/drawingml/2006/main"/>
          <a:ln xmlns:a="http://schemas.openxmlformats.org/drawingml/2006/main" w="15875">
            <a:solidFill>
              <a:srgbClr val="8A94A0"/>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F9141CD8-93AB-4161-8F8F-EBF9527C03AC}"/>
              </a:ext>
            </a:extLst>
          </p:cNvPr>
          <p:cNvSpPr>
            <a:spLocks xmlns:a="http://schemas.openxmlformats.org/drawingml/2006/main" noGrp="1"/>
          </p:cNvSpPr>
          <p:nvPr/>
        </p:nvSpPr>
        <p:spPr>
          <a:xfrm xmlns:a="http://schemas.openxmlformats.org/drawingml/2006/main">
            <a:off x="5916168" y="2427732"/>
            <a:ext cx="14630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850">
                <a:solidFill>
                  <a:srgbClr val="5C6978"/>
                </a:solidFill>
                <a:latin typeface="Aptos"/>
                <a:ea typeface="Aptos"/>
                <a:cs typeface="Aptos"/>
              </a:rPr>
              <a:t>N2 / control</a:t>
            </a:r>
            <a:endParaRPr sz="850"/>
          </a:p>
        </p:txBody>
      </p:sp>
      <p:sp>
        <p:nvSpPr>
          <p:cNvPr id="24" name="Shape 22">
            <a:extLst xmlns:a="http://schemas.openxmlformats.org/drawingml/2006/main">
              <a:ext uri="{FF2B5EF4-FFF2-40B4-BE49-F238E27FC236}">
                <a16:creationId xmlns:a16="http://schemas.microsoft.com/office/drawing/2014/main" id="{328BA179-C02F-467D-BA5A-185614CE0831}"/>
              </a:ext>
            </a:extLst>
          </p:cNvPr>
          <p:cNvSpPr>
            <a:spLocks xmlns:a="http://schemas.openxmlformats.org/drawingml/2006/main" noGrp="1"/>
          </p:cNvSpPr>
          <p:nvPr/>
        </p:nvSpPr>
        <p:spPr>
          <a:xfrm xmlns:a="http://schemas.openxmlformats.org/drawingml/2006/main">
            <a:off x="566928" y="3977640"/>
            <a:ext cx="5166360" cy="1051560"/>
          </a:xfrm>
          <a:prstGeom xmlns:a="http://schemas.openxmlformats.org/drawingml/2006/main" prst="roundRect">
            <a:avLst>
              <a:gd name="adj" fmla="val 7826"/>
            </a:avLst>
          </a:prstGeom>
          <a:solidFill xmlns:a="http://schemas.openxmlformats.org/drawingml/2006/main">
            <a:srgbClr val="FFFFFF"/>
          </a:solidFill>
          <a:ln xmlns:a="http://schemas.openxmlformats.org/drawingml/2006/main" w="12700">
            <a:solidFill>
              <a:srgbClr val="2F6FED"/>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9127A475-8CCE-4F3A-91DF-C4AC413DA314}"/>
              </a:ext>
            </a:extLst>
          </p:cNvPr>
          <p:cNvSpPr>
            <a:spLocks xmlns:a="http://schemas.openxmlformats.org/drawingml/2006/main" noGrp="1"/>
          </p:cNvSpPr>
          <p:nvPr/>
        </p:nvSpPr>
        <p:spPr>
          <a:xfrm xmlns:a="http://schemas.openxmlformats.org/drawingml/2006/main">
            <a:off x="822960" y="4311396"/>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8B3C0292-28C6-40FC-81AB-EBE50A6375C8}"/>
              </a:ext>
            </a:extLst>
          </p:cNvPr>
          <p:cNvSpPr>
            <a:spLocks xmlns:a="http://schemas.openxmlformats.org/drawingml/2006/main" noGrp="1"/>
          </p:cNvSpPr>
          <p:nvPr/>
        </p:nvSpPr>
        <p:spPr>
          <a:xfrm xmlns:a="http://schemas.openxmlformats.org/drawingml/2006/main">
            <a:off x="822960" y="4311396"/>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2F6FED"/>
                </a:solidFill>
                <a:latin typeface="Aptos"/>
                <a:ea typeface="Aptos"/>
                <a:cs typeface="Aptos"/>
              </a:rPr>
              <a:t>1</a:t>
            </a:r>
            <a:endParaRPr sz="1200"/>
          </a:p>
        </p:txBody>
      </p:sp>
      <p:sp>
        <p:nvSpPr>
          <p:cNvPr id="27" name="Text 25">
            <a:extLst xmlns:a="http://schemas.openxmlformats.org/drawingml/2006/main">
              <a:ext uri="{FF2B5EF4-FFF2-40B4-BE49-F238E27FC236}">
                <a16:creationId xmlns:a16="http://schemas.microsoft.com/office/drawing/2014/main" id="{B40D1DF2-0B33-4E03-83B4-02A15DE82D98}"/>
              </a:ext>
            </a:extLst>
          </p:cNvPr>
          <p:cNvSpPr>
            <a:spLocks xmlns:a="http://schemas.openxmlformats.org/drawingml/2006/main" noGrp="1"/>
          </p:cNvSpPr>
          <p:nvPr/>
        </p:nvSpPr>
        <p:spPr>
          <a:xfrm xmlns:a="http://schemas.openxmlformats.org/drawingml/2006/main">
            <a:off x="1353312" y="4160520"/>
            <a:ext cx="3657600" cy="32918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b="1">
                <a:solidFill>
                  <a:srgbClr val="1A344D"/>
                </a:solidFill>
                <a:latin typeface="Aptos"/>
                <a:ea typeface="Aptos"/>
                <a:cs typeface="Aptos"/>
              </a:rPr>
              <a:t>RAN view</a:t>
            </a:r>
            <a:endParaRPr sz="1450"/>
          </a:p>
        </p:txBody>
      </p:sp>
      <p:sp>
        <p:nvSpPr>
          <p:cNvPr id="28" name="Text 26">
            <a:extLst xmlns:a="http://schemas.openxmlformats.org/drawingml/2006/main">
              <a:ext uri="{FF2B5EF4-FFF2-40B4-BE49-F238E27FC236}">
                <a16:creationId xmlns:a16="http://schemas.microsoft.com/office/drawing/2014/main" id="{9C0BE958-1353-4882-ADD0-6D999E92215A}"/>
              </a:ext>
            </a:extLst>
          </p:cNvPr>
          <p:cNvSpPr>
            <a:spLocks xmlns:a="http://schemas.openxmlformats.org/drawingml/2006/main" noGrp="1"/>
          </p:cNvSpPr>
          <p:nvPr/>
        </p:nvSpPr>
        <p:spPr>
          <a:xfrm xmlns:a="http://schemas.openxmlformats.org/drawingml/2006/main">
            <a:off x="1353312" y="4526280"/>
            <a:ext cx="4114800" cy="32918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5C6978"/>
                </a:solidFill>
                <a:latin typeface="Aptos"/>
                <a:ea typeface="Aptos"/>
                <a:cs typeface="Aptos"/>
              </a:rPr>
              <a:t>“Connected + bearer active”</a:t>
            </a:r>
            <a:endParaRPr sz="1200"/>
          </a:p>
        </p:txBody>
      </p:sp>
      <p:sp>
        <p:nvSpPr>
          <p:cNvPr id="29" name="Text 27">
            <a:extLst xmlns:a="http://schemas.openxmlformats.org/drawingml/2006/main">
              <a:ext uri="{FF2B5EF4-FFF2-40B4-BE49-F238E27FC236}">
                <a16:creationId xmlns:a16="http://schemas.microsoft.com/office/drawing/2014/main" id="{E4B414E1-8865-4551-AF14-95A251081B60}"/>
              </a:ext>
            </a:extLst>
          </p:cNvPr>
          <p:cNvSpPr>
            <a:spLocks xmlns:a="http://schemas.openxmlformats.org/drawingml/2006/main" noGrp="1"/>
          </p:cNvSpPr>
          <p:nvPr/>
        </p:nvSpPr>
        <p:spPr>
          <a:xfrm xmlns:a="http://schemas.openxmlformats.org/drawingml/2006/main">
            <a:off x="5733288" y="3977640"/>
            <a:ext cx="365760" cy="10515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800" b="1">
                <a:solidFill>
                  <a:srgbClr val="CC842D"/>
                </a:solidFill>
                <a:latin typeface="Aptos"/>
                <a:ea typeface="Aptos"/>
                <a:cs typeface="Aptos"/>
              </a:rPr>
              <a:t>↔</a:t>
            </a:r>
            <a:endParaRPr sz="1800"/>
          </a:p>
        </p:txBody>
      </p:sp>
      <p:sp>
        <p:nvSpPr>
          <p:cNvPr id="30" name="Shape 28">
            <a:extLst xmlns:a="http://schemas.openxmlformats.org/drawingml/2006/main">
              <a:ext uri="{FF2B5EF4-FFF2-40B4-BE49-F238E27FC236}">
                <a16:creationId xmlns:a16="http://schemas.microsoft.com/office/drawing/2014/main" id="{6040AA41-7588-44B7-8A46-93BEDE46762D}"/>
              </a:ext>
            </a:extLst>
          </p:cNvPr>
          <p:cNvSpPr>
            <a:spLocks xmlns:a="http://schemas.openxmlformats.org/drawingml/2006/main" noGrp="1"/>
          </p:cNvSpPr>
          <p:nvPr/>
        </p:nvSpPr>
        <p:spPr>
          <a:xfrm xmlns:a="http://schemas.openxmlformats.org/drawingml/2006/main">
            <a:off x="6099048" y="3977640"/>
            <a:ext cx="5166360" cy="1051560"/>
          </a:xfrm>
          <a:prstGeom xmlns:a="http://schemas.openxmlformats.org/drawingml/2006/main" prst="roundRect">
            <a:avLst>
              <a:gd name="adj" fmla="val 7826"/>
            </a:avLst>
          </a:prstGeom>
          <a:solidFill xmlns:a="http://schemas.openxmlformats.org/drawingml/2006/main">
            <a:srgbClr val="FFFFFF"/>
          </a:solidFill>
          <a:ln xmlns:a="http://schemas.openxmlformats.org/drawingml/2006/main" w="12700">
            <a:solidFill>
              <a:srgbClr val="1B9E8C"/>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627A3181-646F-4AB2-AABC-BBA8B317F3B6}"/>
              </a:ext>
            </a:extLst>
          </p:cNvPr>
          <p:cNvSpPr>
            <a:spLocks xmlns:a="http://schemas.openxmlformats.org/drawingml/2006/main" noGrp="1"/>
          </p:cNvSpPr>
          <p:nvPr/>
        </p:nvSpPr>
        <p:spPr>
          <a:xfrm xmlns:a="http://schemas.openxmlformats.org/drawingml/2006/main">
            <a:off x="6355080" y="4311396"/>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1B9E8C"/>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6A5DB04E-686D-4098-B50B-FF3DABF3B9D5}"/>
              </a:ext>
            </a:extLst>
          </p:cNvPr>
          <p:cNvSpPr>
            <a:spLocks xmlns:a="http://schemas.openxmlformats.org/drawingml/2006/main" noGrp="1"/>
          </p:cNvSpPr>
          <p:nvPr/>
        </p:nvSpPr>
        <p:spPr>
          <a:xfrm xmlns:a="http://schemas.openxmlformats.org/drawingml/2006/main">
            <a:off x="6355080" y="4311396"/>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1B9E8C"/>
                </a:solidFill>
                <a:latin typeface="Aptos"/>
                <a:ea typeface="Aptos"/>
                <a:cs typeface="Aptos"/>
              </a:rPr>
              <a:t>2</a:t>
            </a:r>
            <a:endParaRPr sz="1200"/>
          </a:p>
        </p:txBody>
      </p:sp>
      <p:sp>
        <p:nvSpPr>
          <p:cNvPr id="33" name="Text 31">
            <a:extLst xmlns:a="http://schemas.openxmlformats.org/drawingml/2006/main">
              <a:ext uri="{FF2B5EF4-FFF2-40B4-BE49-F238E27FC236}">
                <a16:creationId xmlns:a16="http://schemas.microsoft.com/office/drawing/2014/main" id="{ED78888D-87BA-4B11-928A-F44133D6EDA3}"/>
              </a:ext>
            </a:extLst>
          </p:cNvPr>
          <p:cNvSpPr>
            <a:spLocks xmlns:a="http://schemas.openxmlformats.org/drawingml/2006/main" noGrp="1"/>
          </p:cNvSpPr>
          <p:nvPr/>
        </p:nvSpPr>
        <p:spPr>
          <a:xfrm xmlns:a="http://schemas.openxmlformats.org/drawingml/2006/main">
            <a:off x="6885432" y="4160520"/>
            <a:ext cx="3657600" cy="32918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50" b="1">
                <a:solidFill>
                  <a:srgbClr val="1A344D"/>
                </a:solidFill>
                <a:latin typeface="Aptos"/>
                <a:ea typeface="Aptos"/>
                <a:cs typeface="Aptos"/>
              </a:rPr>
              <a:t>Core view</a:t>
            </a:r>
            <a:endParaRPr sz="1450"/>
          </a:p>
        </p:txBody>
      </p:sp>
      <p:sp>
        <p:nvSpPr>
          <p:cNvPr id="34" name="Text 32">
            <a:extLst xmlns:a="http://schemas.openxmlformats.org/drawingml/2006/main">
              <a:ext uri="{FF2B5EF4-FFF2-40B4-BE49-F238E27FC236}">
                <a16:creationId xmlns:a16="http://schemas.microsoft.com/office/drawing/2014/main" id="{11A19AFA-4AD2-432D-9E0C-F0F856EBFF43}"/>
              </a:ext>
            </a:extLst>
          </p:cNvPr>
          <p:cNvSpPr>
            <a:spLocks xmlns:a="http://schemas.openxmlformats.org/drawingml/2006/main" noGrp="1"/>
          </p:cNvSpPr>
          <p:nvPr/>
        </p:nvSpPr>
        <p:spPr>
          <a:xfrm xmlns:a="http://schemas.openxmlformats.org/drawingml/2006/main">
            <a:off x="6885432" y="4526280"/>
            <a:ext cx="4297680" cy="32918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5C6978"/>
                </a:solidFill>
                <a:latin typeface="Aptos"/>
                <a:ea typeface="Aptos"/>
                <a:cs typeface="Aptos"/>
              </a:rPr>
              <a:t>“PDU session active + QoS policy”</a:t>
            </a:r>
            <a:endParaRPr sz="1200"/>
          </a:p>
        </p:txBody>
      </p:sp>
      <p:sp>
        <p:nvSpPr>
          <p:cNvPr id="35" name="Shape 33">
            <a:extLst xmlns:a="http://schemas.openxmlformats.org/drawingml/2006/main">
              <a:ext uri="{FF2B5EF4-FFF2-40B4-BE49-F238E27FC236}">
                <a16:creationId xmlns:a16="http://schemas.microsoft.com/office/drawing/2014/main" id="{CC379CC4-7E17-4D16-8A05-A73712DCED1A}"/>
              </a:ext>
            </a:extLst>
          </p:cNvPr>
          <p:cNvSpPr>
            <a:spLocks xmlns:a="http://schemas.openxmlformats.org/drawingml/2006/main" noGrp="1"/>
          </p:cNvSpPr>
          <p:nvPr/>
        </p:nvSpPr>
        <p:spPr>
          <a:xfrm xmlns:a="http://schemas.openxmlformats.org/drawingml/2006/main">
            <a:off x="566928" y="5303520"/>
            <a:ext cx="10652760" cy="640080"/>
          </a:xfrm>
          <a:prstGeom xmlns:a="http://schemas.openxmlformats.org/drawingml/2006/main" prst="roundRect">
            <a:avLst>
              <a:gd name="adj" fmla="val 12857"/>
            </a:avLst>
          </a:prstGeom>
          <a:solidFill xmlns:a="http://schemas.openxmlformats.org/drawingml/2006/main">
            <a:srgbClr val="F6F8FB"/>
          </a:solidFill>
          <a:ln xmlns:a="http://schemas.openxmlformats.org/drawingml/2006/main" w="12700">
            <a:solidFill>
              <a:srgbClr val="E4E9F0"/>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3C1CD426-A65B-4A9E-AA6F-90C75ACBF409}"/>
              </a:ext>
            </a:extLst>
          </p:cNvPr>
          <p:cNvSpPr>
            <a:spLocks xmlns:a="http://schemas.openxmlformats.org/drawingml/2006/main" noGrp="1"/>
          </p:cNvSpPr>
          <p:nvPr/>
        </p:nvSpPr>
        <p:spPr>
          <a:xfrm xmlns:a="http://schemas.openxmlformats.org/drawingml/2006/main">
            <a:off x="566928" y="5303520"/>
            <a:ext cx="1065276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i="1">
                <a:solidFill>
                  <a:srgbClr val="5C6978"/>
                </a:solidFill>
                <a:latin typeface="Aptos"/>
                <a:ea typeface="Aptos"/>
                <a:cs typeface="Aptos"/>
              </a:rPr>
              <a:t>Both views describe the same UE — the network can keep running even when they quietly disagree.</a:t>
            </a:r>
            <a:endParaRPr sz="1150"/>
          </a:p>
        </p:txBody>
      </p:sp>
      <p:sp>
        <p:nvSpPr>
          <p:cNvPr id="37" name="Text 35">
            <a:extLst xmlns:a="http://schemas.openxmlformats.org/drawingml/2006/main">
              <a:ext uri="{FF2B5EF4-FFF2-40B4-BE49-F238E27FC236}">
                <a16:creationId xmlns:a16="http://schemas.microsoft.com/office/drawing/2014/main" id="{8925356A-32A1-4822-ACCC-F007E6AC9B44}"/>
              </a:ext>
            </a:extLst>
          </p:cNvPr>
          <p:cNvSpPr>
            <a:spLocks xmlns:a="http://schemas.openxmlformats.org/drawingml/2006/main" noGrp="1"/>
          </p:cNvSpPr>
          <p:nvPr/>
        </p:nvSpPr>
        <p:spPr>
          <a:xfrm xmlns:a="http://schemas.openxmlformats.org/drawingml/2006/main">
            <a:off x="566928" y="6510528"/>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00">
                <a:solidFill>
                  <a:srgbClr val="8A94A0"/>
                </a:solidFill>
                <a:latin typeface="Aptos"/>
                <a:ea typeface="Aptos"/>
                <a:cs typeface="Aptos"/>
              </a:rPr>
              <a:t>Final Project</a:t>
            </a:r>
            <a:r>
              <a:rPr sz="800">
                <a:solidFill>
                  <a:srgbClr val="8A94A0"/>
                </a:solidFill>
                <a:latin typeface="Aptos"/>
                <a:ea typeface="Aptos"/>
                <a:cs typeface="Aptos"/>
              </a:rPr>
              <a:t>  •  5G UE Context Desynchronization Detection and Recovery</a:t>
            </a:r>
            <a:endParaRPr sz="800"/>
          </a:p>
        </p:txBody>
      </p:sp>
      <p:sp>
        <p:nvSpPr>
          <p:cNvPr id="38" name="Text 36">
            <a:extLst xmlns:a="http://schemas.openxmlformats.org/drawingml/2006/main">
              <a:ext uri="{FF2B5EF4-FFF2-40B4-BE49-F238E27FC236}">
                <a16:creationId xmlns:a16="http://schemas.microsoft.com/office/drawing/2014/main" id="{DE753426-DC26-4955-B76E-B753ABB8DB7D}"/>
              </a:ext>
            </a:extLst>
          </p:cNvPr>
          <p:cNvSpPr>
            <a:spLocks xmlns:a="http://schemas.openxmlformats.org/drawingml/2006/main" noGrp="1"/>
          </p:cNvSpPr>
          <p:nvPr/>
        </p:nvSpPr>
        <p:spPr>
          <a:xfrm xmlns:a="http://schemas.openxmlformats.org/drawingml/2006/main">
            <a:off x="11164824" y="6510528"/>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b="1">
                <a:solidFill>
                  <a:srgbClr val="8A94A0"/>
                </a:solidFill>
                <a:latin typeface="Aptos"/>
                <a:ea typeface="Aptos"/>
                <a:cs typeface="Aptos"/>
              </a:rPr>
              <a:t>02</a:t>
            </a:r>
            <a:endParaRPr sz="900"/>
          </a:p>
        </p:txBody>
      </p:sp>
    </p:spTree>
    <p:extLst>
      <p:ext uri="{BB962C8B-B14F-4D97-AF65-F5344CB8AC3E}">
        <p14:creationId xmlns:p14="http://schemas.microsoft.com/office/powerpoint/2010/main" val="13745846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4F76FB8-5076-4250-993B-404B72C5BF18}"/>
              </a:ext>
            </a:extLst>
          </p:cNvPr>
          <p:cNvSpPr>
            <a:spLocks xmlns:a="http://schemas.openxmlformats.org/drawingml/2006/main" noGrp="1"/>
          </p:cNvSpPr>
          <p:nvPr/>
        </p:nvSpPr>
        <p:spPr>
          <a:xfrm xmlns:a="http://schemas.openxmlformats.org/drawingml/2006/main">
            <a:off x="566928"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2F6FED"/>
                </a:solidFill>
                <a:latin typeface="Aptos"/>
                <a:ea typeface="Aptos"/>
                <a:cs typeface="Aptos"/>
              </a:rPr>
              <a:t>02 · EXISTING WORK</a:t>
            </a:r>
            <a:endParaRPr sz="1100"/>
          </a:p>
        </p:txBody>
      </p:sp>
      <p:sp>
        <p:nvSpPr>
          <p:cNvPr id="3" name="Text 1">
            <a:extLst xmlns:a="http://schemas.openxmlformats.org/drawingml/2006/main">
              <a:ext uri="{FF2B5EF4-FFF2-40B4-BE49-F238E27FC236}">
                <a16:creationId xmlns:a16="http://schemas.microsoft.com/office/drawing/2014/main" id="{889E3109-0DFE-463C-AE6E-6D567038A38D}"/>
              </a:ext>
            </a:extLst>
          </p:cNvPr>
          <p:cNvSpPr>
            <a:spLocks xmlns:a="http://schemas.openxmlformats.org/drawingml/2006/main" noGrp="1"/>
          </p:cNvSpPr>
          <p:nvPr/>
        </p:nvSpPr>
        <p:spPr>
          <a:xfrm xmlns:a="http://schemas.openxmlformats.org/drawingml/2006/main">
            <a:off x="566928" y="676656"/>
            <a:ext cx="10789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344D"/>
                </a:solidFill>
                <a:latin typeface="Aptos"/>
                <a:ea typeface="Aptos"/>
                <a:cs typeface="Aptos"/>
              </a:rPr>
              <a:t>What existing work provides</a:t>
            </a:r>
            <a:endParaRPr sz="3000"/>
          </a:p>
        </p:txBody>
      </p:sp>
      <p:sp>
        <p:nvSpPr>
          <p:cNvPr id="4" name="Text 2">
            <a:extLst xmlns:a="http://schemas.openxmlformats.org/drawingml/2006/main">
              <a:ext uri="{FF2B5EF4-FFF2-40B4-BE49-F238E27FC236}">
                <a16:creationId xmlns:a16="http://schemas.microsoft.com/office/drawing/2014/main" id="{D4C25ABC-8858-456A-B543-EB188802BE0B}"/>
              </a:ext>
            </a:extLst>
          </p:cNvPr>
          <p:cNvSpPr>
            <a:spLocks xmlns:a="http://schemas.openxmlformats.org/drawingml/2006/main" noGrp="1"/>
          </p:cNvSpPr>
          <p:nvPr/>
        </p:nvSpPr>
        <p:spPr>
          <a:xfrm xmlns:a="http://schemas.openxmlformats.org/drawingml/2006/main">
            <a:off x="566928" y="1225296"/>
            <a:ext cx="106070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5C6978"/>
                </a:solidFill>
                <a:latin typeface="Aptos"/>
                <a:ea typeface="Aptos"/>
                <a:cs typeface="Aptos"/>
              </a:rPr>
              <a:t>ICTC 2025 shows the value of AI-based anomaly detection on 5G Core KPI time series.</a:t>
            </a:r>
            <a:endParaRPr sz="1300"/>
          </a:p>
        </p:txBody>
      </p:sp>
      <p:sp>
        <p:nvSpPr>
          <p:cNvPr id="5" name="Shape 3">
            <a:extLst xmlns:a="http://schemas.openxmlformats.org/drawingml/2006/main">
              <a:ext uri="{FF2B5EF4-FFF2-40B4-BE49-F238E27FC236}">
                <a16:creationId xmlns:a16="http://schemas.microsoft.com/office/drawing/2014/main" id="{20C20490-E380-4381-BD99-EB201ADCCBA7}"/>
              </a:ext>
            </a:extLst>
          </p:cNvPr>
          <p:cNvSpPr>
            <a:spLocks xmlns:a="http://schemas.openxmlformats.org/drawingml/2006/main" noGrp="1"/>
          </p:cNvSpPr>
          <p:nvPr/>
        </p:nvSpPr>
        <p:spPr>
          <a:xfrm xmlns:a="http://schemas.openxmlformats.org/drawingml/2006/main">
            <a:off x="566928" y="1828800"/>
            <a:ext cx="6583680" cy="4023360"/>
          </a:xfrm>
          <a:prstGeom xmlns:a="http://schemas.openxmlformats.org/drawingml/2006/main" prst="roundRect">
            <a:avLst>
              <a:gd name="adj" fmla="val 2045"/>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0FC85933-3832-4ECE-8099-2D89B7AA3C49}"/>
              </a:ext>
            </a:extLst>
          </p:cNvPr>
          <p:cNvSpPr>
            <a:spLocks xmlns:a="http://schemas.openxmlformats.org/drawingml/2006/main" noGrp="1"/>
          </p:cNvSpPr>
          <p:nvPr/>
        </p:nvSpPr>
        <p:spPr>
          <a:xfrm xmlns:a="http://schemas.openxmlformats.org/drawingml/2006/main">
            <a:off x="841248" y="2084832"/>
            <a:ext cx="420624" cy="420624"/>
          </a:xfrm>
          <a:prstGeom xmlns:a="http://schemas.openxmlformats.org/drawingml/2006/main" prst="ellipse">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29147018-3C8C-4BE1-AFF3-F4F680B0FF5A}"/>
              </a:ext>
            </a:extLst>
          </p:cNvPr>
          <p:cNvSpPr>
            <a:spLocks xmlns:a="http://schemas.openxmlformats.org/drawingml/2006/main" noGrp="1"/>
          </p:cNvSpPr>
          <p:nvPr/>
        </p:nvSpPr>
        <p:spPr>
          <a:xfrm xmlns:a="http://schemas.openxmlformats.org/drawingml/2006/main">
            <a:off x="841248" y="2084832"/>
            <a:ext cx="420624" cy="42062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2F6FED"/>
                </a:solidFill>
                <a:latin typeface="Aptos"/>
                <a:ea typeface="Aptos"/>
                <a:cs typeface="Aptos"/>
              </a:rPr>
              <a:t>B</a:t>
            </a:r>
            <a:endParaRPr sz="1200"/>
          </a:p>
        </p:txBody>
      </p:sp>
      <p:sp>
        <p:nvSpPr>
          <p:cNvPr id="8" name="Text 6">
            <a:extLst xmlns:a="http://schemas.openxmlformats.org/drawingml/2006/main">
              <a:ext uri="{FF2B5EF4-FFF2-40B4-BE49-F238E27FC236}">
                <a16:creationId xmlns:a16="http://schemas.microsoft.com/office/drawing/2014/main" id="{67E5BD87-EC19-445C-BD2D-9ED8840F222B}"/>
              </a:ext>
            </a:extLst>
          </p:cNvPr>
          <p:cNvSpPr>
            <a:spLocks xmlns:a="http://schemas.openxmlformats.org/drawingml/2006/main" noGrp="1"/>
          </p:cNvSpPr>
          <p:nvPr/>
        </p:nvSpPr>
        <p:spPr>
          <a:xfrm xmlns:a="http://schemas.openxmlformats.org/drawingml/2006/main">
            <a:off x="1481328" y="2029968"/>
            <a:ext cx="53035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A344D"/>
                </a:solidFill>
                <a:latin typeface="Aptos"/>
                <a:ea typeface="Aptos"/>
                <a:cs typeface="Aptos"/>
              </a:rPr>
              <a:t>ICTC 2025 base paper</a:t>
            </a:r>
            <a:endParaRPr sz="1500"/>
          </a:p>
        </p:txBody>
      </p:sp>
      <p:sp>
        <p:nvSpPr>
          <p:cNvPr id="9" name="Text 7">
            <a:extLst xmlns:a="http://schemas.openxmlformats.org/drawingml/2006/main">
              <a:ext uri="{FF2B5EF4-FFF2-40B4-BE49-F238E27FC236}">
                <a16:creationId xmlns:a16="http://schemas.microsoft.com/office/drawing/2014/main" id="{18367C40-6064-4597-B808-A354D15CCE3E}"/>
              </a:ext>
            </a:extLst>
          </p:cNvPr>
          <p:cNvSpPr>
            <a:spLocks xmlns:a="http://schemas.openxmlformats.org/drawingml/2006/main" noGrp="1"/>
          </p:cNvSpPr>
          <p:nvPr/>
        </p:nvSpPr>
        <p:spPr>
          <a:xfrm xmlns:a="http://schemas.openxmlformats.org/drawingml/2006/main">
            <a:off x="1481328" y="2322576"/>
            <a:ext cx="5440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C6978"/>
                </a:solidFill>
                <a:latin typeface="Aptos"/>
                <a:ea typeface="Aptos"/>
                <a:cs typeface="Aptos"/>
              </a:rPr>
              <a:t>Cho et al., KT Corporation — AI-based large-scale time-series anomaly detection in 5G Core networks</a:t>
            </a:r>
            <a:endParaRPr sz="1000"/>
          </a:p>
        </p:txBody>
      </p:sp>
      <p:sp>
        <p:nvSpPr>
          <p:cNvPr id="10" name="Text 8">
            <a:extLst xmlns:a="http://schemas.openxmlformats.org/drawingml/2006/main">
              <a:ext uri="{FF2B5EF4-FFF2-40B4-BE49-F238E27FC236}">
                <a16:creationId xmlns:a16="http://schemas.microsoft.com/office/drawing/2014/main" id="{BBB93020-9F39-422A-BE20-7139CF5BC69A}"/>
              </a:ext>
            </a:extLst>
          </p:cNvPr>
          <p:cNvSpPr>
            <a:spLocks xmlns:a="http://schemas.openxmlformats.org/drawingml/2006/main" noGrp="1"/>
          </p:cNvSpPr>
          <p:nvPr/>
        </p:nvSpPr>
        <p:spPr>
          <a:xfrm xmlns:a="http://schemas.openxmlformats.org/drawingml/2006/main">
            <a:off x="841248" y="2926080"/>
            <a:ext cx="6080760" cy="27889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342900" indent="-342900">
              <a:spcAft>
                <a:spcPts val="800"/>
              </a:spcAft>
              <a:buSzPct val="100000"/>
              <a:buChar char="•"/>
            </a:pPr>
            <a:r>
              <a:rPr sz="1200">
                <a:solidFill>
                  <a:srgbClr val="1A344D"/>
                </a:solidFill>
                <a:latin typeface="Aptos"/>
                <a:ea typeface="Aptos"/>
                <a:cs typeface="Aptos"/>
              </a:rPr>
              <a:t>Monitors time-series KPIs from Core network functions</a:t>
            </a:r>
            <a:endParaRPr sz="1200"/>
          </a:p>
          <a:p xmlns:a="http://schemas.openxmlformats.org/drawingml/2006/main">
            <a:pPr marL="342900" indent="-342900">
              <a:spcAft>
                <a:spcPts val="800"/>
              </a:spcAft>
              <a:buSzPct val="100000"/>
              <a:buChar char="•"/>
            </a:pPr>
            <a:r>
              <a:rPr sz="1200">
                <a:solidFill>
                  <a:srgbClr val="1A344D"/>
                </a:solidFill>
                <a:latin typeface="Aptos"/>
                <a:ea typeface="Aptos"/>
                <a:cs typeface="Aptos"/>
              </a:rPr>
              <a:t>Uses an Anomaly Transformer backbone</a:t>
            </a:r>
          </a:p>
          <a:p xmlns:a="http://schemas.openxmlformats.org/drawingml/2006/main">
            <a:pPr marL="342900" indent="-342900">
              <a:spcAft>
                <a:spcPts val="800"/>
              </a:spcAft>
              <a:buSzPct val="100000"/>
              <a:buChar char="•"/>
            </a:pPr>
            <a:r>
              <a:rPr sz="1200">
                <a:solidFill>
                  <a:srgbClr val="1A344D"/>
                </a:solidFill>
                <a:latin typeface="Aptos"/>
                <a:ea typeface="Aptos"/>
                <a:cs typeface="Aptos"/>
              </a:rPr>
              <a:t>Point-Level Anomaly Amplification improves early sensitivity</a:t>
            </a:r>
          </a:p>
          <a:p xmlns:a="http://schemas.openxmlformats.org/drawingml/2006/main">
            <a:pPr marL="342900" indent="-342900">
              <a:spcAft>
                <a:spcPts val="800"/>
              </a:spcAft>
              <a:buSzPct val="100000"/>
              <a:buChar char="•"/>
            </a:pPr>
            <a:r>
              <a:rPr sz="1200">
                <a:solidFill>
                  <a:srgbClr val="1A344D"/>
                </a:solidFill>
                <a:latin typeface="Aptos"/>
                <a:ea typeface="Aptos"/>
                <a:cs typeface="Aptos"/>
              </a:rPr>
              <a:t>Distribution-Aware Auto-Thresholding adapts score thresholds</a:t>
            </a:r>
          </a:p>
          <a:p xmlns:a="http://schemas.openxmlformats.org/drawingml/2006/main">
            <a:pPr marL="342900" indent="-342900">
              <a:spcAft>
                <a:spcPts val="800"/>
              </a:spcAft>
              <a:buSzPct val="100000"/>
              <a:buChar char="•"/>
            </a:pPr>
            <a:r>
              <a:rPr sz="1200">
                <a:solidFill>
                  <a:srgbClr val="1A344D"/>
                </a:solidFill>
                <a:latin typeface="Aptos"/>
                <a:ea typeface="Aptos"/>
                <a:cs typeface="Aptos"/>
              </a:rPr>
              <a:t>Our comparison concerns scope; we do not reproduce its ML model</a:t>
            </a:r>
          </a:p>
        </p:txBody>
      </p:sp>
      <p:sp>
        <p:nvSpPr>
          <p:cNvPr id="11" name="Shape 9">
            <a:extLst xmlns:a="http://schemas.openxmlformats.org/drawingml/2006/main">
              <a:ext uri="{FF2B5EF4-FFF2-40B4-BE49-F238E27FC236}">
                <a16:creationId xmlns:a16="http://schemas.microsoft.com/office/drawing/2014/main" id="{CD3CD1BC-09F7-4EFF-BC29-20F686A3D559}"/>
              </a:ext>
            </a:extLst>
          </p:cNvPr>
          <p:cNvSpPr>
            <a:spLocks xmlns:a="http://schemas.openxmlformats.org/drawingml/2006/main" noGrp="1"/>
          </p:cNvSpPr>
          <p:nvPr/>
        </p:nvSpPr>
        <p:spPr>
          <a:xfrm xmlns:a="http://schemas.openxmlformats.org/drawingml/2006/main">
            <a:off x="7424928" y="1828800"/>
            <a:ext cx="4206240" cy="192024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7E95CEC4-503C-4F2C-A120-098C7EE20A75}"/>
              </a:ext>
            </a:extLst>
          </p:cNvPr>
          <p:cNvSpPr>
            <a:spLocks xmlns:a="http://schemas.openxmlformats.org/drawingml/2006/main" noGrp="1"/>
          </p:cNvSpPr>
          <p:nvPr/>
        </p:nvSpPr>
        <p:spPr>
          <a:xfrm xmlns:a="http://schemas.openxmlformats.org/drawingml/2006/main">
            <a:off x="7662672" y="2066544"/>
            <a:ext cx="402336" cy="402336"/>
          </a:xfrm>
          <a:prstGeom xmlns:a="http://schemas.openxmlformats.org/drawingml/2006/main" prst="ellipse">
            <a:avLst/>
          </a:prstGeom>
          <a:solidFill xmlns:a="http://schemas.openxmlformats.org/drawingml/2006/main">
            <a:srgbClr val="FFFFFF"/>
          </a:solidFill>
          <a:ln xmlns:a="http://schemas.openxmlformats.org/drawingml/2006/main" w="19050">
            <a:solidFill>
              <a:srgbClr val="1B9E8C"/>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52FD0C65-CB55-4AA0-A3CC-DFAB526687E4}"/>
              </a:ext>
            </a:extLst>
          </p:cNvPr>
          <p:cNvSpPr>
            <a:spLocks xmlns:a="http://schemas.openxmlformats.org/drawingml/2006/main" noGrp="1"/>
          </p:cNvSpPr>
          <p:nvPr/>
        </p:nvSpPr>
        <p:spPr>
          <a:xfrm xmlns:a="http://schemas.openxmlformats.org/drawingml/2006/main">
            <a:off x="7662672" y="2066544"/>
            <a:ext cx="402336" cy="402336"/>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1B9E8C"/>
                </a:solidFill>
                <a:latin typeface="Aptos"/>
                <a:ea typeface="Aptos"/>
                <a:cs typeface="Aptos"/>
              </a:rPr>
              <a:t>S</a:t>
            </a:r>
            <a:endParaRPr sz="1200"/>
          </a:p>
        </p:txBody>
      </p:sp>
      <p:sp>
        <p:nvSpPr>
          <p:cNvPr id="14" name="Text 12">
            <a:extLst xmlns:a="http://schemas.openxmlformats.org/drawingml/2006/main">
              <a:ext uri="{FF2B5EF4-FFF2-40B4-BE49-F238E27FC236}">
                <a16:creationId xmlns:a16="http://schemas.microsoft.com/office/drawing/2014/main" id="{E96D1A42-056C-4AEF-B37B-2BE6E5A843CE}"/>
              </a:ext>
            </a:extLst>
          </p:cNvPr>
          <p:cNvSpPr>
            <a:spLocks xmlns:a="http://schemas.openxmlformats.org/drawingml/2006/main" noGrp="1"/>
          </p:cNvSpPr>
          <p:nvPr/>
        </p:nvSpPr>
        <p:spPr>
          <a:xfrm xmlns:a="http://schemas.openxmlformats.org/drawingml/2006/main">
            <a:off x="8229600" y="2084832"/>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A344D"/>
                </a:solidFill>
                <a:latin typeface="Aptos"/>
                <a:ea typeface="Aptos"/>
                <a:cs typeface="Aptos"/>
              </a:rPr>
              <a:t>3GPP standards</a:t>
            </a:r>
            <a:endParaRPr sz="1400"/>
          </a:p>
        </p:txBody>
      </p:sp>
      <p:sp>
        <p:nvSpPr>
          <p:cNvPr id="15" name="Text 13">
            <a:extLst xmlns:a="http://schemas.openxmlformats.org/drawingml/2006/main">
              <a:ext uri="{FF2B5EF4-FFF2-40B4-BE49-F238E27FC236}">
                <a16:creationId xmlns:a16="http://schemas.microsoft.com/office/drawing/2014/main" id="{E2147B74-C22C-481A-A06F-DB6E1196A1AD}"/>
              </a:ext>
            </a:extLst>
          </p:cNvPr>
          <p:cNvSpPr>
            <a:spLocks xmlns:a="http://schemas.openxmlformats.org/drawingml/2006/main" noGrp="1"/>
          </p:cNvSpPr>
          <p:nvPr/>
        </p:nvSpPr>
        <p:spPr>
          <a:xfrm xmlns:a="http://schemas.openxmlformats.org/drawingml/2006/main">
            <a:off x="7662672" y="2697480"/>
            <a:ext cx="37307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C6978"/>
                </a:solidFill>
                <a:latin typeface="Aptos"/>
                <a:ea typeface="Aptos"/>
                <a:cs typeface="Aptos"/>
              </a:rPr>
              <a:t>TS 23.502 and TS 38.413 describe session and resource procedures. Our model abstracts them.</a:t>
            </a:r>
            <a:endParaRPr sz="1100"/>
          </a:p>
        </p:txBody>
      </p:sp>
      <p:sp>
        <p:nvSpPr>
          <p:cNvPr id="16" name="Shape 14">
            <a:extLst xmlns:a="http://schemas.openxmlformats.org/drawingml/2006/main">
              <a:ext uri="{FF2B5EF4-FFF2-40B4-BE49-F238E27FC236}">
                <a16:creationId xmlns:a16="http://schemas.microsoft.com/office/drawing/2014/main" id="{0C157564-6DA4-4C0B-AF29-1F2854416879}"/>
              </a:ext>
            </a:extLst>
          </p:cNvPr>
          <p:cNvSpPr>
            <a:spLocks xmlns:a="http://schemas.openxmlformats.org/drawingml/2006/main" noGrp="1"/>
          </p:cNvSpPr>
          <p:nvPr/>
        </p:nvSpPr>
        <p:spPr>
          <a:xfrm xmlns:a="http://schemas.openxmlformats.org/drawingml/2006/main">
            <a:off x="7424928" y="3931920"/>
            <a:ext cx="4206240" cy="192024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5">
            <a:extLst xmlns:a="http://schemas.openxmlformats.org/drawingml/2006/main">
              <a:ext uri="{FF2B5EF4-FFF2-40B4-BE49-F238E27FC236}">
                <a16:creationId xmlns:a16="http://schemas.microsoft.com/office/drawing/2014/main" id="{C73C96DF-D841-44A5-AEA1-D208A71C5A4D}"/>
              </a:ext>
            </a:extLst>
          </p:cNvPr>
          <p:cNvSpPr>
            <a:spLocks xmlns:a="http://schemas.openxmlformats.org/drawingml/2006/main" noGrp="1"/>
          </p:cNvSpPr>
          <p:nvPr/>
        </p:nvSpPr>
        <p:spPr>
          <a:xfrm xmlns:a="http://schemas.openxmlformats.org/drawingml/2006/main">
            <a:off x="7662672" y="4169664"/>
            <a:ext cx="402336" cy="402336"/>
          </a:xfrm>
          <a:prstGeom xmlns:a="http://schemas.openxmlformats.org/drawingml/2006/main" prst="ellipse">
            <a:avLst/>
          </a:prstGeom>
          <a:solidFill xmlns:a="http://schemas.openxmlformats.org/drawingml/2006/main">
            <a:srgbClr val="FFFFFF"/>
          </a:solidFill>
          <a:ln xmlns:a="http://schemas.openxmlformats.org/drawingml/2006/main" w="19050">
            <a:solidFill>
              <a:srgbClr val="CC842D"/>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0047B2B7-E1A1-4116-A16A-D90D4BD74C34}"/>
              </a:ext>
            </a:extLst>
          </p:cNvPr>
          <p:cNvSpPr>
            <a:spLocks xmlns:a="http://schemas.openxmlformats.org/drawingml/2006/main" noGrp="1"/>
          </p:cNvSpPr>
          <p:nvPr/>
        </p:nvSpPr>
        <p:spPr>
          <a:xfrm xmlns:a="http://schemas.openxmlformats.org/drawingml/2006/main">
            <a:off x="7662672" y="4169664"/>
            <a:ext cx="402336" cy="402336"/>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CC842D"/>
                </a:solidFill>
                <a:latin typeface="Aptos"/>
                <a:ea typeface="Aptos"/>
                <a:cs typeface="Aptos"/>
              </a:rPr>
              <a:t>N</a:t>
            </a:r>
            <a:endParaRPr sz="1200"/>
          </a:p>
        </p:txBody>
      </p:sp>
      <p:sp>
        <p:nvSpPr>
          <p:cNvPr id="19" name="Text 17">
            <a:extLst xmlns:a="http://schemas.openxmlformats.org/drawingml/2006/main">
              <a:ext uri="{FF2B5EF4-FFF2-40B4-BE49-F238E27FC236}">
                <a16:creationId xmlns:a16="http://schemas.microsoft.com/office/drawing/2014/main" id="{86CF0B36-A4AA-4D71-9243-8A1F93D0D8F5}"/>
              </a:ext>
            </a:extLst>
          </p:cNvPr>
          <p:cNvSpPr>
            <a:spLocks xmlns:a="http://schemas.openxmlformats.org/drawingml/2006/main" noGrp="1"/>
          </p:cNvSpPr>
          <p:nvPr/>
        </p:nvSpPr>
        <p:spPr>
          <a:xfrm xmlns:a="http://schemas.openxmlformats.org/drawingml/2006/main">
            <a:off x="8229600" y="4187952"/>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A344D"/>
                </a:solidFill>
                <a:latin typeface="Aptos"/>
                <a:ea typeface="Aptos"/>
                <a:cs typeface="Aptos"/>
              </a:rPr>
              <a:t>Simulation</a:t>
            </a:r>
            <a:endParaRPr sz="1400"/>
          </a:p>
        </p:txBody>
      </p:sp>
      <p:sp>
        <p:nvSpPr>
          <p:cNvPr id="20" name="Text 18">
            <a:extLst xmlns:a="http://schemas.openxmlformats.org/drawingml/2006/main">
              <a:ext uri="{FF2B5EF4-FFF2-40B4-BE49-F238E27FC236}">
                <a16:creationId xmlns:a16="http://schemas.microsoft.com/office/drawing/2014/main" id="{DD8F8B84-421F-47DE-BF00-DBEE393A755F}"/>
              </a:ext>
            </a:extLst>
          </p:cNvPr>
          <p:cNvSpPr>
            <a:spLocks xmlns:a="http://schemas.openxmlformats.org/drawingml/2006/main" noGrp="1"/>
          </p:cNvSpPr>
          <p:nvPr/>
        </p:nvSpPr>
        <p:spPr>
          <a:xfrm xmlns:a="http://schemas.openxmlformats.org/drawingml/2006/main">
            <a:off x="7662672" y="4800600"/>
            <a:ext cx="37307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C6978"/>
                </a:solidFill>
                <a:latin typeface="Aptos"/>
                <a:ea typeface="Aptos"/>
                <a:cs typeface="Aptos"/>
              </a:rPr>
              <a:t>Python / SimPy provides controlled, repeatable virtual-time experiments.</a:t>
            </a:r>
            <a:endParaRPr sz="1100"/>
          </a:p>
        </p:txBody>
      </p:sp>
      <p:sp>
        <p:nvSpPr>
          <p:cNvPr id="21" name="Text 19">
            <a:extLst xmlns:a="http://schemas.openxmlformats.org/drawingml/2006/main">
              <a:ext uri="{FF2B5EF4-FFF2-40B4-BE49-F238E27FC236}">
                <a16:creationId xmlns:a16="http://schemas.microsoft.com/office/drawing/2014/main" id="{80114337-0A80-4760-ADAA-74856F736CB3}"/>
              </a:ext>
            </a:extLst>
          </p:cNvPr>
          <p:cNvSpPr>
            <a:spLocks xmlns:a="http://schemas.openxmlformats.org/drawingml/2006/main" noGrp="1"/>
          </p:cNvSpPr>
          <p:nvPr/>
        </p:nvSpPr>
        <p:spPr>
          <a:xfrm xmlns:a="http://schemas.openxmlformats.org/drawingml/2006/main">
            <a:off x="566928" y="6510528"/>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00">
                <a:solidFill>
                  <a:srgbClr val="8A94A0"/>
                </a:solidFill>
                <a:latin typeface="Aptos"/>
                <a:ea typeface="Aptos"/>
                <a:cs typeface="Aptos"/>
              </a:rPr>
              <a:t>Final Project</a:t>
            </a:r>
            <a:r>
              <a:rPr sz="800">
                <a:solidFill>
                  <a:srgbClr val="8A94A0"/>
                </a:solidFill>
                <a:latin typeface="Aptos"/>
                <a:ea typeface="Aptos"/>
                <a:cs typeface="Aptos"/>
              </a:rPr>
              <a:t>  •  5G UE Context Desynchronization Detection and Recovery</a:t>
            </a:r>
            <a:endParaRPr sz="800"/>
          </a:p>
        </p:txBody>
      </p:sp>
      <p:sp>
        <p:nvSpPr>
          <p:cNvPr id="22" name="Text 20">
            <a:extLst xmlns:a="http://schemas.openxmlformats.org/drawingml/2006/main">
              <a:ext uri="{FF2B5EF4-FFF2-40B4-BE49-F238E27FC236}">
                <a16:creationId xmlns:a16="http://schemas.microsoft.com/office/drawing/2014/main" id="{A0742998-5A48-4168-B582-D171C25D9516}"/>
              </a:ext>
            </a:extLst>
          </p:cNvPr>
          <p:cNvSpPr>
            <a:spLocks xmlns:a="http://schemas.openxmlformats.org/drawingml/2006/main" noGrp="1"/>
          </p:cNvSpPr>
          <p:nvPr/>
        </p:nvSpPr>
        <p:spPr>
          <a:xfrm xmlns:a="http://schemas.openxmlformats.org/drawingml/2006/main">
            <a:off x="11164824" y="6510528"/>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b="1">
                <a:solidFill>
                  <a:srgbClr val="8A94A0"/>
                </a:solidFill>
                <a:latin typeface="Aptos"/>
                <a:ea typeface="Aptos"/>
                <a:cs typeface="Aptos"/>
              </a:rPr>
              <a:t>03</a:t>
            </a:r>
            <a:endParaRPr sz="900"/>
          </a:p>
        </p:txBody>
      </p:sp>
    </p:spTree>
    <p:extLst>
      <p:ext uri="{BB962C8B-B14F-4D97-AF65-F5344CB8AC3E}">
        <p14:creationId xmlns:p14="http://schemas.microsoft.com/office/powerpoint/2010/main" val="186518715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19E8073-4ABF-40C4-BD03-8040796F420B}"/>
              </a:ext>
            </a:extLst>
          </p:cNvPr>
          <p:cNvSpPr>
            <a:spLocks xmlns:a="http://schemas.openxmlformats.org/drawingml/2006/main" noGrp="1"/>
          </p:cNvSpPr>
          <p:nvPr/>
        </p:nvSpPr>
        <p:spPr>
          <a:xfrm xmlns:a="http://schemas.openxmlformats.org/drawingml/2006/main">
            <a:off x="566928"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2F6FED"/>
                </a:solidFill>
                <a:latin typeface="Aptos"/>
                <a:ea typeface="Aptos"/>
                <a:cs typeface="Aptos"/>
              </a:rPr>
              <a:t>03 · LITERATURE GAP</a:t>
            </a:r>
            <a:endParaRPr sz="1100"/>
          </a:p>
        </p:txBody>
      </p:sp>
      <p:sp>
        <p:nvSpPr>
          <p:cNvPr id="3" name="Text 1">
            <a:extLst xmlns:a="http://schemas.openxmlformats.org/drawingml/2006/main">
              <a:ext uri="{FF2B5EF4-FFF2-40B4-BE49-F238E27FC236}">
                <a16:creationId xmlns:a16="http://schemas.microsoft.com/office/drawing/2014/main" id="{874E5099-2615-47C6-83FD-8EF9B4BE900C}"/>
              </a:ext>
            </a:extLst>
          </p:cNvPr>
          <p:cNvSpPr>
            <a:spLocks xmlns:a="http://schemas.openxmlformats.org/drawingml/2006/main" noGrp="1"/>
          </p:cNvSpPr>
          <p:nvPr/>
        </p:nvSpPr>
        <p:spPr>
          <a:xfrm xmlns:a="http://schemas.openxmlformats.org/drawingml/2006/main">
            <a:off x="566928" y="676656"/>
            <a:ext cx="10789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344D"/>
                </a:solidFill>
                <a:latin typeface="Aptos"/>
                <a:ea typeface="Aptos"/>
                <a:cs typeface="Aptos"/>
              </a:rPr>
              <a:t>From anomaly detection to state verification</a:t>
            </a:r>
            <a:endParaRPr sz="3000"/>
          </a:p>
        </p:txBody>
      </p:sp>
      <p:sp>
        <p:nvSpPr>
          <p:cNvPr id="4" name="Text 2">
            <a:extLst xmlns:a="http://schemas.openxmlformats.org/drawingml/2006/main">
              <a:ext uri="{FF2B5EF4-FFF2-40B4-BE49-F238E27FC236}">
                <a16:creationId xmlns:a16="http://schemas.microsoft.com/office/drawing/2014/main" id="{A99CB9AF-3FBC-4CB4-AEF6-D47CF0A29814}"/>
              </a:ext>
            </a:extLst>
          </p:cNvPr>
          <p:cNvSpPr>
            <a:spLocks xmlns:a="http://schemas.openxmlformats.org/drawingml/2006/main" noGrp="1"/>
          </p:cNvSpPr>
          <p:nvPr/>
        </p:nvSpPr>
        <p:spPr>
          <a:xfrm xmlns:a="http://schemas.openxmlformats.org/drawingml/2006/main">
            <a:off x="566928" y="1225296"/>
            <a:ext cx="106070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5C6978"/>
                </a:solidFill>
                <a:latin typeface="Aptos"/>
                <a:ea typeface="Aptos"/>
                <a:cs typeface="Aptos"/>
              </a:rPr>
              <a:t>KPI anomaly detection and per-UE protocol-state checking answer different questions.</a:t>
            </a:r>
            <a:endParaRPr sz="1300"/>
          </a:p>
        </p:txBody>
      </p:sp>
      <p:sp>
        <p:nvSpPr>
          <p:cNvPr id="5" name="Shape 3">
            <a:extLst xmlns:a="http://schemas.openxmlformats.org/drawingml/2006/main">
              <a:ext uri="{FF2B5EF4-FFF2-40B4-BE49-F238E27FC236}">
                <a16:creationId xmlns:a16="http://schemas.microsoft.com/office/drawing/2014/main" id="{88E405D5-E553-4991-901C-72B5B34AD44F}"/>
              </a:ext>
            </a:extLst>
          </p:cNvPr>
          <p:cNvSpPr>
            <a:spLocks xmlns:a="http://schemas.openxmlformats.org/drawingml/2006/main" noGrp="1"/>
          </p:cNvSpPr>
          <p:nvPr/>
        </p:nvSpPr>
        <p:spPr>
          <a:xfrm xmlns:a="http://schemas.openxmlformats.org/drawingml/2006/main">
            <a:off x="566928" y="1828800"/>
            <a:ext cx="3383280" cy="3017520"/>
          </a:xfrm>
          <a:prstGeom xmlns:a="http://schemas.openxmlformats.org/drawingml/2006/main" prst="roundRect">
            <a:avLst>
              <a:gd name="adj" fmla="val 2727"/>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AF12E106-5A60-4F33-B7DF-3DD496A9446C}"/>
              </a:ext>
            </a:extLst>
          </p:cNvPr>
          <p:cNvSpPr>
            <a:spLocks xmlns:a="http://schemas.openxmlformats.org/drawingml/2006/main" noGrp="1"/>
          </p:cNvSpPr>
          <p:nvPr/>
        </p:nvSpPr>
        <p:spPr>
          <a:xfrm xmlns:a="http://schemas.openxmlformats.org/drawingml/2006/main">
            <a:off x="822960" y="2084832"/>
            <a:ext cx="420624" cy="420624"/>
          </a:xfrm>
          <a:prstGeom xmlns:a="http://schemas.openxmlformats.org/drawingml/2006/main" prst="ellipse">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46A60F6F-15FD-4E5C-8CE0-A7850846907D}"/>
              </a:ext>
            </a:extLst>
          </p:cNvPr>
          <p:cNvSpPr>
            <a:spLocks xmlns:a="http://schemas.openxmlformats.org/drawingml/2006/main" noGrp="1"/>
          </p:cNvSpPr>
          <p:nvPr/>
        </p:nvSpPr>
        <p:spPr>
          <a:xfrm xmlns:a="http://schemas.openxmlformats.org/drawingml/2006/main">
            <a:off x="822960" y="2084832"/>
            <a:ext cx="420624" cy="42062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2F6FED"/>
                </a:solidFill>
                <a:latin typeface="Aptos"/>
                <a:ea typeface="Aptos"/>
                <a:cs typeface="Aptos"/>
              </a:rPr>
              <a:t>E</a:t>
            </a:r>
            <a:endParaRPr sz="1200"/>
          </a:p>
        </p:txBody>
      </p:sp>
      <p:sp>
        <p:nvSpPr>
          <p:cNvPr id="8" name="Text 6">
            <a:extLst xmlns:a="http://schemas.openxmlformats.org/drawingml/2006/main">
              <a:ext uri="{FF2B5EF4-FFF2-40B4-BE49-F238E27FC236}">
                <a16:creationId xmlns:a16="http://schemas.microsoft.com/office/drawing/2014/main" id="{391962E5-FE4F-416F-AA0F-30DE755208FC}"/>
              </a:ext>
            </a:extLst>
          </p:cNvPr>
          <p:cNvSpPr>
            <a:spLocks xmlns:a="http://schemas.openxmlformats.org/drawingml/2006/main" noGrp="1"/>
          </p:cNvSpPr>
          <p:nvPr/>
        </p:nvSpPr>
        <p:spPr>
          <a:xfrm xmlns:a="http://schemas.openxmlformats.org/drawingml/2006/main">
            <a:off x="1435608" y="2084832"/>
            <a:ext cx="23317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A344D"/>
                </a:solidFill>
                <a:latin typeface="Aptos"/>
                <a:ea typeface="Aptos"/>
                <a:cs typeface="Aptos"/>
              </a:rPr>
              <a:t>ICTC 2025 approach</a:t>
            </a:r>
            <a:endParaRPr sz="1450"/>
          </a:p>
        </p:txBody>
      </p:sp>
      <p:sp>
        <p:nvSpPr>
          <p:cNvPr id="9" name="Text 7">
            <a:extLst xmlns:a="http://schemas.openxmlformats.org/drawingml/2006/main">
              <a:ext uri="{FF2B5EF4-FFF2-40B4-BE49-F238E27FC236}">
                <a16:creationId xmlns:a16="http://schemas.microsoft.com/office/drawing/2014/main" id="{788AEE50-605B-412A-9B88-1EAB0501DB6E}"/>
              </a:ext>
            </a:extLst>
          </p:cNvPr>
          <p:cNvSpPr>
            <a:spLocks xmlns:a="http://schemas.openxmlformats.org/drawingml/2006/main" noGrp="1"/>
          </p:cNvSpPr>
          <p:nvPr/>
        </p:nvSpPr>
        <p:spPr>
          <a:xfrm xmlns:a="http://schemas.openxmlformats.org/drawingml/2006/main">
            <a:off x="822960" y="2697480"/>
            <a:ext cx="2926080" cy="1965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342900" indent="-342900">
              <a:spcAft>
                <a:spcPts val="600"/>
              </a:spcAft>
              <a:buSzPct val="100000"/>
              <a:buChar char="•"/>
            </a:pPr>
            <a:r>
              <a:rPr sz="1150">
                <a:solidFill>
                  <a:srgbClr val="1A344D"/>
                </a:solidFill>
                <a:latin typeface="Aptos"/>
                <a:ea typeface="Aptos"/>
                <a:cs typeface="Aptos"/>
              </a:rPr>
              <a:t>5G Core KPI time-series data</a:t>
            </a:r>
            <a:endParaRPr sz="1150"/>
          </a:p>
          <a:p xmlns:a="http://schemas.openxmlformats.org/drawingml/2006/main">
            <a:pPr marL="342900" indent="-342900">
              <a:spcAft>
                <a:spcPts val="600"/>
              </a:spcAft>
              <a:buSzPct val="100000"/>
              <a:buChar char="•"/>
            </a:pPr>
            <a:r>
              <a:rPr sz="1150">
                <a:solidFill>
                  <a:srgbClr val="1A344D"/>
                </a:solidFill>
                <a:latin typeface="Aptos"/>
                <a:ea typeface="Aptos"/>
                <a:cs typeface="Aptos"/>
              </a:rPr>
              <a:t>Statistical anomaly detection</a:t>
            </a:r>
          </a:p>
          <a:p xmlns:a="http://schemas.openxmlformats.org/drawingml/2006/main">
            <a:pPr marL="342900" indent="-342900">
              <a:spcAft>
                <a:spcPts val="600"/>
              </a:spcAft>
              <a:buSzPct val="100000"/>
              <a:buChar char="•"/>
            </a:pPr>
            <a:r>
              <a:rPr sz="1150">
                <a:solidFill>
                  <a:srgbClr val="1A344D"/>
                </a:solidFill>
                <a:latin typeface="Aptos"/>
                <a:ea typeface="Aptos"/>
                <a:cs typeface="Aptos"/>
              </a:rPr>
              <a:t>Large-scale monitoring</a:t>
            </a:r>
          </a:p>
          <a:p xmlns:a="http://schemas.openxmlformats.org/drawingml/2006/main">
            <a:pPr marL="342900" indent="-342900">
              <a:spcAft>
                <a:spcPts val="600"/>
              </a:spcAft>
              <a:buSzPct val="100000"/>
              <a:buChar char="•"/>
            </a:pPr>
            <a:r>
              <a:rPr sz="1150">
                <a:solidFill>
                  <a:srgbClr val="1A344D"/>
                </a:solidFill>
                <a:latin typeface="Aptos"/>
                <a:ea typeface="Aptos"/>
                <a:cs typeface="Aptos"/>
              </a:rPr>
              <a:t>Operator-network proof of concept</a:t>
            </a:r>
          </a:p>
        </p:txBody>
      </p:sp>
      <p:sp>
        <p:nvSpPr>
          <p:cNvPr id="10" name="Text 8">
            <a:extLst xmlns:a="http://schemas.openxmlformats.org/drawingml/2006/main">
              <a:ext uri="{FF2B5EF4-FFF2-40B4-BE49-F238E27FC236}">
                <a16:creationId xmlns:a16="http://schemas.microsoft.com/office/drawing/2014/main" id="{E0419B7D-ABFE-483B-8122-2B745A4107E7}"/>
              </a:ext>
            </a:extLst>
          </p:cNvPr>
          <p:cNvSpPr>
            <a:spLocks xmlns:a="http://schemas.openxmlformats.org/drawingml/2006/main" noGrp="1"/>
          </p:cNvSpPr>
          <p:nvPr/>
        </p:nvSpPr>
        <p:spPr>
          <a:xfrm xmlns:a="http://schemas.openxmlformats.org/drawingml/2006/main">
            <a:off x="3950208" y="310896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8A94A0"/>
                </a:solidFill>
                <a:latin typeface="Aptos"/>
                <a:ea typeface="Aptos"/>
                <a:cs typeface="Aptos"/>
              </a:rPr>
              <a:t>→</a:t>
            </a:r>
            <a:endParaRPr sz="2000"/>
          </a:p>
        </p:txBody>
      </p:sp>
      <p:sp>
        <p:nvSpPr>
          <p:cNvPr id="11" name="Shape 9">
            <a:extLst xmlns:a="http://schemas.openxmlformats.org/drawingml/2006/main">
              <a:ext uri="{FF2B5EF4-FFF2-40B4-BE49-F238E27FC236}">
                <a16:creationId xmlns:a16="http://schemas.microsoft.com/office/drawing/2014/main" id="{0F2AB501-6A8B-4E4E-8856-76BD5999F9FC}"/>
              </a:ext>
            </a:extLst>
          </p:cNvPr>
          <p:cNvSpPr>
            <a:spLocks xmlns:a="http://schemas.openxmlformats.org/drawingml/2006/main" noGrp="1"/>
          </p:cNvSpPr>
          <p:nvPr/>
        </p:nvSpPr>
        <p:spPr>
          <a:xfrm xmlns:a="http://schemas.openxmlformats.org/drawingml/2006/main">
            <a:off x="4407408" y="1828800"/>
            <a:ext cx="3383280" cy="3017520"/>
          </a:xfrm>
          <a:prstGeom xmlns:a="http://schemas.openxmlformats.org/drawingml/2006/main" prst="roundRect">
            <a:avLst>
              <a:gd name="adj" fmla="val 2727"/>
            </a:avLst>
          </a:prstGeom>
          <a:solidFill xmlns:a="http://schemas.openxmlformats.org/drawingml/2006/main">
            <a:srgbClr val="FBF3E8"/>
          </a:solidFill>
          <a:ln xmlns:a="http://schemas.openxmlformats.org/drawingml/2006/main" w="12700">
            <a:solidFill>
              <a:srgbClr val="CC842D"/>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0079ECB8-59EF-4412-A9D2-CB9F3215515B}"/>
              </a:ext>
            </a:extLst>
          </p:cNvPr>
          <p:cNvSpPr>
            <a:spLocks xmlns:a="http://schemas.openxmlformats.org/drawingml/2006/main" noGrp="1"/>
          </p:cNvSpPr>
          <p:nvPr/>
        </p:nvSpPr>
        <p:spPr>
          <a:xfrm xmlns:a="http://schemas.openxmlformats.org/drawingml/2006/main">
            <a:off x="4663440" y="2084832"/>
            <a:ext cx="420624" cy="420624"/>
          </a:xfrm>
          <a:prstGeom xmlns:a="http://schemas.openxmlformats.org/drawingml/2006/main" prst="ellipse">
            <a:avLst/>
          </a:prstGeom>
          <a:solidFill xmlns:a="http://schemas.openxmlformats.org/drawingml/2006/main">
            <a:srgbClr val="FFFFFF"/>
          </a:solidFill>
          <a:ln xmlns:a="http://schemas.openxmlformats.org/drawingml/2006/main" w="19050">
            <a:solidFill>
              <a:srgbClr val="CC842D"/>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A0B7100A-B7E9-4135-8651-6E28937F8B76}"/>
              </a:ext>
            </a:extLst>
          </p:cNvPr>
          <p:cNvSpPr>
            <a:spLocks xmlns:a="http://schemas.openxmlformats.org/drawingml/2006/main" noGrp="1"/>
          </p:cNvSpPr>
          <p:nvPr/>
        </p:nvSpPr>
        <p:spPr>
          <a:xfrm xmlns:a="http://schemas.openxmlformats.org/drawingml/2006/main">
            <a:off x="4663440" y="2084832"/>
            <a:ext cx="420624" cy="42062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CC842D"/>
                </a:solidFill>
                <a:latin typeface="Aptos"/>
                <a:ea typeface="Aptos"/>
                <a:cs typeface="Aptos"/>
              </a:rPr>
              <a:t>G</a:t>
            </a:r>
            <a:endParaRPr sz="1200"/>
          </a:p>
        </p:txBody>
      </p:sp>
      <p:sp>
        <p:nvSpPr>
          <p:cNvPr id="14" name="Text 12">
            <a:extLst xmlns:a="http://schemas.openxmlformats.org/drawingml/2006/main">
              <a:ext uri="{FF2B5EF4-FFF2-40B4-BE49-F238E27FC236}">
                <a16:creationId xmlns:a16="http://schemas.microsoft.com/office/drawing/2014/main" id="{1E99DA7D-DAD5-4575-AF06-ACA2C6C8AFCC}"/>
              </a:ext>
            </a:extLst>
          </p:cNvPr>
          <p:cNvSpPr>
            <a:spLocks xmlns:a="http://schemas.openxmlformats.org/drawingml/2006/main" noGrp="1"/>
          </p:cNvSpPr>
          <p:nvPr/>
        </p:nvSpPr>
        <p:spPr>
          <a:xfrm xmlns:a="http://schemas.openxmlformats.org/drawingml/2006/main">
            <a:off x="5276088" y="2084832"/>
            <a:ext cx="23317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A344D"/>
                </a:solidFill>
                <a:latin typeface="Aptos"/>
                <a:ea typeface="Aptos"/>
                <a:cs typeface="Aptos"/>
              </a:rPr>
              <a:t>Identified gap</a:t>
            </a:r>
            <a:endParaRPr sz="1450"/>
          </a:p>
        </p:txBody>
      </p:sp>
      <p:sp>
        <p:nvSpPr>
          <p:cNvPr id="15" name="Text 13">
            <a:extLst xmlns:a="http://schemas.openxmlformats.org/drawingml/2006/main">
              <a:ext uri="{FF2B5EF4-FFF2-40B4-BE49-F238E27FC236}">
                <a16:creationId xmlns:a16="http://schemas.microsoft.com/office/drawing/2014/main" id="{66DAC941-77FE-4CD9-A7D9-A80F3F1AD54F}"/>
              </a:ext>
            </a:extLst>
          </p:cNvPr>
          <p:cNvSpPr>
            <a:spLocks xmlns:a="http://schemas.openxmlformats.org/drawingml/2006/main" noGrp="1"/>
          </p:cNvSpPr>
          <p:nvPr/>
        </p:nvSpPr>
        <p:spPr>
          <a:xfrm xmlns:a="http://schemas.openxmlformats.org/drawingml/2006/main">
            <a:off x="4663440" y="2697480"/>
            <a:ext cx="2926080" cy="1965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342900" indent="-342900">
              <a:spcAft>
                <a:spcPts val="600"/>
              </a:spcAft>
              <a:buSzPct val="100000"/>
              <a:buChar char="•"/>
            </a:pPr>
            <a:r>
              <a:rPr sz="1150">
                <a:solidFill>
                  <a:srgbClr val="1A344D"/>
                </a:solidFill>
                <a:latin typeface="Aptos"/>
                <a:ea typeface="Aptos"/>
                <a:cs typeface="Aptos"/>
              </a:rPr>
              <a:t>A KPI anomaly is not the same as a protocol-state inconsistency</a:t>
            </a:r>
            <a:endParaRPr sz="1150"/>
          </a:p>
          <a:p xmlns:a="http://schemas.openxmlformats.org/drawingml/2006/main">
            <a:pPr marL="342900" indent="-342900">
              <a:spcAft>
                <a:spcPts val="600"/>
              </a:spcAft>
              <a:buSzPct val="100000"/>
              <a:buChar char="•"/>
            </a:pPr>
            <a:r>
              <a:rPr sz="1150">
                <a:solidFill>
                  <a:srgbClr val="1A344D"/>
                </a:solidFill>
                <a:latin typeface="Aptos"/>
                <a:ea typeface="Aptos"/>
                <a:cs typeface="Aptos"/>
              </a:rPr>
              <a:t>Per-UE RAN–Core consistency is not the target</a:t>
            </a:r>
            <a:endParaRPr sz="1150"/>
          </a:p>
          <a:p xmlns:a="http://schemas.openxmlformats.org/drawingml/2006/main">
            <a:pPr marL="342900" indent="-342900">
              <a:spcAft>
                <a:spcPts val="600"/>
              </a:spcAft>
              <a:buSzPct val="100000"/>
              <a:buChar char="•"/>
            </a:pPr>
            <a:r>
              <a:rPr sz="1150">
                <a:solidFill>
                  <a:srgbClr val="1A344D"/>
                </a:solidFill>
                <a:latin typeface="Aptos"/>
                <a:ea typeface="Aptos"/>
                <a:cs typeface="Aptos"/>
              </a:rPr>
              <a:t>Does not necessarily show which state relationship is wrong</a:t>
            </a:r>
            <a:endParaRPr sz="1150"/>
          </a:p>
        </p:txBody>
      </p:sp>
      <p:sp>
        <p:nvSpPr>
          <p:cNvPr id="16" name="Text 14">
            <a:extLst xmlns:a="http://schemas.openxmlformats.org/drawingml/2006/main">
              <a:ext uri="{FF2B5EF4-FFF2-40B4-BE49-F238E27FC236}">
                <a16:creationId xmlns:a16="http://schemas.microsoft.com/office/drawing/2014/main" id="{5E889AAC-631D-43E1-8F3F-E7D9F88AC39A}"/>
              </a:ext>
            </a:extLst>
          </p:cNvPr>
          <p:cNvSpPr>
            <a:spLocks xmlns:a="http://schemas.openxmlformats.org/drawingml/2006/main" noGrp="1"/>
          </p:cNvSpPr>
          <p:nvPr/>
        </p:nvSpPr>
        <p:spPr>
          <a:xfrm xmlns:a="http://schemas.openxmlformats.org/drawingml/2006/main">
            <a:off x="7790688" y="310896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8A94A0"/>
                </a:solidFill>
                <a:latin typeface="Aptos"/>
                <a:ea typeface="Aptos"/>
                <a:cs typeface="Aptos"/>
              </a:rPr>
              <a:t>→</a:t>
            </a:r>
            <a:endParaRPr sz="2000"/>
          </a:p>
        </p:txBody>
      </p:sp>
      <p:sp>
        <p:nvSpPr>
          <p:cNvPr id="17" name="Shape 15">
            <a:extLst xmlns:a="http://schemas.openxmlformats.org/drawingml/2006/main">
              <a:ext uri="{FF2B5EF4-FFF2-40B4-BE49-F238E27FC236}">
                <a16:creationId xmlns:a16="http://schemas.microsoft.com/office/drawing/2014/main" id="{05C098A4-973A-4BC3-8F57-5B0E45DACD92}"/>
              </a:ext>
            </a:extLst>
          </p:cNvPr>
          <p:cNvSpPr>
            <a:spLocks xmlns:a="http://schemas.openxmlformats.org/drawingml/2006/main" noGrp="1"/>
          </p:cNvSpPr>
          <p:nvPr/>
        </p:nvSpPr>
        <p:spPr>
          <a:xfrm xmlns:a="http://schemas.openxmlformats.org/drawingml/2006/main">
            <a:off x="8247888" y="1828800"/>
            <a:ext cx="3383280" cy="3017520"/>
          </a:xfrm>
          <a:prstGeom xmlns:a="http://schemas.openxmlformats.org/drawingml/2006/main" prst="roundRect">
            <a:avLst>
              <a:gd name="adj" fmla="val 2727"/>
            </a:avLst>
          </a:prstGeom>
          <a:solidFill xmlns:a="http://schemas.openxmlformats.org/drawingml/2006/main">
            <a:srgbClr val="E9F6F3"/>
          </a:solidFill>
          <a:ln xmlns:a="http://schemas.openxmlformats.org/drawingml/2006/main" w="12700">
            <a:solidFill>
              <a:srgbClr val="1B9E8C"/>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6">
            <a:extLst xmlns:a="http://schemas.openxmlformats.org/drawingml/2006/main">
              <a:ext uri="{FF2B5EF4-FFF2-40B4-BE49-F238E27FC236}">
                <a16:creationId xmlns:a16="http://schemas.microsoft.com/office/drawing/2014/main" id="{9752B844-951D-4E26-94BF-E7884DB21D16}"/>
              </a:ext>
            </a:extLst>
          </p:cNvPr>
          <p:cNvSpPr>
            <a:spLocks xmlns:a="http://schemas.openxmlformats.org/drawingml/2006/main" noGrp="1"/>
          </p:cNvSpPr>
          <p:nvPr/>
        </p:nvSpPr>
        <p:spPr>
          <a:xfrm xmlns:a="http://schemas.openxmlformats.org/drawingml/2006/main">
            <a:off x="8503920" y="2084832"/>
            <a:ext cx="420624" cy="420624"/>
          </a:xfrm>
          <a:prstGeom xmlns:a="http://schemas.openxmlformats.org/drawingml/2006/main" prst="ellipse">
            <a:avLst/>
          </a:prstGeom>
          <a:solidFill xmlns:a="http://schemas.openxmlformats.org/drawingml/2006/main">
            <a:srgbClr val="FFFFFF"/>
          </a:solidFill>
          <a:ln xmlns:a="http://schemas.openxmlformats.org/drawingml/2006/main" w="19050">
            <a:solidFill>
              <a:srgbClr val="1B9E8C"/>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5EE74E5D-05D5-4F09-9525-0134E443D843}"/>
              </a:ext>
            </a:extLst>
          </p:cNvPr>
          <p:cNvSpPr>
            <a:spLocks xmlns:a="http://schemas.openxmlformats.org/drawingml/2006/main" noGrp="1"/>
          </p:cNvSpPr>
          <p:nvPr/>
        </p:nvSpPr>
        <p:spPr>
          <a:xfrm xmlns:a="http://schemas.openxmlformats.org/drawingml/2006/main">
            <a:off x="8503920" y="2084832"/>
            <a:ext cx="420624" cy="42062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1B9E8C"/>
                </a:solidFill>
                <a:latin typeface="Aptos"/>
                <a:ea typeface="Aptos"/>
                <a:cs typeface="Aptos"/>
              </a:rPr>
              <a:t>O</a:t>
            </a:r>
            <a:endParaRPr sz="1200"/>
          </a:p>
        </p:txBody>
      </p:sp>
      <p:sp>
        <p:nvSpPr>
          <p:cNvPr id="20" name="Text 18">
            <a:extLst xmlns:a="http://schemas.openxmlformats.org/drawingml/2006/main">
              <a:ext uri="{FF2B5EF4-FFF2-40B4-BE49-F238E27FC236}">
                <a16:creationId xmlns:a16="http://schemas.microsoft.com/office/drawing/2014/main" id="{A234F2DB-07B0-456E-9E2A-D15AC8C53C2C}"/>
              </a:ext>
            </a:extLst>
          </p:cNvPr>
          <p:cNvSpPr>
            <a:spLocks xmlns:a="http://schemas.openxmlformats.org/drawingml/2006/main" noGrp="1"/>
          </p:cNvSpPr>
          <p:nvPr/>
        </p:nvSpPr>
        <p:spPr>
          <a:xfrm xmlns:a="http://schemas.openxmlformats.org/drawingml/2006/main">
            <a:off x="9116568" y="2084832"/>
            <a:ext cx="23317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A344D"/>
                </a:solidFill>
                <a:latin typeface="Aptos"/>
                <a:ea typeface="Aptos"/>
                <a:cs typeface="Aptos"/>
              </a:rPr>
              <a:t>Our approach</a:t>
            </a:r>
            <a:endParaRPr sz="1450"/>
          </a:p>
        </p:txBody>
      </p:sp>
      <p:sp>
        <p:nvSpPr>
          <p:cNvPr id="21" name="Text 19">
            <a:extLst xmlns:a="http://schemas.openxmlformats.org/drawingml/2006/main">
              <a:ext uri="{FF2B5EF4-FFF2-40B4-BE49-F238E27FC236}">
                <a16:creationId xmlns:a16="http://schemas.microsoft.com/office/drawing/2014/main" id="{E6C1170B-36C6-47D9-ADD8-A3710625A467}"/>
              </a:ext>
            </a:extLst>
          </p:cNvPr>
          <p:cNvSpPr>
            <a:spLocks xmlns:a="http://schemas.openxmlformats.org/drawingml/2006/main" noGrp="1"/>
          </p:cNvSpPr>
          <p:nvPr/>
        </p:nvSpPr>
        <p:spPr>
          <a:xfrm xmlns:a="http://schemas.openxmlformats.org/drawingml/2006/main">
            <a:off x="8503920" y="2697480"/>
            <a:ext cx="2926080" cy="1965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342900" indent="-342900">
              <a:spcAft>
                <a:spcPts val="600"/>
              </a:spcAft>
              <a:buSzPct val="100000"/>
              <a:buChar char="•"/>
            </a:pPr>
            <a:r>
              <a:rPr sz="1150">
                <a:solidFill>
                  <a:srgbClr val="1A344D"/>
                </a:solidFill>
                <a:latin typeface="Aptos"/>
                <a:ea typeface="Aptos"/>
                <a:cs typeface="Aptos"/>
              </a:rPr>
              <a:t>Coupled context state models</a:t>
            </a:r>
            <a:endParaRPr sz="1150"/>
          </a:p>
          <a:p xmlns:a="http://schemas.openxmlformats.org/drawingml/2006/main">
            <a:pPr marL="342900" indent="-342900">
              <a:spcAft>
                <a:spcPts val="600"/>
              </a:spcAft>
              <a:buSzPct val="100000"/>
              <a:buChar char="•"/>
            </a:pPr>
            <a:r>
              <a:rPr sz="1150">
                <a:solidFill>
                  <a:srgbClr val="1A344D"/>
                </a:solidFill>
                <a:latin typeface="Aptos"/>
                <a:ea typeface="Aptos"/>
                <a:cs typeface="Aptos"/>
              </a:rPr>
              <a:t>Per-session semantic rules</a:t>
            </a:r>
          </a:p>
          <a:p xmlns:a="http://schemas.openxmlformats.org/drawingml/2006/main">
            <a:pPr marL="342900" indent="-342900">
              <a:spcAft>
                <a:spcPts val="600"/>
              </a:spcAft>
              <a:buSzPct val="100000"/>
              <a:buChar char="•"/>
            </a:pPr>
            <a:r>
              <a:rPr sz="1150">
                <a:solidFill>
                  <a:srgbClr val="1A344D"/>
                </a:solidFill>
                <a:latin typeface="Aptos"/>
                <a:ea typeface="Aptos"/>
                <a:cs typeface="Aptos"/>
              </a:rPr>
              <a:t>Fresh, aligned observations</a:t>
            </a:r>
          </a:p>
          <a:p xmlns:a="http://schemas.openxmlformats.org/drawingml/2006/main">
            <a:pPr marL="342900" indent="-342900">
              <a:spcAft>
                <a:spcPts val="600"/>
              </a:spcAft>
              <a:buSzPct val="100000"/>
              <a:buChar char="•"/>
            </a:pPr>
            <a:r>
              <a:rPr sz="1150">
                <a:solidFill>
                  <a:srgbClr val="1A344D"/>
                </a:solidFill>
                <a:latin typeface="Aptos"/>
                <a:ea typeface="Aptos"/>
                <a:cs typeface="Aptos"/>
              </a:rPr>
              <a:t>Pending-procedure awareness</a:t>
            </a:r>
          </a:p>
          <a:p xmlns:a="http://schemas.openxmlformats.org/drawingml/2006/main">
            <a:pPr marL="342900" indent="-342900">
              <a:spcAft>
                <a:spcPts val="600"/>
              </a:spcAft>
              <a:buSzPct val="100000"/>
              <a:buChar char="•"/>
            </a:pPr>
            <a:r>
              <a:rPr sz="1150">
                <a:solidFill>
                  <a:srgbClr val="1A344D"/>
                </a:solidFill>
                <a:latin typeface="Aptos"/>
                <a:ea typeface="Aptos"/>
                <a:cs typeface="Aptos"/>
              </a:rPr>
              <a:t>Explainable alarms and recovery</a:t>
            </a:r>
          </a:p>
        </p:txBody>
      </p:sp>
      <p:sp>
        <p:nvSpPr>
          <p:cNvPr id="22" name="Shape 20">
            <a:extLst xmlns:a="http://schemas.openxmlformats.org/drawingml/2006/main">
              <a:ext uri="{FF2B5EF4-FFF2-40B4-BE49-F238E27FC236}">
                <a16:creationId xmlns:a16="http://schemas.microsoft.com/office/drawing/2014/main" id="{BC501FDD-7525-43E9-AAC4-564AEB81A0E1}"/>
              </a:ext>
            </a:extLst>
          </p:cNvPr>
          <p:cNvSpPr>
            <a:spLocks xmlns:a="http://schemas.openxmlformats.org/drawingml/2006/main" noGrp="1"/>
          </p:cNvSpPr>
          <p:nvPr/>
        </p:nvSpPr>
        <p:spPr>
          <a:xfrm xmlns:a="http://schemas.openxmlformats.org/drawingml/2006/main">
            <a:off x="566928" y="5120640"/>
            <a:ext cx="11064240" cy="914400"/>
          </a:xfrm>
          <a:prstGeom xmlns:a="http://schemas.openxmlformats.org/drawingml/2006/main" prst="roundRect">
            <a:avLst>
              <a:gd name="adj" fmla="val 9000"/>
            </a:avLst>
          </a:prstGeom>
          <a:solidFill xmlns:a="http://schemas.openxmlformats.org/drawingml/2006/main">
            <a:srgbClr val="EEF3FD"/>
          </a:solidFill>
          <a:ln xmlns:a="http://schemas.openxmlformats.org/drawingml/2006/main" w="12700">
            <a:solidFill>
              <a:srgbClr val="2F6FED"/>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44E15C31-4901-4100-9A8D-B0060B16F5E0}"/>
              </a:ext>
            </a:extLst>
          </p:cNvPr>
          <p:cNvSpPr>
            <a:spLocks xmlns:a="http://schemas.openxmlformats.org/drawingml/2006/main" noGrp="1"/>
          </p:cNvSpPr>
          <p:nvPr/>
        </p:nvSpPr>
        <p:spPr>
          <a:xfrm xmlns:a="http://schemas.openxmlformats.org/drawingml/2006/main">
            <a:off x="886968" y="5120640"/>
            <a:ext cx="1042416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a:solidFill>
                  <a:srgbClr val="1A344D"/>
                </a:solidFill>
                <a:latin typeface="Aptos"/>
                <a:ea typeface="Aptos"/>
                <a:cs typeface="Aptos"/>
              </a:rPr>
              <a:t>Our contribution is an executable consistency-monitoring prototype. Worldwide novelty is not claimed.</a:t>
            </a:r>
            <a:endParaRPr sz="1400"/>
          </a:p>
        </p:txBody>
      </p:sp>
      <p:sp>
        <p:nvSpPr>
          <p:cNvPr id="24" name="Text 22">
            <a:extLst xmlns:a="http://schemas.openxmlformats.org/drawingml/2006/main">
              <a:ext uri="{FF2B5EF4-FFF2-40B4-BE49-F238E27FC236}">
                <a16:creationId xmlns:a16="http://schemas.microsoft.com/office/drawing/2014/main" id="{38638F1D-7A98-4691-B166-A6832ADEC232}"/>
              </a:ext>
            </a:extLst>
          </p:cNvPr>
          <p:cNvSpPr>
            <a:spLocks xmlns:a="http://schemas.openxmlformats.org/drawingml/2006/main" noGrp="1"/>
          </p:cNvSpPr>
          <p:nvPr/>
        </p:nvSpPr>
        <p:spPr>
          <a:xfrm xmlns:a="http://schemas.openxmlformats.org/drawingml/2006/main">
            <a:off x="566928" y="6510528"/>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00">
                <a:solidFill>
                  <a:srgbClr val="8A94A0"/>
                </a:solidFill>
                <a:latin typeface="Aptos"/>
                <a:ea typeface="Aptos"/>
                <a:cs typeface="Aptos"/>
              </a:rPr>
              <a:t>Final Project</a:t>
            </a:r>
            <a:r>
              <a:rPr sz="800">
                <a:solidFill>
                  <a:srgbClr val="8A94A0"/>
                </a:solidFill>
                <a:latin typeface="Aptos"/>
                <a:ea typeface="Aptos"/>
                <a:cs typeface="Aptos"/>
              </a:rPr>
              <a:t>  •  5G UE Context Desynchronization Detection and Recovery</a:t>
            </a:r>
            <a:endParaRPr sz="800"/>
          </a:p>
        </p:txBody>
      </p:sp>
      <p:sp>
        <p:nvSpPr>
          <p:cNvPr id="25" name="Text 23">
            <a:extLst xmlns:a="http://schemas.openxmlformats.org/drawingml/2006/main">
              <a:ext uri="{FF2B5EF4-FFF2-40B4-BE49-F238E27FC236}">
                <a16:creationId xmlns:a16="http://schemas.microsoft.com/office/drawing/2014/main" id="{8294CAF4-DB86-4A1A-85D6-8CDB68650D69}"/>
              </a:ext>
            </a:extLst>
          </p:cNvPr>
          <p:cNvSpPr>
            <a:spLocks xmlns:a="http://schemas.openxmlformats.org/drawingml/2006/main" noGrp="1"/>
          </p:cNvSpPr>
          <p:nvPr/>
        </p:nvSpPr>
        <p:spPr>
          <a:xfrm xmlns:a="http://schemas.openxmlformats.org/drawingml/2006/main">
            <a:off x="11164824" y="6510528"/>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b="1">
                <a:solidFill>
                  <a:srgbClr val="8A94A0"/>
                </a:solidFill>
                <a:latin typeface="Aptos"/>
                <a:ea typeface="Aptos"/>
                <a:cs typeface="Aptos"/>
              </a:rPr>
              <a:t>04</a:t>
            </a:r>
            <a:endParaRPr sz="900"/>
          </a:p>
        </p:txBody>
      </p:sp>
    </p:spTree>
    <p:extLst>
      <p:ext uri="{BB962C8B-B14F-4D97-AF65-F5344CB8AC3E}">
        <p14:creationId xmlns:p14="http://schemas.microsoft.com/office/powerpoint/2010/main" val="7165074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A48B41-3A2A-4B2C-8BED-F69A770036B9}"/>
              </a:ext>
            </a:extLst>
          </p:cNvPr>
          <p:cNvSpPr>
            <a:spLocks xmlns:a="http://schemas.openxmlformats.org/drawingml/2006/main" noGrp="1"/>
          </p:cNvSpPr>
          <p:nvPr/>
        </p:nvSpPr>
        <p:spPr>
          <a:xfrm xmlns:a="http://schemas.openxmlformats.org/drawingml/2006/main">
            <a:off x="566928"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2F6FED"/>
                </a:solidFill>
                <a:latin typeface="Aptos"/>
                <a:ea typeface="Aptos"/>
                <a:cs typeface="Aptos"/>
              </a:rPr>
              <a:t>04 · PROBLEM STATEMENT</a:t>
            </a:r>
            <a:endParaRPr sz="1100"/>
          </a:p>
        </p:txBody>
      </p:sp>
      <p:sp>
        <p:nvSpPr>
          <p:cNvPr id="3" name="Text 1">
            <a:extLst xmlns:a="http://schemas.openxmlformats.org/drawingml/2006/main">
              <a:ext uri="{FF2B5EF4-FFF2-40B4-BE49-F238E27FC236}">
                <a16:creationId xmlns:a16="http://schemas.microsoft.com/office/drawing/2014/main" id="{3FE057F1-74EC-49A7-88CC-0E91BBE6C19B}"/>
              </a:ext>
            </a:extLst>
          </p:cNvPr>
          <p:cNvSpPr>
            <a:spLocks xmlns:a="http://schemas.openxmlformats.org/drawingml/2006/main" noGrp="1"/>
          </p:cNvSpPr>
          <p:nvPr/>
        </p:nvSpPr>
        <p:spPr>
          <a:xfrm xmlns:a="http://schemas.openxmlformats.org/drawingml/2006/main">
            <a:off x="566928" y="676656"/>
            <a:ext cx="10789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344D"/>
                </a:solidFill>
                <a:latin typeface="Aptos"/>
                <a:ea typeface="Aptos"/>
                <a:cs typeface="Aptos"/>
              </a:rPr>
              <a:t>The specific failure we target</a:t>
            </a:r>
            <a:endParaRPr sz="3000"/>
          </a:p>
        </p:txBody>
      </p:sp>
      <p:sp>
        <p:nvSpPr>
          <p:cNvPr id="4" name="Text 2">
            <a:extLst xmlns:a="http://schemas.openxmlformats.org/drawingml/2006/main">
              <a:ext uri="{FF2B5EF4-FFF2-40B4-BE49-F238E27FC236}">
                <a16:creationId xmlns:a16="http://schemas.microsoft.com/office/drawing/2014/main" id="{AEA86FE8-6E71-42FD-B8DD-3F074A209396}"/>
              </a:ext>
            </a:extLst>
          </p:cNvPr>
          <p:cNvSpPr>
            <a:spLocks xmlns:a="http://schemas.openxmlformats.org/drawingml/2006/main" noGrp="1"/>
          </p:cNvSpPr>
          <p:nvPr/>
        </p:nvSpPr>
        <p:spPr>
          <a:xfrm xmlns:a="http://schemas.openxmlformats.org/drawingml/2006/main">
            <a:off x="566928" y="1225296"/>
            <a:ext cx="106070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5C6978"/>
                </a:solidFill>
                <a:latin typeface="Aptos"/>
                <a:ea typeface="Aptos"/>
                <a:cs typeface="Aptos"/>
              </a:rPr>
              <a:t>A hidden RAN–Core state mismatch can persist until it becomes a service problem.</a:t>
            </a:r>
            <a:endParaRPr sz="1300"/>
          </a:p>
        </p:txBody>
      </p:sp>
      <p:sp>
        <p:nvSpPr>
          <p:cNvPr id="5" name="Shape 3">
            <a:extLst xmlns:a="http://schemas.openxmlformats.org/drawingml/2006/main">
              <a:ext uri="{FF2B5EF4-FFF2-40B4-BE49-F238E27FC236}">
                <a16:creationId xmlns:a16="http://schemas.microsoft.com/office/drawing/2014/main" id="{ACE5CE62-B5E1-4E67-BDC4-23922FD70141}"/>
              </a:ext>
            </a:extLst>
          </p:cNvPr>
          <p:cNvSpPr>
            <a:spLocks xmlns:a="http://schemas.openxmlformats.org/drawingml/2006/main" noGrp="1"/>
          </p:cNvSpPr>
          <p:nvPr/>
        </p:nvSpPr>
        <p:spPr>
          <a:xfrm xmlns:a="http://schemas.openxmlformats.org/drawingml/2006/main">
            <a:off x="566928" y="1828800"/>
            <a:ext cx="6400800" cy="3931920"/>
          </a:xfrm>
          <a:prstGeom xmlns:a="http://schemas.openxmlformats.org/drawingml/2006/main" prst="roundRect">
            <a:avLst>
              <a:gd name="adj" fmla="val 2093"/>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A40A84FC-060F-4CC3-9F6E-0C1C8DBECE80}"/>
              </a:ext>
            </a:extLst>
          </p:cNvPr>
          <p:cNvSpPr>
            <a:spLocks xmlns:a="http://schemas.openxmlformats.org/drawingml/2006/main" noGrp="1"/>
          </p:cNvSpPr>
          <p:nvPr/>
        </p:nvSpPr>
        <p:spPr>
          <a:xfrm xmlns:a="http://schemas.openxmlformats.org/drawingml/2006/main">
            <a:off x="859536" y="2103120"/>
            <a:ext cx="420624" cy="420624"/>
          </a:xfrm>
          <a:prstGeom xmlns:a="http://schemas.openxmlformats.org/drawingml/2006/main" prst="ellipse">
            <a:avLst/>
          </a:prstGeom>
          <a:solidFill xmlns:a="http://schemas.openxmlformats.org/drawingml/2006/main">
            <a:srgbClr val="FFFFFF"/>
          </a:solidFill>
          <a:ln xmlns:a="http://schemas.openxmlformats.org/drawingml/2006/main" w="19050">
            <a:solidFill>
              <a:srgbClr val="C94C4C"/>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74064043-01AC-47C4-B007-7BB63578C5F4}"/>
              </a:ext>
            </a:extLst>
          </p:cNvPr>
          <p:cNvSpPr>
            <a:spLocks xmlns:a="http://schemas.openxmlformats.org/drawingml/2006/main" noGrp="1"/>
          </p:cNvSpPr>
          <p:nvPr/>
        </p:nvSpPr>
        <p:spPr>
          <a:xfrm xmlns:a="http://schemas.openxmlformats.org/drawingml/2006/main">
            <a:off x="859536" y="2103120"/>
            <a:ext cx="420624" cy="42062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C94C4C"/>
                </a:solidFill>
                <a:latin typeface="Aptos"/>
                <a:ea typeface="Aptos"/>
                <a:cs typeface="Aptos"/>
              </a:rPr>
              <a:t>!</a:t>
            </a:r>
            <a:endParaRPr sz="1200"/>
          </a:p>
        </p:txBody>
      </p:sp>
      <p:sp>
        <p:nvSpPr>
          <p:cNvPr id="8" name="Text 6">
            <a:extLst xmlns:a="http://schemas.openxmlformats.org/drawingml/2006/main">
              <a:ext uri="{FF2B5EF4-FFF2-40B4-BE49-F238E27FC236}">
                <a16:creationId xmlns:a16="http://schemas.microsoft.com/office/drawing/2014/main" id="{4D92E91F-6AD1-4930-9F1F-03A396EEB2A6}"/>
              </a:ext>
            </a:extLst>
          </p:cNvPr>
          <p:cNvSpPr>
            <a:spLocks xmlns:a="http://schemas.openxmlformats.org/drawingml/2006/main" noGrp="1"/>
          </p:cNvSpPr>
          <p:nvPr/>
        </p:nvSpPr>
        <p:spPr>
          <a:xfrm xmlns:a="http://schemas.openxmlformats.org/drawingml/2006/main">
            <a:off x="1481328" y="2048256"/>
            <a:ext cx="36576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1A344D"/>
                </a:solidFill>
                <a:latin typeface="Aptos"/>
                <a:ea typeface="Aptos"/>
                <a:cs typeface="Aptos"/>
              </a:rPr>
              <a:t>Problem</a:t>
            </a:r>
            <a:endParaRPr sz="1600"/>
          </a:p>
        </p:txBody>
      </p:sp>
      <p:sp>
        <p:nvSpPr>
          <p:cNvPr id="9" name="Text 7">
            <a:extLst xmlns:a="http://schemas.openxmlformats.org/drawingml/2006/main">
              <a:ext uri="{FF2B5EF4-FFF2-40B4-BE49-F238E27FC236}">
                <a16:creationId xmlns:a16="http://schemas.microsoft.com/office/drawing/2014/main" id="{6F521748-3ECE-4F99-AAED-DB3A4500F03A}"/>
              </a:ext>
            </a:extLst>
          </p:cNvPr>
          <p:cNvSpPr>
            <a:spLocks xmlns:a="http://schemas.openxmlformats.org/drawingml/2006/main" noGrp="1"/>
          </p:cNvSpPr>
          <p:nvPr/>
        </p:nvSpPr>
        <p:spPr>
          <a:xfrm xmlns:a="http://schemas.openxmlformats.org/drawingml/2006/main">
            <a:off x="859536" y="2589414"/>
            <a:ext cx="5806440" cy="21031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r>
              <a:rPr sz="1300">
                <a:solidFill>
                  <a:srgbClr val="1A344D"/>
                </a:solidFill>
                <a:latin typeface="Aptos"/>
                <a:ea typeface="Aptos"/>
                <a:cs typeface="Aptos"/>
              </a:rPr>
              <a:t>In 5G, UE context is maintained independently across the RAN and Core.</a:t>
            </a:r>
            <a:br>
              <a:rPr sz="1300">
                <a:solidFill>
                  <a:srgbClr val="1A344D"/>
                </a:solidFill>
                <a:latin typeface="Aptos"/>
                <a:ea typeface="Aptos"/>
                <a:cs typeface="Aptos"/>
              </a:rPr>
            </a:br>
            <a:br>
              <a:rPr sz="1300">
                <a:solidFill>
                  <a:srgbClr val="1A344D"/>
                </a:solidFill>
                <a:latin typeface="Aptos"/>
                <a:ea typeface="Aptos"/>
                <a:cs typeface="Aptos"/>
              </a:rPr>
            </a:br>
            <a:r>
              <a:rPr sz="1400"/>
              <a:t>Our problem is that after a signaling fault, the RAN and Core can hold different states for the same UE, and this hidden mismatch may remain undetected until it causes a service problem.</a:t>
            </a:r>
            <a:endParaRPr sz="1300"/>
          </a:p>
        </p:txBody>
      </p:sp>
      <p:sp>
        <p:nvSpPr>
          <p:cNvPr id="10" name="Shape 8">
            <a:extLst xmlns:a="http://schemas.openxmlformats.org/drawingml/2006/main">
              <a:ext uri="{FF2B5EF4-FFF2-40B4-BE49-F238E27FC236}">
                <a16:creationId xmlns:a16="http://schemas.microsoft.com/office/drawing/2014/main" id="{ED014FA6-8D9F-4BE5-B43A-D875D54566C6}"/>
              </a:ext>
            </a:extLst>
          </p:cNvPr>
          <p:cNvSpPr>
            <a:spLocks xmlns:a="http://schemas.openxmlformats.org/drawingml/2006/main" noGrp="1"/>
          </p:cNvSpPr>
          <p:nvPr/>
        </p:nvSpPr>
        <p:spPr>
          <a:xfrm xmlns:a="http://schemas.openxmlformats.org/drawingml/2006/main">
            <a:off x="859536" y="5074920"/>
            <a:ext cx="5806440" cy="0"/>
          </a:xfrm>
          <a:prstGeom xmlns:a="http://schemas.openxmlformats.org/drawingml/2006/main" prst="line">
            <a:avLst/>
          </a:prstGeom>
          <a:noFill xmlns:a="http://schemas.openxmlformats.org/drawingml/2006/main"/>
          <a:ln xmlns:a="http://schemas.openxmlformats.org/drawingml/2006/main" w="12700">
            <a:solidFill>
              <a:srgbClr val="E4E9F0"/>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83C026CE-625A-40FE-9D56-D592715BE554}"/>
              </a:ext>
            </a:extLst>
          </p:cNvPr>
          <p:cNvSpPr>
            <a:spLocks xmlns:a="http://schemas.openxmlformats.org/drawingml/2006/main" noGrp="1"/>
          </p:cNvSpPr>
          <p:nvPr/>
        </p:nvSpPr>
        <p:spPr>
          <a:xfrm xmlns:a="http://schemas.openxmlformats.org/drawingml/2006/main">
            <a:off x="859536" y="5212080"/>
            <a:ext cx="580644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i="1">
                <a:solidFill>
                  <a:srgbClr val="5C6978"/>
                </a:solidFill>
                <a:latin typeface="Aptos"/>
                <a:ea typeface="Aptos"/>
                <a:cs typeface="Aptos"/>
              </a:rPr>
              <a:t>Faults represent application processing failures, not permanent SCTP packet loss.</a:t>
            </a:r>
            <a:endParaRPr sz="1150"/>
          </a:p>
        </p:txBody>
      </p:sp>
      <p:sp>
        <p:nvSpPr>
          <p:cNvPr id="12" name="Shape 10">
            <a:extLst xmlns:a="http://schemas.openxmlformats.org/drawingml/2006/main">
              <a:ext uri="{FF2B5EF4-FFF2-40B4-BE49-F238E27FC236}">
                <a16:creationId xmlns:a16="http://schemas.microsoft.com/office/drawing/2014/main" id="{25A3B728-A08B-4215-A18C-C402C73CF8BE}"/>
              </a:ext>
            </a:extLst>
          </p:cNvPr>
          <p:cNvSpPr>
            <a:spLocks xmlns:a="http://schemas.openxmlformats.org/drawingml/2006/main" noGrp="1"/>
          </p:cNvSpPr>
          <p:nvPr/>
        </p:nvSpPr>
        <p:spPr>
          <a:xfrm xmlns:a="http://schemas.openxmlformats.org/drawingml/2006/main">
            <a:off x="7287768" y="1828800"/>
            <a:ext cx="4343400" cy="1280160"/>
          </a:xfrm>
          <a:prstGeom xmlns:a="http://schemas.openxmlformats.org/drawingml/2006/main" prst="roundRect">
            <a:avLst>
              <a:gd name="adj" fmla="val 6429"/>
            </a:avLst>
          </a:prstGeom>
          <a:solidFill xmlns:a="http://schemas.openxmlformats.org/drawingml/2006/main">
            <a:srgbClr val="EEF3FD"/>
          </a:solidFill>
          <a:ln xmlns:a="http://schemas.openxmlformats.org/drawingml/2006/main" w="12700">
            <a:solidFill>
              <a:srgbClr val="2F6FED"/>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9AEB946A-0567-4CA2-AFC5-F73FA4522538}"/>
              </a:ext>
            </a:extLst>
          </p:cNvPr>
          <p:cNvSpPr>
            <a:spLocks xmlns:a="http://schemas.openxmlformats.org/drawingml/2006/main" noGrp="1"/>
          </p:cNvSpPr>
          <p:nvPr/>
        </p:nvSpPr>
        <p:spPr>
          <a:xfrm xmlns:a="http://schemas.openxmlformats.org/drawingml/2006/main">
            <a:off x="7516368" y="2048256"/>
            <a:ext cx="365760" cy="365760"/>
          </a:xfrm>
          <a:prstGeom xmlns:a="http://schemas.openxmlformats.org/drawingml/2006/main" prst="ellipse">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2264471F-9333-45CA-B375-6D97FD186B2B}"/>
              </a:ext>
            </a:extLst>
          </p:cNvPr>
          <p:cNvSpPr>
            <a:spLocks xmlns:a="http://schemas.openxmlformats.org/drawingml/2006/main" noGrp="1"/>
          </p:cNvSpPr>
          <p:nvPr/>
        </p:nvSpPr>
        <p:spPr>
          <a:xfrm xmlns:a="http://schemas.openxmlformats.org/drawingml/2006/main">
            <a:off x="7516368" y="2048256"/>
            <a:ext cx="365760" cy="36576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2F6FED"/>
                </a:solidFill>
                <a:latin typeface="Aptos"/>
                <a:ea typeface="Aptos"/>
                <a:cs typeface="Aptos"/>
              </a:rPr>
              <a:t>R</a:t>
            </a:r>
            <a:endParaRPr sz="1200"/>
          </a:p>
        </p:txBody>
      </p:sp>
      <p:sp>
        <p:nvSpPr>
          <p:cNvPr id="15" name="Text 13">
            <a:extLst xmlns:a="http://schemas.openxmlformats.org/drawingml/2006/main">
              <a:ext uri="{FF2B5EF4-FFF2-40B4-BE49-F238E27FC236}">
                <a16:creationId xmlns:a16="http://schemas.microsoft.com/office/drawing/2014/main" id="{0FEA53DD-A644-4699-97DC-BCE06F4F0D17}"/>
              </a:ext>
            </a:extLst>
          </p:cNvPr>
          <p:cNvSpPr>
            <a:spLocks xmlns:a="http://schemas.openxmlformats.org/drawingml/2006/main" noGrp="1"/>
          </p:cNvSpPr>
          <p:nvPr/>
        </p:nvSpPr>
        <p:spPr>
          <a:xfrm xmlns:a="http://schemas.openxmlformats.org/drawingml/2006/main">
            <a:off x="8001000" y="2011680"/>
            <a:ext cx="2743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A344D"/>
                </a:solidFill>
                <a:latin typeface="Aptos"/>
                <a:ea typeface="Aptos"/>
                <a:cs typeface="Aptos"/>
              </a:rPr>
              <a:t>RAN says</a:t>
            </a:r>
            <a:endParaRPr sz="1300"/>
          </a:p>
        </p:txBody>
      </p:sp>
      <p:sp>
        <p:nvSpPr>
          <p:cNvPr id="16" name="Text 14">
            <a:extLst xmlns:a="http://schemas.openxmlformats.org/drawingml/2006/main">
              <a:ext uri="{FF2B5EF4-FFF2-40B4-BE49-F238E27FC236}">
                <a16:creationId xmlns:a16="http://schemas.microsoft.com/office/drawing/2014/main" id="{03A4326D-D02F-425A-BD59-7BCAAEDC1B0D}"/>
              </a:ext>
            </a:extLst>
          </p:cNvPr>
          <p:cNvSpPr>
            <a:spLocks xmlns:a="http://schemas.openxmlformats.org/drawingml/2006/main" noGrp="1"/>
          </p:cNvSpPr>
          <p:nvPr/>
        </p:nvSpPr>
        <p:spPr>
          <a:xfrm xmlns:a="http://schemas.openxmlformats.org/drawingml/2006/main">
            <a:off x="8001000" y="2395728"/>
            <a:ext cx="3383280"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500"/>
              </a:lnSpc>
              <a:buNone/>
            </a:pPr>
            <a:r>
              <a:rPr sz="1100">
                <a:solidFill>
                  <a:srgbClr val="5C6978"/>
                </a:solidFill>
                <a:latin typeface="Aptos"/>
                <a:ea typeface="Aptos"/>
                <a:cs typeface="Aptos"/>
              </a:rPr>
              <a:t>RRC_CONNECTED</a:t>
            </a:r>
            <a:endParaRPr sz="1100"/>
          </a:p>
          <a:p xmlns:a="http://schemas.openxmlformats.org/drawingml/2006/main">
            <a:pPr marL="0" indent="0">
              <a:lnSpc>
                <a:spcPts val="1500"/>
              </a:lnSpc>
              <a:buNone/>
            </a:pPr>
            <a:r>
              <a:rPr sz="1100">
                <a:solidFill>
                  <a:srgbClr val="5C6978"/>
                </a:solidFill>
                <a:latin typeface="Aptos"/>
                <a:ea typeface="Aptos"/>
                <a:cs typeface="Aptos"/>
              </a:rPr>
              <a:t>QoS = new profile</a:t>
            </a:r>
          </a:p>
        </p:txBody>
      </p:sp>
      <p:sp>
        <p:nvSpPr>
          <p:cNvPr id="17" name="Shape 15">
            <a:extLst xmlns:a="http://schemas.openxmlformats.org/drawingml/2006/main">
              <a:ext uri="{FF2B5EF4-FFF2-40B4-BE49-F238E27FC236}">
                <a16:creationId xmlns:a16="http://schemas.microsoft.com/office/drawing/2014/main" id="{BB5C1C1A-89CD-4E71-AD5D-6E6C074EB44A}"/>
              </a:ext>
            </a:extLst>
          </p:cNvPr>
          <p:cNvSpPr>
            <a:spLocks xmlns:a="http://schemas.openxmlformats.org/drawingml/2006/main" noGrp="1"/>
          </p:cNvSpPr>
          <p:nvPr/>
        </p:nvSpPr>
        <p:spPr>
          <a:xfrm xmlns:a="http://schemas.openxmlformats.org/drawingml/2006/main">
            <a:off x="7287768" y="3291840"/>
            <a:ext cx="4343400" cy="1280160"/>
          </a:xfrm>
          <a:prstGeom xmlns:a="http://schemas.openxmlformats.org/drawingml/2006/main" prst="roundRect">
            <a:avLst>
              <a:gd name="adj" fmla="val 6429"/>
            </a:avLst>
          </a:prstGeom>
          <a:solidFill xmlns:a="http://schemas.openxmlformats.org/drawingml/2006/main">
            <a:srgbClr val="E9F6F3"/>
          </a:solidFill>
          <a:ln xmlns:a="http://schemas.openxmlformats.org/drawingml/2006/main" w="12700">
            <a:solidFill>
              <a:srgbClr val="1B9E8C"/>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6">
            <a:extLst xmlns:a="http://schemas.openxmlformats.org/drawingml/2006/main">
              <a:ext uri="{FF2B5EF4-FFF2-40B4-BE49-F238E27FC236}">
                <a16:creationId xmlns:a16="http://schemas.microsoft.com/office/drawing/2014/main" id="{A580EC59-B585-4EB0-AED5-D504255C648D}"/>
              </a:ext>
            </a:extLst>
          </p:cNvPr>
          <p:cNvSpPr>
            <a:spLocks xmlns:a="http://schemas.openxmlformats.org/drawingml/2006/main" noGrp="1"/>
          </p:cNvSpPr>
          <p:nvPr/>
        </p:nvSpPr>
        <p:spPr>
          <a:xfrm xmlns:a="http://schemas.openxmlformats.org/drawingml/2006/main">
            <a:off x="7516368" y="3511296"/>
            <a:ext cx="365760" cy="365760"/>
          </a:xfrm>
          <a:prstGeom xmlns:a="http://schemas.openxmlformats.org/drawingml/2006/main" prst="ellipse">
            <a:avLst/>
          </a:prstGeom>
          <a:solidFill xmlns:a="http://schemas.openxmlformats.org/drawingml/2006/main">
            <a:srgbClr val="FFFFFF"/>
          </a:solidFill>
          <a:ln xmlns:a="http://schemas.openxmlformats.org/drawingml/2006/main" w="19050">
            <a:solidFill>
              <a:srgbClr val="1B9E8C"/>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3ED77B31-9E40-4EBF-865A-36538B9DC05B}"/>
              </a:ext>
            </a:extLst>
          </p:cNvPr>
          <p:cNvSpPr>
            <a:spLocks xmlns:a="http://schemas.openxmlformats.org/drawingml/2006/main" noGrp="1"/>
          </p:cNvSpPr>
          <p:nvPr/>
        </p:nvSpPr>
        <p:spPr>
          <a:xfrm xmlns:a="http://schemas.openxmlformats.org/drawingml/2006/main">
            <a:off x="7516368" y="3511296"/>
            <a:ext cx="365760" cy="365760"/>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1B9E8C"/>
                </a:solidFill>
                <a:latin typeface="Aptos"/>
                <a:ea typeface="Aptos"/>
                <a:cs typeface="Aptos"/>
              </a:rPr>
              <a:t>C</a:t>
            </a:r>
            <a:endParaRPr sz="1200"/>
          </a:p>
        </p:txBody>
      </p:sp>
      <p:sp>
        <p:nvSpPr>
          <p:cNvPr id="20" name="Text 18">
            <a:extLst xmlns:a="http://schemas.openxmlformats.org/drawingml/2006/main">
              <a:ext uri="{FF2B5EF4-FFF2-40B4-BE49-F238E27FC236}">
                <a16:creationId xmlns:a16="http://schemas.microsoft.com/office/drawing/2014/main" id="{E0F67AC7-26BF-4B8A-9A65-CCF28798CF2C}"/>
              </a:ext>
            </a:extLst>
          </p:cNvPr>
          <p:cNvSpPr>
            <a:spLocks xmlns:a="http://schemas.openxmlformats.org/drawingml/2006/main" noGrp="1"/>
          </p:cNvSpPr>
          <p:nvPr/>
        </p:nvSpPr>
        <p:spPr>
          <a:xfrm xmlns:a="http://schemas.openxmlformats.org/drawingml/2006/main">
            <a:off x="8001000" y="3474720"/>
            <a:ext cx="2743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A344D"/>
                </a:solidFill>
                <a:latin typeface="Aptos"/>
                <a:ea typeface="Aptos"/>
                <a:cs typeface="Aptos"/>
              </a:rPr>
              <a:t>Core says</a:t>
            </a:r>
            <a:endParaRPr sz="1300"/>
          </a:p>
        </p:txBody>
      </p:sp>
      <p:sp>
        <p:nvSpPr>
          <p:cNvPr id="21" name="Text 19">
            <a:extLst xmlns:a="http://schemas.openxmlformats.org/drawingml/2006/main">
              <a:ext uri="{FF2B5EF4-FFF2-40B4-BE49-F238E27FC236}">
                <a16:creationId xmlns:a16="http://schemas.microsoft.com/office/drawing/2014/main" id="{1D34FA83-E675-4D8C-8BEC-D8B397BD1917}"/>
              </a:ext>
            </a:extLst>
          </p:cNvPr>
          <p:cNvSpPr>
            <a:spLocks xmlns:a="http://schemas.openxmlformats.org/drawingml/2006/main" noGrp="1"/>
          </p:cNvSpPr>
          <p:nvPr/>
        </p:nvSpPr>
        <p:spPr>
          <a:xfrm xmlns:a="http://schemas.openxmlformats.org/drawingml/2006/main">
            <a:off x="8001000" y="3858768"/>
            <a:ext cx="3383280" cy="5943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500"/>
              </a:lnSpc>
              <a:buNone/>
            </a:pPr>
            <a:r>
              <a:rPr sz="1100">
                <a:solidFill>
                  <a:srgbClr val="5C6978"/>
                </a:solidFill>
                <a:latin typeface="Aptos"/>
                <a:ea typeface="Aptos"/>
                <a:cs typeface="Aptos"/>
              </a:rPr>
              <a:t>PDU_SESSION_ACTIVE</a:t>
            </a:r>
            <a:endParaRPr sz="1100"/>
          </a:p>
          <a:p xmlns:a="http://schemas.openxmlformats.org/drawingml/2006/main">
            <a:pPr marL="0" indent="0">
              <a:lnSpc>
                <a:spcPts val="1500"/>
              </a:lnSpc>
              <a:buNone/>
            </a:pPr>
            <a:r>
              <a:rPr sz="1100">
                <a:solidFill>
                  <a:srgbClr val="5C6978"/>
                </a:solidFill>
                <a:latin typeface="Aptos"/>
                <a:ea typeface="Aptos"/>
                <a:cs typeface="Aptos"/>
              </a:rPr>
              <a:t>QoS = old profile</a:t>
            </a:r>
          </a:p>
        </p:txBody>
      </p:sp>
      <p:sp>
        <p:nvSpPr>
          <p:cNvPr id="22" name="Shape 20">
            <a:extLst xmlns:a="http://schemas.openxmlformats.org/drawingml/2006/main">
              <a:ext uri="{FF2B5EF4-FFF2-40B4-BE49-F238E27FC236}">
                <a16:creationId xmlns:a16="http://schemas.microsoft.com/office/drawing/2014/main" id="{3A2B3346-0017-4600-9155-D18547BD3CEA}"/>
              </a:ext>
            </a:extLst>
          </p:cNvPr>
          <p:cNvSpPr>
            <a:spLocks xmlns:a="http://schemas.openxmlformats.org/drawingml/2006/main" noGrp="1"/>
          </p:cNvSpPr>
          <p:nvPr/>
        </p:nvSpPr>
        <p:spPr>
          <a:xfrm xmlns:a="http://schemas.openxmlformats.org/drawingml/2006/main">
            <a:off x="7287768" y="4754880"/>
            <a:ext cx="4343400" cy="777240"/>
          </a:xfrm>
          <a:prstGeom xmlns:a="http://schemas.openxmlformats.org/drawingml/2006/main" prst="roundRect">
            <a:avLst>
              <a:gd name="adj" fmla="val 10588"/>
            </a:avLst>
          </a:prstGeom>
          <a:solidFill xmlns:a="http://schemas.openxmlformats.org/drawingml/2006/main">
            <a:srgbClr val="FCEAEA"/>
          </a:solidFill>
          <a:ln xmlns:a="http://schemas.openxmlformats.org/drawingml/2006/main" w="12700">
            <a:solidFill>
              <a:srgbClr val="C94C4C"/>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C2F2742B-9BF8-4ADC-818B-24FAA3335838}"/>
              </a:ext>
            </a:extLst>
          </p:cNvPr>
          <p:cNvSpPr>
            <a:spLocks xmlns:a="http://schemas.openxmlformats.org/drawingml/2006/main" noGrp="1"/>
          </p:cNvSpPr>
          <p:nvPr/>
        </p:nvSpPr>
        <p:spPr>
          <a:xfrm xmlns:a="http://schemas.openxmlformats.org/drawingml/2006/main">
            <a:off x="7287768" y="4754880"/>
            <a:ext cx="4343400"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C94C4C"/>
                </a:solidFill>
                <a:latin typeface="Aptos"/>
                <a:ea typeface="Aptos"/>
                <a:cs typeface="Aptos"/>
              </a:rPr>
              <a:t>MISMATCH = DESYNC</a:t>
            </a:r>
            <a:endParaRPr sz="1500"/>
          </a:p>
        </p:txBody>
      </p:sp>
      <p:sp>
        <p:nvSpPr>
          <p:cNvPr id="24" name="Text 22">
            <a:extLst xmlns:a="http://schemas.openxmlformats.org/drawingml/2006/main">
              <a:ext uri="{FF2B5EF4-FFF2-40B4-BE49-F238E27FC236}">
                <a16:creationId xmlns:a16="http://schemas.microsoft.com/office/drawing/2014/main" id="{FAC6AAC1-7BE3-4ED0-BB4E-C4B842265A79}"/>
              </a:ext>
            </a:extLst>
          </p:cNvPr>
          <p:cNvSpPr>
            <a:spLocks xmlns:a="http://schemas.openxmlformats.org/drawingml/2006/main" noGrp="1"/>
          </p:cNvSpPr>
          <p:nvPr/>
        </p:nvSpPr>
        <p:spPr>
          <a:xfrm xmlns:a="http://schemas.openxmlformats.org/drawingml/2006/main">
            <a:off x="566928" y="6510528"/>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00">
                <a:solidFill>
                  <a:srgbClr val="8A94A0"/>
                </a:solidFill>
                <a:latin typeface="Aptos"/>
                <a:ea typeface="Aptos"/>
                <a:cs typeface="Aptos"/>
              </a:rPr>
              <a:t>Final Project</a:t>
            </a:r>
            <a:r>
              <a:rPr sz="800">
                <a:solidFill>
                  <a:srgbClr val="8A94A0"/>
                </a:solidFill>
                <a:latin typeface="Aptos"/>
                <a:ea typeface="Aptos"/>
                <a:cs typeface="Aptos"/>
              </a:rPr>
              <a:t>  •  5G UE Context Desynchronization Detection and Recovery</a:t>
            </a:r>
            <a:endParaRPr sz="800"/>
          </a:p>
        </p:txBody>
      </p:sp>
      <p:sp>
        <p:nvSpPr>
          <p:cNvPr id="25" name="Text 23">
            <a:extLst xmlns:a="http://schemas.openxmlformats.org/drawingml/2006/main">
              <a:ext uri="{FF2B5EF4-FFF2-40B4-BE49-F238E27FC236}">
                <a16:creationId xmlns:a16="http://schemas.microsoft.com/office/drawing/2014/main" id="{FAE576A6-13CC-4A9C-A85C-A09E9650832C}"/>
              </a:ext>
            </a:extLst>
          </p:cNvPr>
          <p:cNvSpPr>
            <a:spLocks xmlns:a="http://schemas.openxmlformats.org/drawingml/2006/main" noGrp="1"/>
          </p:cNvSpPr>
          <p:nvPr/>
        </p:nvSpPr>
        <p:spPr>
          <a:xfrm xmlns:a="http://schemas.openxmlformats.org/drawingml/2006/main">
            <a:off x="11164824" y="6510528"/>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b="1">
                <a:solidFill>
                  <a:srgbClr val="8A94A0"/>
                </a:solidFill>
                <a:latin typeface="Aptos"/>
                <a:ea typeface="Aptos"/>
                <a:cs typeface="Aptos"/>
              </a:rPr>
              <a:t>05</a:t>
            </a:r>
            <a:endParaRPr sz="900"/>
          </a:p>
        </p:txBody>
      </p:sp>
    </p:spTree>
    <p:extLst>
      <p:ext uri="{BB962C8B-B14F-4D97-AF65-F5344CB8AC3E}">
        <p14:creationId xmlns:p14="http://schemas.microsoft.com/office/powerpoint/2010/main" val="332005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hape 13">
            <a:extLst xmlns:a="http://schemas.openxmlformats.org/drawingml/2006/main">
              <a:ext uri="{FF2B5EF4-FFF2-40B4-BE49-F238E27FC236}">
                <a16:creationId xmlns:a16="http://schemas.microsoft.com/office/drawing/2014/main" id="{D31270FD-DF3B-4693-A1E1-F1482E1716C8}"/>
              </a:ext>
            </a:extLst>
          </p:cNvPr>
          <p:cNvSpPr>
            <a:spLocks xmlns:a="http://schemas.openxmlformats.org/drawingml/2006/main" noGrp="1"/>
          </p:cNvSpPr>
          <p:nvPr/>
        </p:nvSpPr>
        <p:spPr>
          <a:xfrm xmlns:a="http://schemas.openxmlformats.org/drawingml/2006/main">
            <a:off x="2834640" y="1860804"/>
            <a:ext cx="2066544" cy="1691640"/>
          </a:xfrm>
          <a:prstGeom xmlns:a="http://schemas.openxmlformats.org/drawingml/2006/main" prst="roundRect">
            <a:avLst>
              <a:gd name="adj" fmla="val 4865"/>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2" name="Text 0">
            <a:extLst xmlns:a="http://schemas.openxmlformats.org/drawingml/2006/main">
              <a:ext uri="{FF2B5EF4-FFF2-40B4-BE49-F238E27FC236}">
                <a16:creationId xmlns:a16="http://schemas.microsoft.com/office/drawing/2014/main" id="{5D08ECD0-FED4-440C-96BB-C332F776A5E7}"/>
              </a:ext>
            </a:extLst>
          </p:cNvPr>
          <p:cNvSpPr>
            <a:spLocks xmlns:a="http://schemas.openxmlformats.org/drawingml/2006/main" noGrp="1"/>
          </p:cNvSpPr>
          <p:nvPr/>
        </p:nvSpPr>
        <p:spPr>
          <a:xfrm xmlns:a="http://schemas.openxmlformats.org/drawingml/2006/main">
            <a:off x="566928"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2F6FED"/>
                </a:solidFill>
                <a:latin typeface="Aptos"/>
                <a:ea typeface="Aptos"/>
                <a:cs typeface="Aptos"/>
              </a:rPr>
              <a:t>05 · OBJECTIVES</a:t>
            </a:r>
            <a:endParaRPr sz="1100"/>
          </a:p>
        </p:txBody>
      </p:sp>
      <p:sp>
        <p:nvSpPr>
          <p:cNvPr id="3" name="Text 1">
            <a:extLst xmlns:a="http://schemas.openxmlformats.org/drawingml/2006/main">
              <a:ext uri="{FF2B5EF4-FFF2-40B4-BE49-F238E27FC236}">
                <a16:creationId xmlns:a16="http://schemas.microsoft.com/office/drawing/2014/main" id="{EB4CF133-DF03-47EC-A535-E3E53FC3C3D2}"/>
              </a:ext>
            </a:extLst>
          </p:cNvPr>
          <p:cNvSpPr>
            <a:spLocks xmlns:a="http://schemas.openxmlformats.org/drawingml/2006/main" noGrp="1"/>
          </p:cNvSpPr>
          <p:nvPr/>
        </p:nvSpPr>
        <p:spPr>
          <a:xfrm xmlns:a="http://schemas.openxmlformats.org/drawingml/2006/main">
            <a:off x="566928" y="676656"/>
            <a:ext cx="10789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344D"/>
                </a:solidFill>
                <a:latin typeface="Aptos"/>
                <a:ea typeface="Aptos"/>
                <a:cs typeface="Aptos"/>
              </a:rPr>
              <a:t>What the project delivers</a:t>
            </a:r>
            <a:endParaRPr sz="3000"/>
          </a:p>
        </p:txBody>
      </p:sp>
      <p:sp>
        <p:nvSpPr>
          <p:cNvPr id="4" name="Text 2">
            <a:extLst xmlns:a="http://schemas.openxmlformats.org/drawingml/2006/main">
              <a:ext uri="{FF2B5EF4-FFF2-40B4-BE49-F238E27FC236}">
                <a16:creationId xmlns:a16="http://schemas.microsoft.com/office/drawing/2014/main" id="{31831EB6-8921-4524-96DC-67B3DE0EF275}"/>
              </a:ext>
            </a:extLst>
          </p:cNvPr>
          <p:cNvSpPr>
            <a:spLocks xmlns:a="http://schemas.openxmlformats.org/drawingml/2006/main" noGrp="1"/>
          </p:cNvSpPr>
          <p:nvPr/>
        </p:nvSpPr>
        <p:spPr>
          <a:xfrm xmlns:a="http://schemas.openxmlformats.org/drawingml/2006/main">
            <a:off x="566928" y="1225296"/>
            <a:ext cx="106070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5C6978"/>
                </a:solidFill>
                <a:latin typeface="Aptos"/>
                <a:ea typeface="Aptos"/>
                <a:cs typeface="Aptos"/>
              </a:rPr>
              <a:t>Implemented scope: session establishment, QoS modification and resource release.</a:t>
            </a:r>
            <a:endParaRPr sz="1300"/>
          </a:p>
        </p:txBody>
      </p:sp>
      <p:sp>
        <p:nvSpPr>
          <p:cNvPr id="5" name="Shape 3">
            <a:extLst xmlns:a="http://schemas.openxmlformats.org/drawingml/2006/main">
              <a:ext uri="{FF2B5EF4-FFF2-40B4-BE49-F238E27FC236}">
                <a16:creationId xmlns:a16="http://schemas.microsoft.com/office/drawing/2014/main" id="{BEBD4B48-1059-4C98-940A-04AE40BAC475}"/>
              </a:ext>
            </a:extLst>
          </p:cNvPr>
          <p:cNvSpPr>
            <a:spLocks xmlns:a="http://schemas.openxmlformats.org/drawingml/2006/main" noGrp="1"/>
          </p:cNvSpPr>
          <p:nvPr/>
        </p:nvSpPr>
        <p:spPr>
          <a:xfrm xmlns:a="http://schemas.openxmlformats.org/drawingml/2006/main">
            <a:off x="566928" y="1828800"/>
            <a:ext cx="2066544" cy="1691640"/>
          </a:xfrm>
          <a:prstGeom xmlns:a="http://schemas.openxmlformats.org/drawingml/2006/main" prst="roundRect">
            <a:avLst>
              <a:gd name="adj" fmla="val 4865"/>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77E2310F-E173-4FF4-98E8-E726C661110A}"/>
              </a:ext>
            </a:extLst>
          </p:cNvPr>
          <p:cNvSpPr>
            <a:spLocks xmlns:a="http://schemas.openxmlformats.org/drawingml/2006/main" noGrp="1"/>
          </p:cNvSpPr>
          <p:nvPr/>
        </p:nvSpPr>
        <p:spPr>
          <a:xfrm xmlns:a="http://schemas.openxmlformats.org/drawingml/2006/main">
            <a:off x="768096" y="2048256"/>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760FD2A6-967B-47A5-BDCB-12A65689D1E8}"/>
              </a:ext>
            </a:extLst>
          </p:cNvPr>
          <p:cNvSpPr>
            <a:spLocks xmlns:a="http://schemas.openxmlformats.org/drawingml/2006/main" noGrp="1"/>
          </p:cNvSpPr>
          <p:nvPr/>
        </p:nvSpPr>
        <p:spPr>
          <a:xfrm xmlns:a="http://schemas.openxmlformats.org/drawingml/2006/main">
            <a:off x="768096" y="2048256"/>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900" b="1">
                <a:solidFill>
                  <a:srgbClr val="2F6FED"/>
                </a:solidFill>
                <a:latin typeface="Aptos"/>
                <a:ea typeface="Aptos"/>
                <a:cs typeface="Aptos"/>
              </a:rPr>
              <a:t>01</a:t>
            </a:r>
            <a:endParaRPr sz="900"/>
          </a:p>
        </p:txBody>
      </p:sp>
      <p:sp>
        <p:nvSpPr>
          <p:cNvPr id="8" name="Text 6">
            <a:extLst xmlns:a="http://schemas.openxmlformats.org/drawingml/2006/main">
              <a:ext uri="{FF2B5EF4-FFF2-40B4-BE49-F238E27FC236}">
                <a16:creationId xmlns:a16="http://schemas.microsoft.com/office/drawing/2014/main" id="{2F79DF58-3F8F-490A-BB38-DF1A3F80F146}"/>
              </a:ext>
            </a:extLst>
          </p:cNvPr>
          <p:cNvSpPr>
            <a:spLocks xmlns:a="http://schemas.openxmlformats.org/drawingml/2006/main" noGrp="1"/>
          </p:cNvSpPr>
          <p:nvPr/>
        </p:nvSpPr>
        <p:spPr>
          <a:xfrm xmlns:a="http://schemas.openxmlformats.org/drawingml/2006/main">
            <a:off x="768096" y="2578608"/>
            <a:ext cx="1664208"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A344D"/>
                </a:solidFill>
                <a:latin typeface="Aptos"/>
                <a:ea typeface="Aptos"/>
                <a:cs typeface="Aptos"/>
              </a:rPr>
              <a:t>Model</a:t>
            </a:r>
            <a:endParaRPr sz="1350"/>
          </a:p>
        </p:txBody>
      </p:sp>
      <p:sp>
        <p:nvSpPr>
          <p:cNvPr id="9" name="Text 7">
            <a:extLst xmlns:a="http://schemas.openxmlformats.org/drawingml/2006/main">
              <a:ext uri="{FF2B5EF4-FFF2-40B4-BE49-F238E27FC236}">
                <a16:creationId xmlns:a16="http://schemas.microsoft.com/office/drawing/2014/main" id="{08F0E31C-8DB3-4C4D-9519-49D5BACD11B3}"/>
              </a:ext>
            </a:extLst>
          </p:cNvPr>
          <p:cNvSpPr>
            <a:spLocks xmlns:a="http://schemas.openxmlformats.org/drawingml/2006/main" noGrp="1"/>
          </p:cNvSpPr>
          <p:nvPr/>
        </p:nvSpPr>
        <p:spPr>
          <a:xfrm xmlns:a="http://schemas.openxmlformats.org/drawingml/2006/main">
            <a:off x="768096" y="2907792"/>
            <a:ext cx="166420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950">
                <a:solidFill>
                  <a:srgbClr val="5C6978"/>
                </a:solidFill>
                <a:latin typeface="Aptos"/>
                <a:ea typeface="Aptos"/>
                <a:cs typeface="Aptos"/>
              </a:rPr>
              <a:t>Coupled context state models</a:t>
            </a:r>
            <a:endParaRPr sz="950"/>
          </a:p>
        </p:txBody>
      </p:sp>
      <p:sp>
        <p:nvSpPr>
          <p:cNvPr id="10" name="Shape 8">
            <a:extLst xmlns:a="http://schemas.openxmlformats.org/drawingml/2006/main">
              <a:ext uri="{FF2B5EF4-FFF2-40B4-BE49-F238E27FC236}">
                <a16:creationId xmlns:a16="http://schemas.microsoft.com/office/drawing/2014/main" id="{BF639254-59E9-45AF-9304-C717C0D812B0}"/>
              </a:ext>
            </a:extLst>
          </p:cNvPr>
          <p:cNvSpPr>
            <a:spLocks xmlns:a="http://schemas.openxmlformats.org/drawingml/2006/main" noGrp="1"/>
          </p:cNvSpPr>
          <p:nvPr/>
        </p:nvSpPr>
        <p:spPr>
          <a:xfrm xmlns:a="http://schemas.openxmlformats.org/drawingml/2006/main">
            <a:off x="5062728" y="1874520"/>
            <a:ext cx="2066544" cy="1691640"/>
          </a:xfrm>
          <a:prstGeom xmlns:a="http://schemas.openxmlformats.org/drawingml/2006/main" prst="roundRect">
            <a:avLst>
              <a:gd name="adj" fmla="val 4865"/>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B7E5D510-DD74-4FA5-895C-A96DB4B17DC7}"/>
              </a:ext>
            </a:extLst>
          </p:cNvPr>
          <p:cNvSpPr>
            <a:spLocks xmlns:a="http://schemas.openxmlformats.org/drawingml/2006/main" noGrp="1"/>
          </p:cNvSpPr>
          <p:nvPr/>
        </p:nvSpPr>
        <p:spPr>
          <a:xfrm xmlns:a="http://schemas.openxmlformats.org/drawingml/2006/main">
            <a:off x="2990088" y="2121408"/>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1B9E8C"/>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43DAB4E6-147C-4EED-84B4-3EEF231D1E92}"/>
              </a:ext>
            </a:extLst>
          </p:cNvPr>
          <p:cNvSpPr>
            <a:spLocks xmlns:a="http://schemas.openxmlformats.org/drawingml/2006/main" noGrp="1"/>
          </p:cNvSpPr>
          <p:nvPr/>
        </p:nvSpPr>
        <p:spPr>
          <a:xfrm xmlns:a="http://schemas.openxmlformats.org/drawingml/2006/main">
            <a:off x="2990088" y="2121408"/>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900" b="1">
                <a:solidFill>
                  <a:srgbClr val="1B9E8C"/>
                </a:solidFill>
                <a:latin typeface="Aptos"/>
                <a:ea typeface="Aptos"/>
                <a:cs typeface="Aptos"/>
              </a:rPr>
              <a:t>02</a:t>
            </a:r>
            <a:endParaRPr sz="900"/>
          </a:p>
        </p:txBody>
      </p:sp>
      <p:sp>
        <p:nvSpPr>
          <p:cNvPr id="13" name="Text 11">
            <a:extLst xmlns:a="http://schemas.openxmlformats.org/drawingml/2006/main">
              <a:ext uri="{FF2B5EF4-FFF2-40B4-BE49-F238E27FC236}">
                <a16:creationId xmlns:a16="http://schemas.microsoft.com/office/drawing/2014/main" id="{9563993B-9A5F-46CF-A3BC-0287705F4B15}"/>
              </a:ext>
            </a:extLst>
          </p:cNvPr>
          <p:cNvSpPr>
            <a:spLocks xmlns:a="http://schemas.openxmlformats.org/drawingml/2006/main" noGrp="1"/>
          </p:cNvSpPr>
          <p:nvPr/>
        </p:nvSpPr>
        <p:spPr>
          <a:xfrm xmlns:a="http://schemas.openxmlformats.org/drawingml/2006/main">
            <a:off x="5167884" y="2606040"/>
            <a:ext cx="1664208"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A344D"/>
                </a:solidFill>
                <a:latin typeface="Aptos"/>
                <a:ea typeface="Aptos"/>
                <a:cs typeface="Aptos"/>
              </a:rPr>
              <a:t>Verify</a:t>
            </a:r>
            <a:endParaRPr sz="1350"/>
          </a:p>
        </p:txBody>
      </p:sp>
      <p:sp>
        <p:nvSpPr>
          <p:cNvPr id="14" name="Text 12">
            <a:extLst xmlns:a="http://schemas.openxmlformats.org/drawingml/2006/main">
              <a:ext uri="{FF2B5EF4-FFF2-40B4-BE49-F238E27FC236}">
                <a16:creationId xmlns:a16="http://schemas.microsoft.com/office/drawing/2014/main" id="{49162F6D-EBBC-4950-A067-011A6FF40B1E}"/>
              </a:ext>
            </a:extLst>
          </p:cNvPr>
          <p:cNvSpPr>
            <a:spLocks xmlns:a="http://schemas.openxmlformats.org/drawingml/2006/main" noGrp="1"/>
          </p:cNvSpPr>
          <p:nvPr/>
        </p:nvSpPr>
        <p:spPr>
          <a:xfrm xmlns:a="http://schemas.openxmlformats.org/drawingml/2006/main">
            <a:off x="5149596" y="2935224"/>
            <a:ext cx="1933956"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950">
                <a:solidFill>
                  <a:srgbClr val="5C6978"/>
                </a:solidFill>
                <a:latin typeface="Aptos"/>
                <a:ea typeface="Aptos"/>
                <a:cs typeface="Aptos"/>
              </a:rPr>
              <a:t>Orphan resources, access-resource mismatch and QoS mismatch</a:t>
            </a:r>
            <a:endParaRPr sz="950"/>
          </a:p>
        </p:txBody>
      </p:sp>
      <p:sp>
        <p:nvSpPr>
          <p:cNvPr id="16" name="Shape 14">
            <a:extLst xmlns:a="http://schemas.openxmlformats.org/drawingml/2006/main">
              <a:ext uri="{FF2B5EF4-FFF2-40B4-BE49-F238E27FC236}">
                <a16:creationId xmlns:a16="http://schemas.microsoft.com/office/drawing/2014/main" id="{80B6693B-3081-4420-91BE-E8BFEDF04ACF}"/>
              </a:ext>
            </a:extLst>
          </p:cNvPr>
          <p:cNvSpPr>
            <a:spLocks xmlns:a="http://schemas.openxmlformats.org/drawingml/2006/main" noGrp="1"/>
          </p:cNvSpPr>
          <p:nvPr/>
        </p:nvSpPr>
        <p:spPr>
          <a:xfrm xmlns:a="http://schemas.openxmlformats.org/drawingml/2006/main">
            <a:off x="5321808" y="2121408"/>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CC842D"/>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1B5B9872-E773-4E28-B82F-F0F6EA277B22}"/>
              </a:ext>
            </a:extLst>
          </p:cNvPr>
          <p:cNvSpPr>
            <a:spLocks xmlns:a="http://schemas.openxmlformats.org/drawingml/2006/main" noGrp="1"/>
          </p:cNvSpPr>
          <p:nvPr/>
        </p:nvSpPr>
        <p:spPr>
          <a:xfrm xmlns:a="http://schemas.openxmlformats.org/drawingml/2006/main">
            <a:off x="5321808" y="2121408"/>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900" b="1">
                <a:solidFill>
                  <a:srgbClr val="CC842D"/>
                </a:solidFill>
                <a:latin typeface="Aptos"/>
                <a:ea typeface="Aptos"/>
                <a:cs typeface="Aptos"/>
              </a:rPr>
              <a:t>03</a:t>
            </a:r>
            <a:endParaRPr sz="900"/>
          </a:p>
        </p:txBody>
      </p:sp>
      <p:sp>
        <p:nvSpPr>
          <p:cNvPr id="18" name="Text 16">
            <a:extLst xmlns:a="http://schemas.openxmlformats.org/drawingml/2006/main">
              <a:ext uri="{FF2B5EF4-FFF2-40B4-BE49-F238E27FC236}">
                <a16:creationId xmlns:a16="http://schemas.microsoft.com/office/drawing/2014/main" id="{57A61C3D-0D1F-49A8-A588-5DBF3653DA55}"/>
              </a:ext>
            </a:extLst>
          </p:cNvPr>
          <p:cNvSpPr>
            <a:spLocks xmlns:a="http://schemas.openxmlformats.org/drawingml/2006/main" noGrp="1"/>
          </p:cNvSpPr>
          <p:nvPr/>
        </p:nvSpPr>
        <p:spPr>
          <a:xfrm xmlns:a="http://schemas.openxmlformats.org/drawingml/2006/main">
            <a:off x="3035808" y="2610612"/>
            <a:ext cx="1664208"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A344D"/>
                </a:solidFill>
                <a:latin typeface="Aptos"/>
                <a:ea typeface="Aptos"/>
                <a:cs typeface="Aptos"/>
              </a:rPr>
              <a:t>Simulate</a:t>
            </a:r>
            <a:endParaRPr sz="1350"/>
          </a:p>
        </p:txBody>
      </p:sp>
      <p:sp>
        <p:nvSpPr>
          <p:cNvPr id="19" name="Text 17">
            <a:extLst xmlns:a="http://schemas.openxmlformats.org/drawingml/2006/main">
              <a:ext uri="{FF2B5EF4-FFF2-40B4-BE49-F238E27FC236}">
                <a16:creationId xmlns:a16="http://schemas.microsoft.com/office/drawing/2014/main" id="{F8102B49-C07D-454D-AE0F-E35C71DBAEF5}"/>
              </a:ext>
            </a:extLst>
          </p:cNvPr>
          <p:cNvSpPr>
            <a:spLocks xmlns:a="http://schemas.openxmlformats.org/drawingml/2006/main" noGrp="1"/>
          </p:cNvSpPr>
          <p:nvPr/>
        </p:nvSpPr>
        <p:spPr>
          <a:xfrm xmlns:a="http://schemas.openxmlformats.org/drawingml/2006/main">
            <a:off x="3035808" y="2957253"/>
            <a:ext cx="166420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950">
                <a:solidFill>
                  <a:srgbClr val="5C6978"/>
                </a:solidFill>
                <a:latin typeface="Aptos"/>
                <a:ea typeface="Aptos"/>
                <a:cs typeface="Aptos"/>
              </a:rPr>
              <a:t>Processing faults and delayed / reordered observations</a:t>
            </a:r>
            <a:endParaRPr sz="950"/>
          </a:p>
        </p:txBody>
      </p:sp>
      <p:sp>
        <p:nvSpPr>
          <p:cNvPr id="20" name="Shape 18">
            <a:extLst xmlns:a="http://schemas.openxmlformats.org/drawingml/2006/main">
              <a:ext uri="{FF2B5EF4-FFF2-40B4-BE49-F238E27FC236}">
                <a16:creationId xmlns:a16="http://schemas.microsoft.com/office/drawing/2014/main" id="{6DAAB322-B0A7-4C10-90A9-66ABCCDB6C29}"/>
              </a:ext>
            </a:extLst>
          </p:cNvPr>
          <p:cNvSpPr>
            <a:spLocks xmlns:a="http://schemas.openxmlformats.org/drawingml/2006/main" noGrp="1"/>
          </p:cNvSpPr>
          <p:nvPr/>
        </p:nvSpPr>
        <p:spPr>
          <a:xfrm xmlns:a="http://schemas.openxmlformats.org/drawingml/2006/main">
            <a:off x="7232904" y="1828800"/>
            <a:ext cx="2066544" cy="1691640"/>
          </a:xfrm>
          <a:prstGeom xmlns:a="http://schemas.openxmlformats.org/drawingml/2006/main" prst="roundRect">
            <a:avLst>
              <a:gd name="adj" fmla="val 4865"/>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9">
            <a:extLst xmlns:a="http://schemas.openxmlformats.org/drawingml/2006/main">
              <a:ext uri="{FF2B5EF4-FFF2-40B4-BE49-F238E27FC236}">
                <a16:creationId xmlns:a16="http://schemas.microsoft.com/office/drawing/2014/main" id="{09DD45A8-0020-471F-8047-9B986CDC222F}"/>
              </a:ext>
            </a:extLst>
          </p:cNvPr>
          <p:cNvSpPr>
            <a:spLocks xmlns:a="http://schemas.openxmlformats.org/drawingml/2006/main" noGrp="1"/>
          </p:cNvSpPr>
          <p:nvPr/>
        </p:nvSpPr>
        <p:spPr>
          <a:xfrm xmlns:a="http://schemas.openxmlformats.org/drawingml/2006/main">
            <a:off x="7434072" y="2048256"/>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C94C4C"/>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B88C4C61-EAB7-4F8A-A542-40D4BAAFBDA1}"/>
              </a:ext>
            </a:extLst>
          </p:cNvPr>
          <p:cNvSpPr>
            <a:spLocks xmlns:a="http://schemas.openxmlformats.org/drawingml/2006/main" noGrp="1"/>
          </p:cNvSpPr>
          <p:nvPr/>
        </p:nvSpPr>
        <p:spPr>
          <a:xfrm xmlns:a="http://schemas.openxmlformats.org/drawingml/2006/main">
            <a:off x="7434072" y="2048256"/>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900" b="1">
                <a:solidFill>
                  <a:srgbClr val="C94C4C"/>
                </a:solidFill>
                <a:latin typeface="Aptos"/>
                <a:ea typeface="Aptos"/>
                <a:cs typeface="Aptos"/>
              </a:rPr>
              <a:t>04</a:t>
            </a:r>
            <a:endParaRPr sz="900"/>
          </a:p>
        </p:txBody>
      </p:sp>
      <p:sp>
        <p:nvSpPr>
          <p:cNvPr id="23" name="Text 21">
            <a:extLst xmlns:a="http://schemas.openxmlformats.org/drawingml/2006/main">
              <a:ext uri="{FF2B5EF4-FFF2-40B4-BE49-F238E27FC236}">
                <a16:creationId xmlns:a16="http://schemas.microsoft.com/office/drawing/2014/main" id="{5ED0522E-C32D-441B-A71C-BD4FABE33F5A}"/>
              </a:ext>
            </a:extLst>
          </p:cNvPr>
          <p:cNvSpPr>
            <a:spLocks xmlns:a="http://schemas.openxmlformats.org/drawingml/2006/main" noGrp="1"/>
          </p:cNvSpPr>
          <p:nvPr/>
        </p:nvSpPr>
        <p:spPr>
          <a:xfrm xmlns:a="http://schemas.openxmlformats.org/drawingml/2006/main">
            <a:off x="7434072" y="2578608"/>
            <a:ext cx="1664208"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A344D"/>
                </a:solidFill>
                <a:latin typeface="Aptos"/>
                <a:ea typeface="Aptos"/>
                <a:cs typeface="Aptos"/>
              </a:rPr>
              <a:t>Evaluate</a:t>
            </a:r>
            <a:endParaRPr sz="1350"/>
          </a:p>
        </p:txBody>
      </p:sp>
      <p:sp>
        <p:nvSpPr>
          <p:cNvPr id="24" name="Text 22">
            <a:extLst xmlns:a="http://schemas.openxmlformats.org/drawingml/2006/main">
              <a:ext uri="{FF2B5EF4-FFF2-40B4-BE49-F238E27FC236}">
                <a16:creationId xmlns:a16="http://schemas.microsoft.com/office/drawing/2014/main" id="{6FDCBF93-D3D8-489C-93BC-4E46F93A696E}"/>
              </a:ext>
            </a:extLst>
          </p:cNvPr>
          <p:cNvSpPr>
            <a:spLocks xmlns:a="http://schemas.openxmlformats.org/drawingml/2006/main" noGrp="1"/>
          </p:cNvSpPr>
          <p:nvPr/>
        </p:nvSpPr>
        <p:spPr>
          <a:xfrm xmlns:a="http://schemas.openxmlformats.org/drawingml/2006/main">
            <a:off x="7434072" y="2907792"/>
            <a:ext cx="166420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950">
                <a:solidFill>
                  <a:srgbClr val="5C6978"/>
                </a:solidFill>
                <a:latin typeface="Aptos"/>
                <a:ea typeface="Aptos"/>
                <a:cs typeface="Aptos"/>
              </a:rPr>
              <a:t>Precision, recall, probe lead time and false alarms</a:t>
            </a:r>
            <a:endParaRPr sz="950"/>
          </a:p>
        </p:txBody>
      </p:sp>
      <p:sp>
        <p:nvSpPr>
          <p:cNvPr id="25" name="Shape 23">
            <a:extLst xmlns:a="http://schemas.openxmlformats.org/drawingml/2006/main">
              <a:ext uri="{FF2B5EF4-FFF2-40B4-BE49-F238E27FC236}">
                <a16:creationId xmlns:a16="http://schemas.microsoft.com/office/drawing/2014/main" id="{50566697-C935-4DFD-8703-541EB949847D}"/>
              </a:ext>
            </a:extLst>
          </p:cNvPr>
          <p:cNvSpPr>
            <a:spLocks xmlns:a="http://schemas.openxmlformats.org/drawingml/2006/main" noGrp="1"/>
          </p:cNvSpPr>
          <p:nvPr/>
        </p:nvSpPr>
        <p:spPr>
          <a:xfrm xmlns:a="http://schemas.openxmlformats.org/drawingml/2006/main">
            <a:off x="9454896" y="1828800"/>
            <a:ext cx="2066544" cy="1691640"/>
          </a:xfrm>
          <a:prstGeom xmlns:a="http://schemas.openxmlformats.org/drawingml/2006/main" prst="roundRect">
            <a:avLst>
              <a:gd name="adj" fmla="val 4865"/>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289F0D4E-D9E6-4755-AFCF-CD0527617038}"/>
              </a:ext>
            </a:extLst>
          </p:cNvPr>
          <p:cNvSpPr>
            <a:spLocks xmlns:a="http://schemas.openxmlformats.org/drawingml/2006/main" noGrp="1"/>
          </p:cNvSpPr>
          <p:nvPr/>
        </p:nvSpPr>
        <p:spPr>
          <a:xfrm xmlns:a="http://schemas.openxmlformats.org/drawingml/2006/main">
            <a:off x="9656064" y="2048256"/>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2F8F5B"/>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Text 25">
            <a:extLst xmlns:a="http://schemas.openxmlformats.org/drawingml/2006/main">
              <a:ext uri="{FF2B5EF4-FFF2-40B4-BE49-F238E27FC236}">
                <a16:creationId xmlns:a16="http://schemas.microsoft.com/office/drawing/2014/main" id="{0E3AB200-6052-4B18-A3BE-D6E2FD8CC11F}"/>
              </a:ext>
            </a:extLst>
          </p:cNvPr>
          <p:cNvSpPr>
            <a:spLocks xmlns:a="http://schemas.openxmlformats.org/drawingml/2006/main" noGrp="1"/>
          </p:cNvSpPr>
          <p:nvPr/>
        </p:nvSpPr>
        <p:spPr>
          <a:xfrm xmlns:a="http://schemas.openxmlformats.org/drawingml/2006/main">
            <a:off x="9656064" y="2048256"/>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900" b="1">
                <a:solidFill>
                  <a:srgbClr val="2F8F5B"/>
                </a:solidFill>
                <a:latin typeface="Aptos"/>
                <a:ea typeface="Aptos"/>
                <a:cs typeface="Aptos"/>
              </a:rPr>
              <a:t>05</a:t>
            </a:r>
            <a:endParaRPr sz="900"/>
          </a:p>
        </p:txBody>
      </p:sp>
      <p:sp>
        <p:nvSpPr>
          <p:cNvPr id="28" name="Text 26">
            <a:extLst xmlns:a="http://schemas.openxmlformats.org/drawingml/2006/main">
              <a:ext uri="{FF2B5EF4-FFF2-40B4-BE49-F238E27FC236}">
                <a16:creationId xmlns:a16="http://schemas.microsoft.com/office/drawing/2014/main" id="{A0C7B689-A538-414A-958F-B324B3EC5047}"/>
              </a:ext>
            </a:extLst>
          </p:cNvPr>
          <p:cNvSpPr>
            <a:spLocks xmlns:a="http://schemas.openxmlformats.org/drawingml/2006/main" noGrp="1"/>
          </p:cNvSpPr>
          <p:nvPr/>
        </p:nvSpPr>
        <p:spPr>
          <a:xfrm xmlns:a="http://schemas.openxmlformats.org/drawingml/2006/main">
            <a:off x="9656064" y="2578608"/>
            <a:ext cx="1664208"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A344D"/>
                </a:solidFill>
                <a:latin typeface="Aptos"/>
                <a:ea typeface="Aptos"/>
                <a:cs typeface="Aptos"/>
              </a:rPr>
              <a:t>Recover</a:t>
            </a:r>
            <a:endParaRPr sz="1350"/>
          </a:p>
        </p:txBody>
      </p:sp>
      <p:sp>
        <p:nvSpPr>
          <p:cNvPr id="29" name="Text 27">
            <a:extLst xmlns:a="http://schemas.openxmlformats.org/drawingml/2006/main">
              <a:ext uri="{FF2B5EF4-FFF2-40B4-BE49-F238E27FC236}">
                <a16:creationId xmlns:a16="http://schemas.microsoft.com/office/drawing/2014/main" id="{EE201F61-137B-4C67-8C5B-D67D2BAC1376}"/>
              </a:ext>
            </a:extLst>
          </p:cNvPr>
          <p:cNvSpPr>
            <a:spLocks xmlns:a="http://schemas.openxmlformats.org/drawingml/2006/main" noGrp="1"/>
          </p:cNvSpPr>
          <p:nvPr/>
        </p:nvSpPr>
        <p:spPr>
          <a:xfrm xmlns:a="http://schemas.openxmlformats.org/drawingml/2006/main">
            <a:off x="9656064" y="2907792"/>
            <a:ext cx="1664208"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950">
                <a:solidFill>
                  <a:srgbClr val="5C6978"/>
                </a:solidFill>
                <a:latin typeface="Aptos"/>
                <a:ea typeface="Aptos"/>
                <a:cs typeface="Aptos"/>
              </a:rPr>
              <a:t>Version-guarded context reconciliation</a:t>
            </a:r>
            <a:endParaRPr sz="950"/>
          </a:p>
        </p:txBody>
      </p:sp>
      <p:sp>
        <p:nvSpPr>
          <p:cNvPr id="30" name="Text 28">
            <a:extLst xmlns:a="http://schemas.openxmlformats.org/drawingml/2006/main">
              <a:ext uri="{FF2B5EF4-FFF2-40B4-BE49-F238E27FC236}">
                <a16:creationId xmlns:a16="http://schemas.microsoft.com/office/drawing/2014/main" id="{CD3B8E52-D4E7-4B62-82E2-AEB290450A62}"/>
              </a:ext>
            </a:extLst>
          </p:cNvPr>
          <p:cNvSpPr>
            <a:spLocks xmlns:a="http://schemas.openxmlformats.org/drawingml/2006/main" noGrp="1"/>
          </p:cNvSpPr>
          <p:nvPr/>
        </p:nvSpPr>
        <p:spPr>
          <a:xfrm xmlns:a="http://schemas.openxmlformats.org/drawingml/2006/main">
            <a:off x="566928" y="3886200"/>
            <a:ext cx="1371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spc="100">
                <a:solidFill>
                  <a:srgbClr val="2F6FED"/>
                </a:solidFill>
                <a:latin typeface="Aptos"/>
                <a:ea typeface="Aptos"/>
                <a:cs typeface="Aptos"/>
              </a:rPr>
              <a:t>SCOPE</a:t>
            </a:r>
            <a:endParaRPr sz="1050"/>
          </a:p>
        </p:txBody>
      </p:sp>
      <p:sp>
        <p:nvSpPr>
          <p:cNvPr id="31" name="Shape 29">
            <a:extLst xmlns:a="http://schemas.openxmlformats.org/drawingml/2006/main">
              <a:ext uri="{FF2B5EF4-FFF2-40B4-BE49-F238E27FC236}">
                <a16:creationId xmlns:a16="http://schemas.microsoft.com/office/drawing/2014/main" id="{138FF5EB-2C86-4C81-B260-9AD70F8E446B}"/>
              </a:ext>
            </a:extLst>
          </p:cNvPr>
          <p:cNvSpPr>
            <a:spLocks xmlns:a="http://schemas.openxmlformats.org/drawingml/2006/main" noGrp="1"/>
          </p:cNvSpPr>
          <p:nvPr/>
        </p:nvSpPr>
        <p:spPr>
          <a:xfrm xmlns:a="http://schemas.openxmlformats.org/drawingml/2006/main">
            <a:off x="566928" y="4206240"/>
            <a:ext cx="2327148" cy="38404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5875">
            <a:solidFill>
              <a:srgbClr val="2F6FED"/>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0994F5E8-EE94-4864-83FA-7DF25F0B8477}"/>
              </a:ext>
            </a:extLst>
          </p:cNvPr>
          <p:cNvSpPr>
            <a:spLocks xmlns:a="http://schemas.openxmlformats.org/drawingml/2006/main" noGrp="1"/>
          </p:cNvSpPr>
          <p:nvPr/>
        </p:nvSpPr>
        <p:spPr>
          <a:xfrm xmlns:a="http://schemas.openxmlformats.org/drawingml/2006/main">
            <a:off x="566928" y="4206240"/>
            <a:ext cx="23271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2F6FED"/>
                </a:solidFill>
                <a:latin typeface="Aptos"/>
                <a:ea typeface="Aptos"/>
                <a:cs typeface="Aptos"/>
              </a:rPr>
              <a:t>PDU session establishment</a:t>
            </a:r>
            <a:endParaRPr sz="1050"/>
          </a:p>
        </p:txBody>
      </p:sp>
      <p:sp>
        <p:nvSpPr>
          <p:cNvPr id="33" name="Shape 31">
            <a:extLst xmlns:a="http://schemas.openxmlformats.org/drawingml/2006/main">
              <a:ext uri="{FF2B5EF4-FFF2-40B4-BE49-F238E27FC236}">
                <a16:creationId xmlns:a16="http://schemas.microsoft.com/office/drawing/2014/main" id="{6394875C-7EAC-42CE-B763-64796AD87C3D}"/>
              </a:ext>
            </a:extLst>
          </p:cNvPr>
          <p:cNvSpPr>
            <a:spLocks xmlns:a="http://schemas.openxmlformats.org/drawingml/2006/main" noGrp="1"/>
          </p:cNvSpPr>
          <p:nvPr/>
        </p:nvSpPr>
        <p:spPr>
          <a:xfrm xmlns:a="http://schemas.openxmlformats.org/drawingml/2006/main">
            <a:off x="3095244" y="4206240"/>
            <a:ext cx="1627632" cy="38404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5875">
            <a:solidFill>
              <a:srgbClr val="1B9E8C"/>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E2BA5BB9-1F00-4AE4-A846-F9120A634179}"/>
              </a:ext>
            </a:extLst>
          </p:cNvPr>
          <p:cNvSpPr>
            <a:spLocks xmlns:a="http://schemas.openxmlformats.org/drawingml/2006/main" noGrp="1"/>
          </p:cNvSpPr>
          <p:nvPr/>
        </p:nvSpPr>
        <p:spPr>
          <a:xfrm xmlns:a="http://schemas.openxmlformats.org/drawingml/2006/main">
            <a:off x="3095244" y="4206240"/>
            <a:ext cx="1627632"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1B9E8C"/>
                </a:solidFill>
                <a:latin typeface="Aptos"/>
                <a:ea typeface="Aptos"/>
                <a:cs typeface="Aptos"/>
              </a:rPr>
              <a:t>QoS modification</a:t>
            </a:r>
            <a:endParaRPr sz="1050"/>
          </a:p>
        </p:txBody>
      </p:sp>
      <p:sp>
        <p:nvSpPr>
          <p:cNvPr id="35" name="Shape 33">
            <a:extLst xmlns:a="http://schemas.openxmlformats.org/drawingml/2006/main">
              <a:ext uri="{FF2B5EF4-FFF2-40B4-BE49-F238E27FC236}">
                <a16:creationId xmlns:a16="http://schemas.microsoft.com/office/drawing/2014/main" id="{1D5EEBFC-FD78-4519-B77D-C1687EEB2D8F}"/>
              </a:ext>
            </a:extLst>
          </p:cNvPr>
          <p:cNvSpPr>
            <a:spLocks xmlns:a="http://schemas.openxmlformats.org/drawingml/2006/main" noGrp="1"/>
          </p:cNvSpPr>
          <p:nvPr/>
        </p:nvSpPr>
        <p:spPr>
          <a:xfrm xmlns:a="http://schemas.openxmlformats.org/drawingml/2006/main">
            <a:off x="4924044" y="4206240"/>
            <a:ext cx="1783080" cy="38404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5875">
            <a:solidFill>
              <a:srgbClr val="1A344D"/>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4D12C009-518A-42BF-90CD-F5C7C15262FF}"/>
              </a:ext>
            </a:extLst>
          </p:cNvPr>
          <p:cNvSpPr>
            <a:spLocks xmlns:a="http://schemas.openxmlformats.org/drawingml/2006/main" noGrp="1"/>
          </p:cNvSpPr>
          <p:nvPr/>
        </p:nvSpPr>
        <p:spPr>
          <a:xfrm xmlns:a="http://schemas.openxmlformats.org/drawingml/2006/main">
            <a:off x="4924044" y="4206240"/>
            <a:ext cx="178308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1A344D"/>
                </a:solidFill>
                <a:latin typeface="Aptos"/>
                <a:ea typeface="Aptos"/>
                <a:cs typeface="Aptos"/>
              </a:rPr>
              <a:t>Resource release</a:t>
            </a:r>
            <a:endParaRPr sz="1050"/>
          </a:p>
        </p:txBody>
      </p:sp>
      <p:sp>
        <p:nvSpPr>
          <p:cNvPr id="37" name="Shape 35">
            <a:extLst xmlns:a="http://schemas.openxmlformats.org/drawingml/2006/main">
              <a:ext uri="{FF2B5EF4-FFF2-40B4-BE49-F238E27FC236}">
                <a16:creationId xmlns:a16="http://schemas.microsoft.com/office/drawing/2014/main" id="{5B8F4024-4F2B-4F3B-8904-9CD32851276E}"/>
              </a:ext>
            </a:extLst>
          </p:cNvPr>
          <p:cNvSpPr>
            <a:spLocks xmlns:a="http://schemas.openxmlformats.org/drawingml/2006/main" noGrp="1"/>
          </p:cNvSpPr>
          <p:nvPr/>
        </p:nvSpPr>
        <p:spPr>
          <a:xfrm xmlns:a="http://schemas.openxmlformats.org/drawingml/2006/main">
            <a:off x="566928" y="4983480"/>
            <a:ext cx="11064240" cy="1097280"/>
          </a:xfrm>
          <a:prstGeom xmlns:a="http://schemas.openxmlformats.org/drawingml/2006/main" prst="roundRect">
            <a:avLst>
              <a:gd name="adj" fmla="val 7500"/>
            </a:avLst>
          </a:prstGeom>
          <a:solidFill xmlns:a="http://schemas.openxmlformats.org/drawingml/2006/main">
            <a:srgbClr val="F6F8FB"/>
          </a:solidFill>
          <a:ln xmlns:a="http://schemas.openxmlformats.org/drawingml/2006/main" w="12700">
            <a:solidFill>
              <a:srgbClr val="E4E9F0"/>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DB2DF158-AB56-4B5B-BFD5-13ABB678BE61}"/>
              </a:ext>
            </a:extLst>
          </p:cNvPr>
          <p:cNvSpPr>
            <a:spLocks xmlns:a="http://schemas.openxmlformats.org/drawingml/2006/main" noGrp="1"/>
          </p:cNvSpPr>
          <p:nvPr/>
        </p:nvSpPr>
        <p:spPr>
          <a:xfrm xmlns:a="http://schemas.openxmlformats.org/drawingml/2006/main">
            <a:off x="886968" y="4983480"/>
            <a:ext cx="1042416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i="1">
                <a:solidFill>
                  <a:srgbClr val="5C6978"/>
                </a:solidFill>
                <a:latin typeface="Aptos"/>
                <a:ea typeface="Aptos"/>
                <a:cs typeface="Aptos"/>
              </a:rPr>
              <a:t>Idle/resume and local cell change are controls. Full handover and N4 are outside the implemented scope.</a:t>
            </a:r>
            <a:endParaRPr sz="1300"/>
          </a:p>
        </p:txBody>
      </p:sp>
      <p:sp>
        <p:nvSpPr>
          <p:cNvPr id="39" name="Text 37">
            <a:extLst xmlns:a="http://schemas.openxmlformats.org/drawingml/2006/main">
              <a:ext uri="{FF2B5EF4-FFF2-40B4-BE49-F238E27FC236}">
                <a16:creationId xmlns:a16="http://schemas.microsoft.com/office/drawing/2014/main" id="{FB664165-8FF6-4CFE-96CE-4F5316D45675}"/>
              </a:ext>
            </a:extLst>
          </p:cNvPr>
          <p:cNvSpPr>
            <a:spLocks xmlns:a="http://schemas.openxmlformats.org/drawingml/2006/main" noGrp="1"/>
          </p:cNvSpPr>
          <p:nvPr/>
        </p:nvSpPr>
        <p:spPr>
          <a:xfrm xmlns:a="http://schemas.openxmlformats.org/drawingml/2006/main">
            <a:off x="566928" y="6510528"/>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00">
                <a:solidFill>
                  <a:srgbClr val="8A94A0"/>
                </a:solidFill>
                <a:latin typeface="Aptos"/>
                <a:ea typeface="Aptos"/>
                <a:cs typeface="Aptos"/>
              </a:rPr>
              <a:t>Final Project</a:t>
            </a:r>
            <a:r>
              <a:rPr sz="800">
                <a:solidFill>
                  <a:srgbClr val="8A94A0"/>
                </a:solidFill>
                <a:latin typeface="Aptos"/>
                <a:ea typeface="Aptos"/>
                <a:cs typeface="Aptos"/>
              </a:rPr>
              <a:t>  •  5G UE Context Desynchronization Detection and Recovery</a:t>
            </a:r>
            <a:endParaRPr sz="800"/>
          </a:p>
        </p:txBody>
      </p:sp>
      <p:sp>
        <p:nvSpPr>
          <p:cNvPr id="40" name="Text 38">
            <a:extLst xmlns:a="http://schemas.openxmlformats.org/drawingml/2006/main">
              <a:ext uri="{FF2B5EF4-FFF2-40B4-BE49-F238E27FC236}">
                <a16:creationId xmlns:a16="http://schemas.microsoft.com/office/drawing/2014/main" id="{124B1E59-7865-469A-8596-199E0D8DC955}"/>
              </a:ext>
            </a:extLst>
          </p:cNvPr>
          <p:cNvSpPr>
            <a:spLocks xmlns:a="http://schemas.openxmlformats.org/drawingml/2006/main" noGrp="1"/>
          </p:cNvSpPr>
          <p:nvPr/>
        </p:nvSpPr>
        <p:spPr>
          <a:xfrm xmlns:a="http://schemas.openxmlformats.org/drawingml/2006/main">
            <a:off x="11164824" y="6510528"/>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b="1">
                <a:solidFill>
                  <a:srgbClr val="8A94A0"/>
                </a:solidFill>
                <a:latin typeface="Aptos"/>
                <a:ea typeface="Aptos"/>
                <a:cs typeface="Aptos"/>
              </a:rPr>
              <a:t>06</a:t>
            </a:r>
            <a:endParaRPr sz="900"/>
          </a:p>
        </p:txBody>
      </p:sp>
    </p:spTree>
    <p:extLst>
      <p:ext uri="{BB962C8B-B14F-4D97-AF65-F5344CB8AC3E}">
        <p14:creationId xmlns:p14="http://schemas.microsoft.com/office/powerpoint/2010/main" val="20143505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4E096D0-5968-4740-AE93-A8AA2EA7C3BE}"/>
              </a:ext>
            </a:extLst>
          </p:cNvPr>
          <p:cNvSpPr>
            <a:spLocks xmlns:a="http://schemas.openxmlformats.org/drawingml/2006/main" noGrp="1"/>
          </p:cNvSpPr>
          <p:nvPr/>
        </p:nvSpPr>
        <p:spPr>
          <a:xfrm xmlns:a="http://schemas.openxmlformats.org/drawingml/2006/main">
            <a:off x="566928"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2F6FED"/>
                </a:solidFill>
                <a:latin typeface="Aptos"/>
                <a:ea typeface="Aptos"/>
                <a:cs typeface="Aptos"/>
              </a:rPr>
              <a:t>06 · METHODOLOGY</a:t>
            </a:r>
            <a:endParaRPr sz="1100"/>
          </a:p>
        </p:txBody>
      </p:sp>
      <p:sp>
        <p:nvSpPr>
          <p:cNvPr id="3" name="Text 1">
            <a:extLst xmlns:a="http://schemas.openxmlformats.org/drawingml/2006/main">
              <a:ext uri="{FF2B5EF4-FFF2-40B4-BE49-F238E27FC236}">
                <a16:creationId xmlns:a16="http://schemas.microsoft.com/office/drawing/2014/main" id="{6237F819-D1B2-4C86-A3F0-23DB15E075A0}"/>
              </a:ext>
            </a:extLst>
          </p:cNvPr>
          <p:cNvSpPr>
            <a:spLocks xmlns:a="http://schemas.openxmlformats.org/drawingml/2006/main" noGrp="1"/>
          </p:cNvSpPr>
          <p:nvPr/>
        </p:nvSpPr>
        <p:spPr>
          <a:xfrm xmlns:a="http://schemas.openxmlformats.org/drawingml/2006/main">
            <a:off x="566928" y="676656"/>
            <a:ext cx="10789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344D"/>
                </a:solidFill>
                <a:latin typeface="Aptos"/>
                <a:ea typeface="Aptos"/>
                <a:cs typeface="Aptos"/>
              </a:rPr>
              <a:t>How the prototype works</a:t>
            </a:r>
            <a:endParaRPr sz="3000"/>
          </a:p>
        </p:txBody>
      </p:sp>
      <p:sp>
        <p:nvSpPr>
          <p:cNvPr id="4" name="Text 2">
            <a:extLst xmlns:a="http://schemas.openxmlformats.org/drawingml/2006/main">
              <a:ext uri="{FF2B5EF4-FFF2-40B4-BE49-F238E27FC236}">
                <a16:creationId xmlns:a16="http://schemas.microsoft.com/office/drawing/2014/main" id="{A16F0776-36D0-4C2F-A07E-1D12C2FCE787}"/>
              </a:ext>
            </a:extLst>
          </p:cNvPr>
          <p:cNvSpPr>
            <a:spLocks xmlns:a="http://schemas.openxmlformats.org/drawingml/2006/main" noGrp="1"/>
          </p:cNvSpPr>
          <p:nvPr/>
        </p:nvSpPr>
        <p:spPr>
          <a:xfrm xmlns:a="http://schemas.openxmlformats.org/drawingml/2006/main">
            <a:off x="566928" y="1225296"/>
            <a:ext cx="106070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5C6978"/>
                </a:solidFill>
                <a:latin typeface="Aptos"/>
                <a:ea typeface="Aptos"/>
                <a:cs typeface="Aptos"/>
              </a:rPr>
              <a:t>Implemented in Python and SimPy with separate node states, observations, labels and metrics.</a:t>
            </a:r>
            <a:endParaRPr sz="1300"/>
          </a:p>
        </p:txBody>
      </p:sp>
      <p:sp>
        <p:nvSpPr>
          <p:cNvPr id="5" name="Shape 3">
            <a:extLst xmlns:a="http://schemas.openxmlformats.org/drawingml/2006/main">
              <a:ext uri="{FF2B5EF4-FFF2-40B4-BE49-F238E27FC236}">
                <a16:creationId xmlns:a16="http://schemas.microsoft.com/office/drawing/2014/main" id="{70D50C16-47B2-4253-A24B-A2274BC50160}"/>
              </a:ext>
            </a:extLst>
          </p:cNvPr>
          <p:cNvSpPr>
            <a:spLocks xmlns:a="http://schemas.openxmlformats.org/drawingml/2006/main" noGrp="1"/>
          </p:cNvSpPr>
          <p:nvPr/>
        </p:nvSpPr>
        <p:spPr>
          <a:xfrm xmlns:a="http://schemas.openxmlformats.org/drawingml/2006/main">
            <a:off x="566928" y="1828800"/>
            <a:ext cx="2066544" cy="1965960"/>
          </a:xfrm>
          <a:prstGeom xmlns:a="http://schemas.openxmlformats.org/drawingml/2006/main" prst="roundRect">
            <a:avLst>
              <a:gd name="adj" fmla="val 4186"/>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0AF6AD1C-6DC5-4005-BA2F-A7C01071E1DB}"/>
              </a:ext>
            </a:extLst>
          </p:cNvPr>
          <p:cNvSpPr>
            <a:spLocks xmlns:a="http://schemas.openxmlformats.org/drawingml/2006/main" noGrp="1"/>
          </p:cNvSpPr>
          <p:nvPr/>
        </p:nvSpPr>
        <p:spPr>
          <a:xfrm xmlns:a="http://schemas.openxmlformats.org/drawingml/2006/main">
            <a:off x="768096" y="2048256"/>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1A344D"/>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EEB02DFF-0F35-4068-BCEC-3FFD2FE429C0}"/>
              </a:ext>
            </a:extLst>
          </p:cNvPr>
          <p:cNvSpPr>
            <a:spLocks xmlns:a="http://schemas.openxmlformats.org/drawingml/2006/main" noGrp="1"/>
          </p:cNvSpPr>
          <p:nvPr/>
        </p:nvSpPr>
        <p:spPr>
          <a:xfrm xmlns:a="http://schemas.openxmlformats.org/drawingml/2006/main">
            <a:off x="768096" y="2048256"/>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1A344D"/>
                </a:solidFill>
                <a:latin typeface="Aptos"/>
                <a:ea typeface="Aptos"/>
                <a:cs typeface="Aptos"/>
              </a:rPr>
              <a:t>1</a:t>
            </a:r>
            <a:endParaRPr sz="1200"/>
          </a:p>
        </p:txBody>
      </p:sp>
      <p:sp>
        <p:nvSpPr>
          <p:cNvPr id="8" name="Text 6">
            <a:extLst xmlns:a="http://schemas.openxmlformats.org/drawingml/2006/main">
              <a:ext uri="{FF2B5EF4-FFF2-40B4-BE49-F238E27FC236}">
                <a16:creationId xmlns:a16="http://schemas.microsoft.com/office/drawing/2014/main" id="{6FE9D3F2-DCB5-44C9-8A55-A4241DC4E038}"/>
              </a:ext>
            </a:extLst>
          </p:cNvPr>
          <p:cNvSpPr>
            <a:spLocks xmlns:a="http://schemas.openxmlformats.org/drawingml/2006/main" noGrp="1"/>
          </p:cNvSpPr>
          <p:nvPr/>
        </p:nvSpPr>
        <p:spPr>
          <a:xfrm xmlns:a="http://schemas.openxmlformats.org/drawingml/2006/main">
            <a:off x="768096" y="2578608"/>
            <a:ext cx="1664208"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A344D"/>
                </a:solidFill>
                <a:latin typeface="Aptos"/>
                <a:ea typeface="Aptos"/>
                <a:cs typeface="Aptos"/>
              </a:rPr>
              <a:t>Define FSMs</a:t>
            </a:r>
            <a:endParaRPr sz="1300"/>
          </a:p>
        </p:txBody>
      </p:sp>
      <p:sp>
        <p:nvSpPr>
          <p:cNvPr id="9" name="Text 7">
            <a:extLst xmlns:a="http://schemas.openxmlformats.org/drawingml/2006/main">
              <a:ext uri="{FF2B5EF4-FFF2-40B4-BE49-F238E27FC236}">
                <a16:creationId xmlns:a16="http://schemas.microsoft.com/office/drawing/2014/main" id="{3CDA80FB-ADDE-4541-B360-CA6DAE250C42}"/>
              </a:ext>
            </a:extLst>
          </p:cNvPr>
          <p:cNvSpPr>
            <a:spLocks xmlns:a="http://schemas.openxmlformats.org/drawingml/2006/main" noGrp="1"/>
          </p:cNvSpPr>
          <p:nvPr/>
        </p:nvSpPr>
        <p:spPr>
          <a:xfrm xmlns:a="http://schemas.openxmlformats.org/drawingml/2006/main">
            <a:off x="768096" y="2944368"/>
            <a:ext cx="1664208"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950">
                <a:solidFill>
                  <a:srgbClr val="5C6978"/>
                </a:solidFill>
                <a:latin typeface="Aptos"/>
                <a:ea typeface="Aptos"/>
                <a:cs typeface="Aptos"/>
              </a:rPr>
              <a:t>RAN states + Core states + coupling invariants</a:t>
            </a:r>
            <a:endParaRPr sz="950"/>
          </a:p>
        </p:txBody>
      </p:sp>
      <p:sp>
        <p:nvSpPr>
          <p:cNvPr id="10" name="Text 8">
            <a:extLst xmlns:a="http://schemas.openxmlformats.org/drawingml/2006/main">
              <a:ext uri="{FF2B5EF4-FFF2-40B4-BE49-F238E27FC236}">
                <a16:creationId xmlns:a16="http://schemas.microsoft.com/office/drawing/2014/main" id="{3274B0AE-4B27-40EA-AE3F-69BB20492C45}"/>
              </a:ext>
            </a:extLst>
          </p:cNvPr>
          <p:cNvSpPr>
            <a:spLocks xmlns:a="http://schemas.openxmlformats.org/drawingml/2006/main" noGrp="1"/>
          </p:cNvSpPr>
          <p:nvPr/>
        </p:nvSpPr>
        <p:spPr>
          <a:xfrm xmlns:a="http://schemas.openxmlformats.org/drawingml/2006/main">
            <a:off x="2615184" y="2647188"/>
            <a:ext cx="192024" cy="32918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a:solidFill>
                  <a:srgbClr val="8A94A0"/>
                </a:solidFill>
                <a:latin typeface="Aptos"/>
                <a:ea typeface="Aptos"/>
                <a:cs typeface="Aptos"/>
              </a:rPr>
              <a:t>→</a:t>
            </a:r>
            <a:endParaRPr sz="1200"/>
          </a:p>
        </p:txBody>
      </p:sp>
      <p:sp>
        <p:nvSpPr>
          <p:cNvPr id="11" name="Shape 9">
            <a:extLst xmlns:a="http://schemas.openxmlformats.org/drawingml/2006/main">
              <a:ext uri="{FF2B5EF4-FFF2-40B4-BE49-F238E27FC236}">
                <a16:creationId xmlns:a16="http://schemas.microsoft.com/office/drawing/2014/main" id="{BE127AB9-F5C9-4E22-A51A-FFF3591F4943}"/>
              </a:ext>
            </a:extLst>
          </p:cNvPr>
          <p:cNvSpPr>
            <a:spLocks xmlns:a="http://schemas.openxmlformats.org/drawingml/2006/main" noGrp="1"/>
          </p:cNvSpPr>
          <p:nvPr/>
        </p:nvSpPr>
        <p:spPr>
          <a:xfrm xmlns:a="http://schemas.openxmlformats.org/drawingml/2006/main">
            <a:off x="2788920" y="1828800"/>
            <a:ext cx="2066544" cy="1965960"/>
          </a:xfrm>
          <a:prstGeom xmlns:a="http://schemas.openxmlformats.org/drawingml/2006/main" prst="roundRect">
            <a:avLst>
              <a:gd name="adj" fmla="val 4186"/>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85F677FA-9437-49C4-967A-9EE87134AE83}"/>
              </a:ext>
            </a:extLst>
          </p:cNvPr>
          <p:cNvSpPr>
            <a:spLocks xmlns:a="http://schemas.openxmlformats.org/drawingml/2006/main" noGrp="1"/>
          </p:cNvSpPr>
          <p:nvPr/>
        </p:nvSpPr>
        <p:spPr>
          <a:xfrm xmlns:a="http://schemas.openxmlformats.org/drawingml/2006/main">
            <a:off x="2990088" y="2048256"/>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A05F944F-6668-4B51-9D91-8AA9AC3E3B92}"/>
              </a:ext>
            </a:extLst>
          </p:cNvPr>
          <p:cNvSpPr>
            <a:spLocks xmlns:a="http://schemas.openxmlformats.org/drawingml/2006/main" noGrp="1"/>
          </p:cNvSpPr>
          <p:nvPr/>
        </p:nvSpPr>
        <p:spPr>
          <a:xfrm xmlns:a="http://schemas.openxmlformats.org/drawingml/2006/main">
            <a:off x="2990088" y="2048256"/>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2F6FED"/>
                </a:solidFill>
                <a:latin typeface="Aptos"/>
                <a:ea typeface="Aptos"/>
                <a:cs typeface="Aptos"/>
              </a:rPr>
              <a:t>2</a:t>
            </a:r>
            <a:endParaRPr sz="1200"/>
          </a:p>
        </p:txBody>
      </p:sp>
      <p:sp>
        <p:nvSpPr>
          <p:cNvPr id="14" name="Text 12">
            <a:extLst xmlns:a="http://schemas.openxmlformats.org/drawingml/2006/main">
              <a:ext uri="{FF2B5EF4-FFF2-40B4-BE49-F238E27FC236}">
                <a16:creationId xmlns:a16="http://schemas.microsoft.com/office/drawing/2014/main" id="{7E7BFC19-F104-4B2C-9741-DE60E6E656C4}"/>
              </a:ext>
            </a:extLst>
          </p:cNvPr>
          <p:cNvSpPr>
            <a:spLocks xmlns:a="http://schemas.openxmlformats.org/drawingml/2006/main" noGrp="1"/>
          </p:cNvSpPr>
          <p:nvPr/>
        </p:nvSpPr>
        <p:spPr>
          <a:xfrm xmlns:a="http://schemas.openxmlformats.org/drawingml/2006/main">
            <a:off x="2990088" y="2578608"/>
            <a:ext cx="1664208"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A344D"/>
                </a:solidFill>
                <a:latin typeface="Aptos"/>
                <a:ea typeface="Aptos"/>
                <a:cs typeface="Aptos"/>
              </a:rPr>
              <a:t>Generate traces</a:t>
            </a:r>
            <a:endParaRPr sz="1300"/>
          </a:p>
        </p:txBody>
      </p:sp>
      <p:sp>
        <p:nvSpPr>
          <p:cNvPr id="15" name="Text 13">
            <a:extLst xmlns:a="http://schemas.openxmlformats.org/drawingml/2006/main">
              <a:ext uri="{FF2B5EF4-FFF2-40B4-BE49-F238E27FC236}">
                <a16:creationId xmlns:a16="http://schemas.microsoft.com/office/drawing/2014/main" id="{EEA3E474-92F2-417A-8FC0-C8B1FCA3C54E}"/>
              </a:ext>
            </a:extLst>
          </p:cNvPr>
          <p:cNvSpPr>
            <a:spLocks xmlns:a="http://schemas.openxmlformats.org/drawingml/2006/main" noGrp="1"/>
          </p:cNvSpPr>
          <p:nvPr/>
        </p:nvSpPr>
        <p:spPr>
          <a:xfrm xmlns:a="http://schemas.openxmlformats.org/drawingml/2006/main">
            <a:off x="2990088" y="2944368"/>
            <a:ext cx="1664208"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950">
                <a:solidFill>
                  <a:srgbClr val="5C6978"/>
                </a:solidFill>
                <a:latin typeface="Aptos"/>
                <a:ea typeface="Aptos"/>
                <a:cs typeface="Aptos"/>
              </a:rPr>
              <a:t>Timestamped snapshots per UE and session</a:t>
            </a:r>
            <a:endParaRPr sz="950"/>
          </a:p>
        </p:txBody>
      </p:sp>
      <p:sp>
        <p:nvSpPr>
          <p:cNvPr id="16" name="Text 14">
            <a:extLst xmlns:a="http://schemas.openxmlformats.org/drawingml/2006/main">
              <a:ext uri="{FF2B5EF4-FFF2-40B4-BE49-F238E27FC236}">
                <a16:creationId xmlns:a16="http://schemas.microsoft.com/office/drawing/2014/main" id="{D4D4678E-0C70-4401-B62B-1E33B21BF21E}"/>
              </a:ext>
            </a:extLst>
          </p:cNvPr>
          <p:cNvSpPr>
            <a:spLocks xmlns:a="http://schemas.openxmlformats.org/drawingml/2006/main" noGrp="1"/>
          </p:cNvSpPr>
          <p:nvPr/>
        </p:nvSpPr>
        <p:spPr>
          <a:xfrm xmlns:a="http://schemas.openxmlformats.org/drawingml/2006/main">
            <a:off x="4837176" y="2647188"/>
            <a:ext cx="192024" cy="32918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a:solidFill>
                  <a:srgbClr val="8A94A0"/>
                </a:solidFill>
                <a:latin typeface="Aptos"/>
                <a:ea typeface="Aptos"/>
                <a:cs typeface="Aptos"/>
              </a:rPr>
              <a:t>→</a:t>
            </a:r>
            <a:endParaRPr sz="1200"/>
          </a:p>
        </p:txBody>
      </p:sp>
      <p:sp>
        <p:nvSpPr>
          <p:cNvPr id="17" name="Shape 15">
            <a:extLst xmlns:a="http://schemas.openxmlformats.org/drawingml/2006/main">
              <a:ext uri="{FF2B5EF4-FFF2-40B4-BE49-F238E27FC236}">
                <a16:creationId xmlns:a16="http://schemas.microsoft.com/office/drawing/2014/main" id="{C784F71A-57C0-4B00-A22F-FE98D2EE776B}"/>
              </a:ext>
            </a:extLst>
          </p:cNvPr>
          <p:cNvSpPr>
            <a:spLocks xmlns:a="http://schemas.openxmlformats.org/drawingml/2006/main" noGrp="1"/>
          </p:cNvSpPr>
          <p:nvPr/>
        </p:nvSpPr>
        <p:spPr>
          <a:xfrm xmlns:a="http://schemas.openxmlformats.org/drawingml/2006/main">
            <a:off x="5010912" y="1828800"/>
            <a:ext cx="2066544" cy="1965960"/>
          </a:xfrm>
          <a:prstGeom xmlns:a="http://schemas.openxmlformats.org/drawingml/2006/main" prst="roundRect">
            <a:avLst>
              <a:gd name="adj" fmla="val 4186"/>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6">
            <a:extLst xmlns:a="http://schemas.openxmlformats.org/drawingml/2006/main">
              <a:ext uri="{FF2B5EF4-FFF2-40B4-BE49-F238E27FC236}">
                <a16:creationId xmlns:a16="http://schemas.microsoft.com/office/drawing/2014/main" id="{66007720-145F-42E1-A267-574AAD55BCF4}"/>
              </a:ext>
            </a:extLst>
          </p:cNvPr>
          <p:cNvSpPr>
            <a:spLocks xmlns:a="http://schemas.openxmlformats.org/drawingml/2006/main" noGrp="1"/>
          </p:cNvSpPr>
          <p:nvPr/>
        </p:nvSpPr>
        <p:spPr>
          <a:xfrm xmlns:a="http://schemas.openxmlformats.org/drawingml/2006/main">
            <a:off x="5212080" y="2048256"/>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CC842D"/>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3657B3DC-E95E-4115-BA25-06537B9C99D6}"/>
              </a:ext>
            </a:extLst>
          </p:cNvPr>
          <p:cNvSpPr>
            <a:spLocks xmlns:a="http://schemas.openxmlformats.org/drawingml/2006/main" noGrp="1"/>
          </p:cNvSpPr>
          <p:nvPr/>
        </p:nvSpPr>
        <p:spPr>
          <a:xfrm xmlns:a="http://schemas.openxmlformats.org/drawingml/2006/main">
            <a:off x="5212080" y="2048256"/>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CC842D"/>
                </a:solidFill>
                <a:latin typeface="Aptos"/>
                <a:ea typeface="Aptos"/>
                <a:cs typeface="Aptos"/>
              </a:rPr>
              <a:t>3</a:t>
            </a:r>
            <a:endParaRPr sz="1200"/>
          </a:p>
        </p:txBody>
      </p:sp>
      <p:sp>
        <p:nvSpPr>
          <p:cNvPr id="20" name="Text 18">
            <a:extLst xmlns:a="http://schemas.openxmlformats.org/drawingml/2006/main">
              <a:ext uri="{FF2B5EF4-FFF2-40B4-BE49-F238E27FC236}">
                <a16:creationId xmlns:a16="http://schemas.microsoft.com/office/drawing/2014/main" id="{6173C5F9-AD30-4768-B4E1-4DD49CD8BC83}"/>
              </a:ext>
            </a:extLst>
          </p:cNvPr>
          <p:cNvSpPr>
            <a:spLocks xmlns:a="http://schemas.openxmlformats.org/drawingml/2006/main" noGrp="1"/>
          </p:cNvSpPr>
          <p:nvPr/>
        </p:nvSpPr>
        <p:spPr>
          <a:xfrm xmlns:a="http://schemas.openxmlformats.org/drawingml/2006/main">
            <a:off x="5212080" y="2578608"/>
            <a:ext cx="1664208"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A344D"/>
                </a:solidFill>
                <a:latin typeface="Aptos"/>
                <a:ea typeface="Aptos"/>
                <a:cs typeface="Aptos"/>
              </a:rPr>
              <a:t>Inject faults</a:t>
            </a:r>
            <a:endParaRPr sz="1300"/>
          </a:p>
        </p:txBody>
      </p:sp>
      <p:sp>
        <p:nvSpPr>
          <p:cNvPr id="21" name="Text 19">
            <a:extLst xmlns:a="http://schemas.openxmlformats.org/drawingml/2006/main">
              <a:ext uri="{FF2B5EF4-FFF2-40B4-BE49-F238E27FC236}">
                <a16:creationId xmlns:a16="http://schemas.microsoft.com/office/drawing/2014/main" id="{F33817B2-2920-4DBC-9BEA-197E4B6B15C3}"/>
              </a:ext>
            </a:extLst>
          </p:cNvPr>
          <p:cNvSpPr>
            <a:spLocks xmlns:a="http://schemas.openxmlformats.org/drawingml/2006/main" noGrp="1"/>
          </p:cNvSpPr>
          <p:nvPr/>
        </p:nvSpPr>
        <p:spPr>
          <a:xfrm xmlns:a="http://schemas.openxmlformats.org/drawingml/2006/main">
            <a:off x="5212080" y="2944368"/>
            <a:ext cx="1664208"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950">
                <a:solidFill>
                  <a:srgbClr val="5C6978"/>
                </a:solidFill>
                <a:latin typeface="Aptos"/>
                <a:ea typeface="Aptos"/>
                <a:cs typeface="Aptos"/>
              </a:rPr>
              <a:t>Fail processing; delay or reorder observations</a:t>
            </a:r>
            <a:endParaRPr sz="950"/>
          </a:p>
        </p:txBody>
      </p:sp>
      <p:sp>
        <p:nvSpPr>
          <p:cNvPr id="22" name="Text 20">
            <a:extLst xmlns:a="http://schemas.openxmlformats.org/drawingml/2006/main">
              <a:ext uri="{FF2B5EF4-FFF2-40B4-BE49-F238E27FC236}">
                <a16:creationId xmlns:a16="http://schemas.microsoft.com/office/drawing/2014/main" id="{A6D35148-12DA-4EC9-9C47-429B22742CED}"/>
              </a:ext>
            </a:extLst>
          </p:cNvPr>
          <p:cNvSpPr>
            <a:spLocks xmlns:a="http://schemas.openxmlformats.org/drawingml/2006/main" noGrp="1"/>
          </p:cNvSpPr>
          <p:nvPr/>
        </p:nvSpPr>
        <p:spPr>
          <a:xfrm xmlns:a="http://schemas.openxmlformats.org/drawingml/2006/main">
            <a:off x="7059168" y="2647188"/>
            <a:ext cx="192024" cy="32918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a:solidFill>
                  <a:srgbClr val="8A94A0"/>
                </a:solidFill>
                <a:latin typeface="Aptos"/>
                <a:ea typeface="Aptos"/>
                <a:cs typeface="Aptos"/>
              </a:rPr>
              <a:t>→</a:t>
            </a:r>
            <a:endParaRPr sz="1200"/>
          </a:p>
        </p:txBody>
      </p:sp>
      <p:sp>
        <p:nvSpPr>
          <p:cNvPr id="23" name="Shape 21">
            <a:extLst xmlns:a="http://schemas.openxmlformats.org/drawingml/2006/main">
              <a:ext uri="{FF2B5EF4-FFF2-40B4-BE49-F238E27FC236}">
                <a16:creationId xmlns:a16="http://schemas.microsoft.com/office/drawing/2014/main" id="{DC1849BB-8973-4EAA-AC00-EB98545C0860}"/>
              </a:ext>
            </a:extLst>
          </p:cNvPr>
          <p:cNvSpPr>
            <a:spLocks xmlns:a="http://schemas.openxmlformats.org/drawingml/2006/main" noGrp="1"/>
          </p:cNvSpPr>
          <p:nvPr/>
        </p:nvSpPr>
        <p:spPr>
          <a:xfrm xmlns:a="http://schemas.openxmlformats.org/drawingml/2006/main">
            <a:off x="7232904" y="1828800"/>
            <a:ext cx="2066544" cy="1965960"/>
          </a:xfrm>
          <a:prstGeom xmlns:a="http://schemas.openxmlformats.org/drawingml/2006/main" prst="roundRect">
            <a:avLst>
              <a:gd name="adj" fmla="val 4186"/>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Shape 22">
            <a:extLst xmlns:a="http://schemas.openxmlformats.org/drawingml/2006/main">
              <a:ext uri="{FF2B5EF4-FFF2-40B4-BE49-F238E27FC236}">
                <a16:creationId xmlns:a16="http://schemas.microsoft.com/office/drawing/2014/main" id="{6D0B5B02-A810-4780-9689-89A0BBC2E21F}"/>
              </a:ext>
            </a:extLst>
          </p:cNvPr>
          <p:cNvSpPr>
            <a:spLocks xmlns:a="http://schemas.openxmlformats.org/drawingml/2006/main" noGrp="1"/>
          </p:cNvSpPr>
          <p:nvPr/>
        </p:nvSpPr>
        <p:spPr>
          <a:xfrm xmlns:a="http://schemas.openxmlformats.org/drawingml/2006/main">
            <a:off x="7434072" y="2048256"/>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C94C4C"/>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BF9044F1-2F6C-47FB-8AB8-49AFB89F8EA2}"/>
              </a:ext>
            </a:extLst>
          </p:cNvPr>
          <p:cNvSpPr>
            <a:spLocks xmlns:a="http://schemas.openxmlformats.org/drawingml/2006/main" noGrp="1"/>
          </p:cNvSpPr>
          <p:nvPr/>
        </p:nvSpPr>
        <p:spPr>
          <a:xfrm xmlns:a="http://schemas.openxmlformats.org/drawingml/2006/main">
            <a:off x="7434072" y="2048256"/>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C94C4C"/>
                </a:solidFill>
                <a:latin typeface="Aptos"/>
                <a:ea typeface="Aptos"/>
                <a:cs typeface="Aptos"/>
              </a:rPr>
              <a:t>4</a:t>
            </a:r>
            <a:endParaRPr sz="1200"/>
          </a:p>
        </p:txBody>
      </p:sp>
      <p:sp>
        <p:nvSpPr>
          <p:cNvPr id="26" name="Text 24">
            <a:extLst xmlns:a="http://schemas.openxmlformats.org/drawingml/2006/main">
              <a:ext uri="{FF2B5EF4-FFF2-40B4-BE49-F238E27FC236}">
                <a16:creationId xmlns:a16="http://schemas.microsoft.com/office/drawing/2014/main" id="{827C97A9-84F1-4F31-A841-8425BF1036E7}"/>
              </a:ext>
            </a:extLst>
          </p:cNvPr>
          <p:cNvSpPr>
            <a:spLocks xmlns:a="http://schemas.openxmlformats.org/drawingml/2006/main" noGrp="1"/>
          </p:cNvSpPr>
          <p:nvPr/>
        </p:nvSpPr>
        <p:spPr>
          <a:xfrm xmlns:a="http://schemas.openxmlformats.org/drawingml/2006/main">
            <a:off x="7434072" y="2578608"/>
            <a:ext cx="1664208"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A344D"/>
                </a:solidFill>
                <a:latin typeface="Aptos"/>
                <a:ea typeface="Aptos"/>
                <a:cs typeface="Aptos"/>
              </a:rPr>
              <a:t>Run verifier</a:t>
            </a:r>
            <a:endParaRPr sz="1300"/>
          </a:p>
        </p:txBody>
      </p:sp>
      <p:sp>
        <p:nvSpPr>
          <p:cNvPr id="27" name="Text 25">
            <a:extLst xmlns:a="http://schemas.openxmlformats.org/drawingml/2006/main">
              <a:ext uri="{FF2B5EF4-FFF2-40B4-BE49-F238E27FC236}">
                <a16:creationId xmlns:a16="http://schemas.microsoft.com/office/drawing/2014/main" id="{1A717C0A-E12F-4A38-A091-46DBFE17ED83}"/>
              </a:ext>
            </a:extLst>
          </p:cNvPr>
          <p:cNvSpPr>
            <a:spLocks xmlns:a="http://schemas.openxmlformats.org/drawingml/2006/main" noGrp="1"/>
          </p:cNvSpPr>
          <p:nvPr/>
        </p:nvSpPr>
        <p:spPr>
          <a:xfrm xmlns:a="http://schemas.openxmlformats.org/drawingml/2006/main">
            <a:off x="7434072" y="2944368"/>
            <a:ext cx="1664208"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950">
                <a:solidFill>
                  <a:srgbClr val="5C6978"/>
                </a:solidFill>
                <a:latin typeface="Aptos"/>
                <a:ea typeface="Aptos"/>
                <a:cs typeface="Aptos"/>
              </a:rPr>
              <a:t>Align observations → check rules → raise alarm</a:t>
            </a:r>
            <a:endParaRPr sz="950"/>
          </a:p>
        </p:txBody>
      </p:sp>
      <p:sp>
        <p:nvSpPr>
          <p:cNvPr id="28" name="Text 26">
            <a:extLst xmlns:a="http://schemas.openxmlformats.org/drawingml/2006/main">
              <a:ext uri="{FF2B5EF4-FFF2-40B4-BE49-F238E27FC236}">
                <a16:creationId xmlns:a16="http://schemas.microsoft.com/office/drawing/2014/main" id="{C7C96A48-6E5B-4D42-97DA-2AB727CE99BD}"/>
              </a:ext>
            </a:extLst>
          </p:cNvPr>
          <p:cNvSpPr>
            <a:spLocks xmlns:a="http://schemas.openxmlformats.org/drawingml/2006/main" noGrp="1"/>
          </p:cNvSpPr>
          <p:nvPr/>
        </p:nvSpPr>
        <p:spPr>
          <a:xfrm xmlns:a="http://schemas.openxmlformats.org/drawingml/2006/main">
            <a:off x="9281160" y="2647188"/>
            <a:ext cx="192024" cy="32918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a:solidFill>
                  <a:srgbClr val="8A94A0"/>
                </a:solidFill>
                <a:latin typeface="Aptos"/>
                <a:ea typeface="Aptos"/>
                <a:cs typeface="Aptos"/>
              </a:rPr>
              <a:t>→</a:t>
            </a:r>
            <a:endParaRPr sz="1200"/>
          </a:p>
        </p:txBody>
      </p:sp>
      <p:sp>
        <p:nvSpPr>
          <p:cNvPr id="29" name="Shape 27">
            <a:extLst xmlns:a="http://schemas.openxmlformats.org/drawingml/2006/main">
              <a:ext uri="{FF2B5EF4-FFF2-40B4-BE49-F238E27FC236}">
                <a16:creationId xmlns:a16="http://schemas.microsoft.com/office/drawing/2014/main" id="{0C23ED09-1838-4731-B80D-1D9B49C23AF0}"/>
              </a:ext>
            </a:extLst>
          </p:cNvPr>
          <p:cNvSpPr>
            <a:spLocks xmlns:a="http://schemas.openxmlformats.org/drawingml/2006/main" noGrp="1"/>
          </p:cNvSpPr>
          <p:nvPr/>
        </p:nvSpPr>
        <p:spPr>
          <a:xfrm xmlns:a="http://schemas.openxmlformats.org/drawingml/2006/main">
            <a:off x="9454896" y="1828800"/>
            <a:ext cx="2066544" cy="1965960"/>
          </a:xfrm>
          <a:prstGeom xmlns:a="http://schemas.openxmlformats.org/drawingml/2006/main" prst="roundRect">
            <a:avLst>
              <a:gd name="adj" fmla="val 4186"/>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30" name="Shape 28">
            <a:extLst xmlns:a="http://schemas.openxmlformats.org/drawingml/2006/main">
              <a:ext uri="{FF2B5EF4-FFF2-40B4-BE49-F238E27FC236}">
                <a16:creationId xmlns:a16="http://schemas.microsoft.com/office/drawing/2014/main" id="{549E40BE-6C37-4ABB-A169-D7F5746F77A1}"/>
              </a:ext>
            </a:extLst>
          </p:cNvPr>
          <p:cNvSpPr>
            <a:spLocks xmlns:a="http://schemas.openxmlformats.org/drawingml/2006/main" noGrp="1"/>
          </p:cNvSpPr>
          <p:nvPr/>
        </p:nvSpPr>
        <p:spPr>
          <a:xfrm xmlns:a="http://schemas.openxmlformats.org/drawingml/2006/main">
            <a:off x="9656064" y="2048256"/>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2F8F5B"/>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9">
            <a:extLst xmlns:a="http://schemas.openxmlformats.org/drawingml/2006/main">
              <a:ext uri="{FF2B5EF4-FFF2-40B4-BE49-F238E27FC236}">
                <a16:creationId xmlns:a16="http://schemas.microsoft.com/office/drawing/2014/main" id="{733B826E-7727-498C-806F-FBFA02C71B5D}"/>
              </a:ext>
            </a:extLst>
          </p:cNvPr>
          <p:cNvSpPr>
            <a:spLocks xmlns:a="http://schemas.openxmlformats.org/drawingml/2006/main" noGrp="1"/>
          </p:cNvSpPr>
          <p:nvPr/>
        </p:nvSpPr>
        <p:spPr>
          <a:xfrm xmlns:a="http://schemas.openxmlformats.org/drawingml/2006/main">
            <a:off x="9656064" y="2048256"/>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2F8F5B"/>
                </a:solidFill>
                <a:latin typeface="Aptos"/>
                <a:ea typeface="Aptos"/>
                <a:cs typeface="Aptos"/>
              </a:rPr>
              <a:t>5</a:t>
            </a:r>
            <a:endParaRPr sz="1200"/>
          </a:p>
        </p:txBody>
      </p:sp>
      <p:sp>
        <p:nvSpPr>
          <p:cNvPr id="32" name="Text 30">
            <a:extLst xmlns:a="http://schemas.openxmlformats.org/drawingml/2006/main">
              <a:ext uri="{FF2B5EF4-FFF2-40B4-BE49-F238E27FC236}">
                <a16:creationId xmlns:a16="http://schemas.microsoft.com/office/drawing/2014/main" id="{C37DA5C4-92FF-488C-A8B4-6A0852915CC9}"/>
              </a:ext>
            </a:extLst>
          </p:cNvPr>
          <p:cNvSpPr>
            <a:spLocks xmlns:a="http://schemas.openxmlformats.org/drawingml/2006/main" noGrp="1"/>
          </p:cNvSpPr>
          <p:nvPr/>
        </p:nvSpPr>
        <p:spPr>
          <a:xfrm xmlns:a="http://schemas.openxmlformats.org/drawingml/2006/main">
            <a:off x="9656064" y="2578608"/>
            <a:ext cx="1664208"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A344D"/>
                </a:solidFill>
                <a:latin typeface="Aptos"/>
                <a:ea typeface="Aptos"/>
                <a:cs typeface="Aptos"/>
              </a:rPr>
              <a:t>Reconcile</a:t>
            </a:r>
            <a:endParaRPr sz="1300"/>
          </a:p>
        </p:txBody>
      </p:sp>
      <p:sp>
        <p:nvSpPr>
          <p:cNvPr id="33" name="Text 31">
            <a:extLst xmlns:a="http://schemas.openxmlformats.org/drawingml/2006/main">
              <a:ext uri="{FF2B5EF4-FFF2-40B4-BE49-F238E27FC236}">
                <a16:creationId xmlns:a16="http://schemas.microsoft.com/office/drawing/2014/main" id="{D9A98417-B108-4ECB-A8A4-2CFDD5798732}"/>
              </a:ext>
            </a:extLst>
          </p:cNvPr>
          <p:cNvSpPr>
            <a:spLocks xmlns:a="http://schemas.openxmlformats.org/drawingml/2006/main" noGrp="1"/>
          </p:cNvSpPr>
          <p:nvPr/>
        </p:nvSpPr>
        <p:spPr>
          <a:xfrm xmlns:a="http://schemas.openxmlformats.org/drawingml/2006/main">
            <a:off x="9656064" y="2944368"/>
            <a:ext cx="1664208"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250"/>
              </a:lnSpc>
              <a:buNone/>
            </a:pPr>
            <a:r>
              <a:rPr sz="950">
                <a:solidFill>
                  <a:srgbClr val="5C6978"/>
                </a:solidFill>
                <a:latin typeface="Aptos"/>
                <a:ea typeface="Aptos"/>
                <a:cs typeface="Aptos"/>
              </a:rPr>
              <a:t>Request context → align state → re-check</a:t>
            </a:r>
            <a:endParaRPr sz="950"/>
          </a:p>
        </p:txBody>
      </p:sp>
      <p:sp>
        <p:nvSpPr>
          <p:cNvPr id="34" name="Shape 32">
            <a:extLst xmlns:a="http://schemas.openxmlformats.org/drawingml/2006/main">
              <a:ext uri="{FF2B5EF4-FFF2-40B4-BE49-F238E27FC236}">
                <a16:creationId xmlns:a16="http://schemas.microsoft.com/office/drawing/2014/main" id="{31886015-0A6A-4F04-A1B3-7FC6B00D8FED}"/>
              </a:ext>
            </a:extLst>
          </p:cNvPr>
          <p:cNvSpPr>
            <a:spLocks xmlns:a="http://schemas.openxmlformats.org/drawingml/2006/main" noGrp="1"/>
          </p:cNvSpPr>
          <p:nvPr/>
        </p:nvSpPr>
        <p:spPr>
          <a:xfrm xmlns:a="http://schemas.openxmlformats.org/drawingml/2006/main">
            <a:off x="566928" y="4160520"/>
            <a:ext cx="11064240" cy="1051560"/>
          </a:xfrm>
          <a:prstGeom xmlns:a="http://schemas.openxmlformats.org/drawingml/2006/main" prst="roundRect">
            <a:avLst>
              <a:gd name="adj" fmla="val 7826"/>
            </a:avLst>
          </a:prstGeom>
          <a:solidFill xmlns:a="http://schemas.openxmlformats.org/drawingml/2006/main">
            <a:srgbClr val="EEF3FD"/>
          </a:solidFill>
          <a:ln xmlns:a="http://schemas.openxmlformats.org/drawingml/2006/main" w="12700">
            <a:solidFill>
              <a:srgbClr val="2F6FED"/>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35" name="Shape 33">
            <a:extLst xmlns:a="http://schemas.openxmlformats.org/drawingml/2006/main">
              <a:ext uri="{FF2B5EF4-FFF2-40B4-BE49-F238E27FC236}">
                <a16:creationId xmlns:a16="http://schemas.microsoft.com/office/drawing/2014/main" id="{94074F09-9774-4119-8C75-A1F6824E6D1B}"/>
              </a:ext>
            </a:extLst>
          </p:cNvPr>
          <p:cNvSpPr>
            <a:spLocks xmlns:a="http://schemas.openxmlformats.org/drawingml/2006/main" noGrp="1"/>
          </p:cNvSpPr>
          <p:nvPr/>
        </p:nvSpPr>
        <p:spPr>
          <a:xfrm xmlns:a="http://schemas.openxmlformats.org/drawingml/2006/main">
            <a:off x="841248" y="4489704"/>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EDC851E5-F745-4003-BC53-5B0770FFCE21}"/>
              </a:ext>
            </a:extLst>
          </p:cNvPr>
          <p:cNvSpPr>
            <a:spLocks xmlns:a="http://schemas.openxmlformats.org/drawingml/2006/main" noGrp="1"/>
          </p:cNvSpPr>
          <p:nvPr/>
        </p:nvSpPr>
        <p:spPr>
          <a:xfrm xmlns:a="http://schemas.openxmlformats.org/drawingml/2006/main">
            <a:off x="841248" y="4489704"/>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2F6FED"/>
                </a:solidFill>
                <a:latin typeface="Aptos"/>
                <a:ea typeface="Aptos"/>
                <a:cs typeface="Aptos"/>
              </a:rPr>
              <a:t>P</a:t>
            </a:r>
            <a:endParaRPr sz="1200"/>
          </a:p>
        </p:txBody>
      </p:sp>
      <p:sp>
        <p:nvSpPr>
          <p:cNvPr id="37" name="Text 35">
            <a:extLst xmlns:a="http://schemas.openxmlformats.org/drawingml/2006/main">
              <a:ext uri="{FF2B5EF4-FFF2-40B4-BE49-F238E27FC236}">
                <a16:creationId xmlns:a16="http://schemas.microsoft.com/office/drawing/2014/main" id="{01BAB56C-4AF4-4CEF-B5D5-95DEDE2A0C2C}"/>
              </a:ext>
            </a:extLst>
          </p:cNvPr>
          <p:cNvSpPr>
            <a:spLocks xmlns:a="http://schemas.openxmlformats.org/drawingml/2006/main" noGrp="1"/>
          </p:cNvSpPr>
          <p:nvPr/>
        </p:nvSpPr>
        <p:spPr>
          <a:xfrm xmlns:a="http://schemas.openxmlformats.org/drawingml/2006/main">
            <a:off x="1435608" y="4361688"/>
            <a:ext cx="32004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1A344D"/>
                </a:solidFill>
                <a:latin typeface="Aptos"/>
                <a:ea typeface="Aptos"/>
                <a:cs typeface="Aptos"/>
              </a:rPr>
              <a:t>Prototype stack</a:t>
            </a:r>
            <a:endParaRPr sz="1300"/>
          </a:p>
        </p:txBody>
      </p:sp>
      <p:sp>
        <p:nvSpPr>
          <p:cNvPr id="38" name="Text 36">
            <a:extLst xmlns:a="http://schemas.openxmlformats.org/drawingml/2006/main">
              <a:ext uri="{FF2B5EF4-FFF2-40B4-BE49-F238E27FC236}">
                <a16:creationId xmlns:a16="http://schemas.microsoft.com/office/drawing/2014/main" id="{E082FB60-8616-4811-B731-C10B010DB0F5}"/>
              </a:ext>
            </a:extLst>
          </p:cNvPr>
          <p:cNvSpPr>
            <a:spLocks xmlns:a="http://schemas.openxmlformats.org/drawingml/2006/main" noGrp="1"/>
          </p:cNvSpPr>
          <p:nvPr/>
        </p:nvSpPr>
        <p:spPr>
          <a:xfrm xmlns:a="http://schemas.openxmlformats.org/drawingml/2006/main">
            <a:off x="1435608" y="4727448"/>
            <a:ext cx="98755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5C6978"/>
                </a:solidFill>
                <a:latin typeface="Aptos"/>
                <a:ea typeface="Aptos"/>
                <a:cs typeface="Aptos"/>
              </a:rPr>
              <a:t>Python  ·  SimPy  ·  snapshot adapter  ·  rule-based verifier  ·  Streamlit dashboard</a:t>
            </a:r>
            <a:endParaRPr sz="1150"/>
          </a:p>
        </p:txBody>
      </p:sp>
      <p:sp>
        <p:nvSpPr>
          <p:cNvPr id="39" name="Shape 37">
            <a:extLst xmlns:a="http://schemas.openxmlformats.org/drawingml/2006/main">
              <a:ext uri="{FF2B5EF4-FFF2-40B4-BE49-F238E27FC236}">
                <a16:creationId xmlns:a16="http://schemas.microsoft.com/office/drawing/2014/main" id="{1308A51D-D0CB-4D58-9BFA-B680CC349BA1}"/>
              </a:ext>
            </a:extLst>
          </p:cNvPr>
          <p:cNvSpPr>
            <a:spLocks xmlns:a="http://schemas.openxmlformats.org/drawingml/2006/main" noGrp="1"/>
          </p:cNvSpPr>
          <p:nvPr/>
        </p:nvSpPr>
        <p:spPr>
          <a:xfrm xmlns:a="http://schemas.openxmlformats.org/drawingml/2006/main">
            <a:off x="566928" y="5440680"/>
            <a:ext cx="11064240" cy="77724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12700">
            <a:solidFill>
              <a:srgbClr val="E4E9F0"/>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Text 38">
            <a:extLst xmlns:a="http://schemas.openxmlformats.org/drawingml/2006/main">
              <a:ext uri="{FF2B5EF4-FFF2-40B4-BE49-F238E27FC236}">
                <a16:creationId xmlns:a16="http://schemas.microsoft.com/office/drawing/2014/main" id="{07462D13-1C62-4F55-84B2-7F16C8BEBE9A}"/>
              </a:ext>
            </a:extLst>
          </p:cNvPr>
          <p:cNvSpPr>
            <a:spLocks xmlns:a="http://schemas.openxmlformats.org/drawingml/2006/main" noGrp="1"/>
          </p:cNvSpPr>
          <p:nvPr/>
        </p:nvSpPr>
        <p:spPr>
          <a:xfrm xmlns:a="http://schemas.openxmlformats.org/drawingml/2006/main">
            <a:off x="841248" y="5440680"/>
            <a:ext cx="10515600"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50" i="1">
                <a:solidFill>
                  <a:srgbClr val="5C6978"/>
                </a:solidFill>
                <a:latin typeface="Aptos"/>
                <a:ea typeface="Aptos"/>
                <a:cs typeface="Aptos"/>
              </a:rPr>
              <a:t>Verified: 48 tests pass. Main benchmark: 1,920 runs. Held-out timing sensitivity: 720 runs.</a:t>
            </a:r>
            <a:endParaRPr sz="1150"/>
          </a:p>
        </p:txBody>
      </p:sp>
      <p:sp>
        <p:nvSpPr>
          <p:cNvPr id="41" name="Text 39">
            <a:extLst xmlns:a="http://schemas.openxmlformats.org/drawingml/2006/main">
              <a:ext uri="{FF2B5EF4-FFF2-40B4-BE49-F238E27FC236}">
                <a16:creationId xmlns:a16="http://schemas.microsoft.com/office/drawing/2014/main" id="{2D496596-79AC-4832-9B99-8578A5F342C3}"/>
              </a:ext>
            </a:extLst>
          </p:cNvPr>
          <p:cNvSpPr>
            <a:spLocks xmlns:a="http://schemas.openxmlformats.org/drawingml/2006/main" noGrp="1"/>
          </p:cNvSpPr>
          <p:nvPr/>
        </p:nvSpPr>
        <p:spPr>
          <a:xfrm xmlns:a="http://schemas.openxmlformats.org/drawingml/2006/main">
            <a:off x="566928" y="6510528"/>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00">
                <a:solidFill>
                  <a:srgbClr val="8A94A0"/>
                </a:solidFill>
                <a:latin typeface="Aptos"/>
                <a:ea typeface="Aptos"/>
                <a:cs typeface="Aptos"/>
              </a:rPr>
              <a:t>Final Project</a:t>
            </a:r>
            <a:r>
              <a:rPr sz="800">
                <a:solidFill>
                  <a:srgbClr val="8A94A0"/>
                </a:solidFill>
                <a:latin typeface="Aptos"/>
                <a:ea typeface="Aptos"/>
                <a:cs typeface="Aptos"/>
              </a:rPr>
              <a:t>  •  5G UE Context Desynchronization Detection and Recovery</a:t>
            </a:r>
            <a:endParaRPr sz="800"/>
          </a:p>
        </p:txBody>
      </p:sp>
      <p:sp>
        <p:nvSpPr>
          <p:cNvPr id="42" name="Text 40">
            <a:extLst xmlns:a="http://schemas.openxmlformats.org/drawingml/2006/main">
              <a:ext uri="{FF2B5EF4-FFF2-40B4-BE49-F238E27FC236}">
                <a16:creationId xmlns:a16="http://schemas.microsoft.com/office/drawing/2014/main" id="{791B1540-C928-4C13-892A-DDF74BA59DED}"/>
              </a:ext>
            </a:extLst>
          </p:cNvPr>
          <p:cNvSpPr>
            <a:spLocks xmlns:a="http://schemas.openxmlformats.org/drawingml/2006/main" noGrp="1"/>
          </p:cNvSpPr>
          <p:nvPr/>
        </p:nvSpPr>
        <p:spPr>
          <a:xfrm xmlns:a="http://schemas.openxmlformats.org/drawingml/2006/main">
            <a:off x="11164824" y="6510528"/>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b="1">
                <a:solidFill>
                  <a:srgbClr val="8A94A0"/>
                </a:solidFill>
                <a:latin typeface="Aptos"/>
                <a:ea typeface="Aptos"/>
                <a:cs typeface="Aptos"/>
              </a:rPr>
              <a:t>07</a:t>
            </a:r>
            <a:endParaRPr sz="900"/>
          </a:p>
        </p:txBody>
      </p:sp>
    </p:spTree>
    <p:extLst>
      <p:ext uri="{BB962C8B-B14F-4D97-AF65-F5344CB8AC3E}">
        <p14:creationId xmlns:p14="http://schemas.microsoft.com/office/powerpoint/2010/main" val="9184741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6A825A3-6ACC-40C4-A52E-AA0DB8694224}"/>
              </a:ext>
            </a:extLst>
          </p:cNvPr>
          <p:cNvSpPr>
            <a:spLocks xmlns:a="http://schemas.openxmlformats.org/drawingml/2006/main" noGrp="1"/>
          </p:cNvSpPr>
          <p:nvPr/>
        </p:nvSpPr>
        <p:spPr>
          <a:xfrm xmlns:a="http://schemas.openxmlformats.org/drawingml/2006/main">
            <a:off x="566928"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2F6FED"/>
                </a:solidFill>
                <a:latin typeface="Aptos"/>
                <a:ea typeface="Aptos"/>
                <a:cs typeface="Aptos"/>
              </a:rPr>
              <a:t>07 · CORE LOGIC</a:t>
            </a:r>
            <a:endParaRPr sz="1100"/>
          </a:p>
        </p:txBody>
      </p:sp>
      <p:sp>
        <p:nvSpPr>
          <p:cNvPr id="3" name="Text 1">
            <a:extLst xmlns:a="http://schemas.openxmlformats.org/drawingml/2006/main">
              <a:ext uri="{FF2B5EF4-FFF2-40B4-BE49-F238E27FC236}">
                <a16:creationId xmlns:a16="http://schemas.microsoft.com/office/drawing/2014/main" id="{6636AB83-DCC1-442B-8D25-2416BE06B6B8}"/>
              </a:ext>
            </a:extLst>
          </p:cNvPr>
          <p:cNvSpPr>
            <a:spLocks xmlns:a="http://schemas.openxmlformats.org/drawingml/2006/main" noGrp="1"/>
          </p:cNvSpPr>
          <p:nvPr/>
        </p:nvSpPr>
        <p:spPr>
          <a:xfrm xmlns:a="http://schemas.openxmlformats.org/drawingml/2006/main">
            <a:off x="566928" y="676656"/>
            <a:ext cx="10789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344D"/>
                </a:solidFill>
                <a:latin typeface="Aptos"/>
                <a:ea typeface="Aptos"/>
                <a:cs typeface="Aptos"/>
              </a:rPr>
              <a:t>Detect first, then recover</a:t>
            </a:r>
            <a:endParaRPr sz="3000"/>
          </a:p>
        </p:txBody>
      </p:sp>
      <p:sp>
        <p:nvSpPr>
          <p:cNvPr id="4" name="Text 2">
            <a:extLst xmlns:a="http://schemas.openxmlformats.org/drawingml/2006/main">
              <a:ext uri="{FF2B5EF4-FFF2-40B4-BE49-F238E27FC236}">
                <a16:creationId xmlns:a16="http://schemas.microsoft.com/office/drawing/2014/main" id="{1862D8FC-33E8-4672-8DBC-48516418B2A0}"/>
              </a:ext>
            </a:extLst>
          </p:cNvPr>
          <p:cNvSpPr>
            <a:spLocks xmlns:a="http://schemas.openxmlformats.org/drawingml/2006/main" noGrp="1"/>
          </p:cNvSpPr>
          <p:nvPr/>
        </p:nvSpPr>
        <p:spPr>
          <a:xfrm xmlns:a="http://schemas.openxmlformats.org/drawingml/2006/main">
            <a:off x="566928" y="1225296"/>
            <a:ext cx="106070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5C6978"/>
                </a:solidFill>
                <a:latin typeface="Aptos"/>
                <a:ea typeface="Aptos"/>
                <a:cs typeface="Aptos"/>
              </a:rPr>
              <a:t>Freshness, ordering and procedure guards separate accepted contradiction evidence from valid transitions.</a:t>
            </a:r>
            <a:endParaRPr sz="1300"/>
          </a:p>
        </p:txBody>
      </p:sp>
      <p:sp>
        <p:nvSpPr>
          <p:cNvPr id="5" name="Shape 3">
            <a:extLst xmlns:a="http://schemas.openxmlformats.org/drawingml/2006/main">
              <a:ext uri="{FF2B5EF4-FFF2-40B4-BE49-F238E27FC236}">
                <a16:creationId xmlns:a16="http://schemas.microsoft.com/office/drawing/2014/main" id="{EBA50560-5B51-444F-8503-20CE8F00CF2D}"/>
              </a:ext>
            </a:extLst>
          </p:cNvPr>
          <p:cNvSpPr>
            <a:spLocks xmlns:a="http://schemas.openxmlformats.org/drawingml/2006/main" noGrp="1"/>
          </p:cNvSpPr>
          <p:nvPr/>
        </p:nvSpPr>
        <p:spPr>
          <a:xfrm xmlns:a="http://schemas.openxmlformats.org/drawingml/2006/main">
            <a:off x="566928" y="1828800"/>
            <a:ext cx="3520440" cy="2240280"/>
          </a:xfrm>
          <a:prstGeom xmlns:a="http://schemas.openxmlformats.org/drawingml/2006/main" prst="roundRect">
            <a:avLst>
              <a:gd name="adj" fmla="val 3673"/>
            </a:avLst>
          </a:prstGeom>
          <a:solidFill xmlns:a="http://schemas.openxmlformats.org/drawingml/2006/main">
            <a:srgbClr val="EEF3FD"/>
          </a:solidFill>
          <a:ln xmlns:a="http://schemas.openxmlformats.org/drawingml/2006/main" w="12700">
            <a:solidFill>
              <a:srgbClr val="2F6FED"/>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AD2D5F58-8D8A-4524-A23D-88908358E4E4}"/>
              </a:ext>
            </a:extLst>
          </p:cNvPr>
          <p:cNvSpPr>
            <a:spLocks xmlns:a="http://schemas.openxmlformats.org/drawingml/2006/main" noGrp="1"/>
          </p:cNvSpPr>
          <p:nvPr/>
        </p:nvSpPr>
        <p:spPr>
          <a:xfrm xmlns:a="http://schemas.openxmlformats.org/drawingml/2006/main">
            <a:off x="804672" y="2066544"/>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41564839-8DB7-468B-A337-2135A66ECE41}"/>
              </a:ext>
            </a:extLst>
          </p:cNvPr>
          <p:cNvSpPr>
            <a:spLocks xmlns:a="http://schemas.openxmlformats.org/drawingml/2006/main" noGrp="1"/>
          </p:cNvSpPr>
          <p:nvPr/>
        </p:nvSpPr>
        <p:spPr>
          <a:xfrm xmlns:a="http://schemas.openxmlformats.org/drawingml/2006/main">
            <a:off x="804672" y="2066544"/>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2F6FED"/>
                </a:solidFill>
                <a:latin typeface="Aptos"/>
                <a:ea typeface="Aptos"/>
                <a:cs typeface="Aptos"/>
              </a:rPr>
              <a:t>R</a:t>
            </a:r>
            <a:endParaRPr sz="1200"/>
          </a:p>
        </p:txBody>
      </p:sp>
      <p:sp>
        <p:nvSpPr>
          <p:cNvPr id="8" name="Text 6">
            <a:extLst xmlns:a="http://schemas.openxmlformats.org/drawingml/2006/main">
              <a:ext uri="{FF2B5EF4-FFF2-40B4-BE49-F238E27FC236}">
                <a16:creationId xmlns:a16="http://schemas.microsoft.com/office/drawing/2014/main" id="{48989003-2EBD-45C9-8622-BC5BFCE38CB7}"/>
              </a:ext>
            </a:extLst>
          </p:cNvPr>
          <p:cNvSpPr>
            <a:spLocks xmlns:a="http://schemas.openxmlformats.org/drawingml/2006/main" noGrp="1"/>
          </p:cNvSpPr>
          <p:nvPr/>
        </p:nvSpPr>
        <p:spPr>
          <a:xfrm xmlns:a="http://schemas.openxmlformats.org/drawingml/2006/main">
            <a:off x="1344168" y="2084832"/>
            <a:ext cx="22860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1A344D"/>
                </a:solidFill>
                <a:latin typeface="Aptos"/>
                <a:ea typeface="Aptos"/>
                <a:cs typeface="Aptos"/>
              </a:rPr>
              <a:t>RAN FSM</a:t>
            </a:r>
            <a:endParaRPr sz="1400"/>
          </a:p>
        </p:txBody>
      </p:sp>
      <p:sp>
        <p:nvSpPr>
          <p:cNvPr id="9" name="Text 7">
            <a:extLst xmlns:a="http://schemas.openxmlformats.org/drawingml/2006/main">
              <a:ext uri="{FF2B5EF4-FFF2-40B4-BE49-F238E27FC236}">
                <a16:creationId xmlns:a16="http://schemas.microsoft.com/office/drawing/2014/main" id="{F8AD9288-FC00-40BD-BF9B-409007E339E0}"/>
              </a:ext>
            </a:extLst>
          </p:cNvPr>
          <p:cNvSpPr>
            <a:spLocks xmlns:a="http://schemas.openxmlformats.org/drawingml/2006/main" noGrp="1"/>
          </p:cNvSpPr>
          <p:nvPr/>
        </p:nvSpPr>
        <p:spPr>
          <a:xfrm xmlns:a="http://schemas.openxmlformats.org/drawingml/2006/main">
            <a:off x="804672" y="2578608"/>
            <a:ext cx="3063240" cy="1371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50"/>
              </a:lnSpc>
              <a:buNone/>
            </a:pPr>
            <a:r>
              <a:rPr sz="1050">
                <a:solidFill>
                  <a:srgbClr val="5C6978"/>
                </a:solidFill>
                <a:latin typeface="Aptos"/>
                <a:ea typeface="Aptos"/>
                <a:cs typeface="Aptos"/>
              </a:rPr>
              <a:t>ABSENT</a:t>
            </a:r>
            <a:endParaRPr sz="1050"/>
          </a:p>
          <a:p xmlns:a="http://schemas.openxmlformats.org/drawingml/2006/main">
            <a:pPr marL="0" indent="0">
              <a:lnSpc>
                <a:spcPts val="1450"/>
              </a:lnSpc>
              <a:buNone/>
            </a:pPr>
            <a:r>
              <a:rPr sz="1050">
                <a:solidFill>
                  <a:srgbClr val="5C6978"/>
                </a:solidFill>
                <a:latin typeface="Aptos"/>
                <a:ea typeface="Aptos"/>
                <a:cs typeface="Aptos"/>
              </a:rPr>
              <a:t>  ↕</a:t>
            </a:r>
          </a:p>
          <a:p xmlns:a="http://schemas.openxmlformats.org/drawingml/2006/main">
            <a:pPr marL="0" indent="0">
              <a:lnSpc>
                <a:spcPts val="1450"/>
              </a:lnSpc>
              <a:buNone/>
            </a:pPr>
            <a:r>
              <a:rPr sz="1050">
                <a:solidFill>
                  <a:srgbClr val="5C6978"/>
                </a:solidFill>
                <a:latin typeface="Aptos"/>
                <a:ea typeface="Aptos"/>
                <a:cs typeface="Aptos"/>
              </a:rPr>
              <a:t>APPLIED(q)</a:t>
            </a:r>
          </a:p>
          <a:p xmlns:a="http://schemas.openxmlformats.org/drawingml/2006/main">
            <a:pPr marL="0" indent="0">
              <a:lnSpc>
                <a:spcPts val="1450"/>
              </a:lnSpc>
              <a:buNone/>
            </a:pPr>
          </a:p>
          <a:p xmlns:a="http://schemas.openxmlformats.org/drawingml/2006/main">
            <a:pPr marL="0" indent="0">
              <a:lnSpc>
                <a:spcPts val="1450"/>
              </a:lnSpc>
              <a:buNone/>
            </a:pPr>
            <a:r>
              <a:rPr sz="1050">
                <a:solidFill>
                  <a:srgbClr val="5C6978"/>
                </a:solidFill>
                <a:latin typeface="Aptos"/>
                <a:ea typeface="Aptos"/>
                <a:cs typeface="Aptos"/>
              </a:rPr>
              <a:t>Access controls:</a:t>
            </a:r>
          </a:p>
          <a:p xmlns:a="http://schemas.openxmlformats.org/drawingml/2006/main">
            <a:pPr marL="0" indent="0">
              <a:lnSpc>
                <a:spcPts val="1450"/>
              </a:lnSpc>
              <a:buNone/>
            </a:pPr>
            <a:r>
              <a:rPr sz="1050">
                <a:solidFill>
                  <a:srgbClr val="5C6978"/>
                </a:solidFill>
                <a:latin typeface="Aptos"/>
                <a:ea typeface="Aptos"/>
                <a:cs typeface="Aptos"/>
              </a:rPr>
              <a:t>CONNECTED / IDLE</a:t>
            </a:r>
          </a:p>
          <a:p xmlns:a="http://schemas.openxmlformats.org/drawingml/2006/main">
            <a:pPr marL="0" indent="0">
              <a:lnSpc>
                <a:spcPts val="1450"/>
              </a:lnSpc>
              <a:buNone/>
            </a:pPr>
          </a:p>
          <a:p xmlns:a="http://schemas.openxmlformats.org/drawingml/2006/main">
            <a:pPr marL="0" indent="0">
              <a:lnSpc>
                <a:spcPts val="1450"/>
              </a:lnSpc>
              <a:buNone/>
            </a:pPr>
            <a:r>
              <a:rPr sz="1050">
                <a:solidFill>
                  <a:srgbClr val="5C6978"/>
                </a:solidFill>
                <a:latin typeface="Aptos"/>
                <a:ea typeface="Aptos"/>
                <a:cs typeface="Aptos"/>
              </a:rPr>
              <a:t>setup / modify / release</a:t>
            </a:r>
          </a:p>
        </p:txBody>
      </p:sp>
      <p:sp>
        <p:nvSpPr>
          <p:cNvPr id="10" name="Shape 8">
            <a:extLst xmlns:a="http://schemas.openxmlformats.org/drawingml/2006/main">
              <a:ext uri="{FF2B5EF4-FFF2-40B4-BE49-F238E27FC236}">
                <a16:creationId xmlns:a16="http://schemas.microsoft.com/office/drawing/2014/main" id="{C7B60A95-D230-4F33-BBA1-52A12BDCAA02}"/>
              </a:ext>
            </a:extLst>
          </p:cNvPr>
          <p:cNvSpPr>
            <a:spLocks xmlns:a="http://schemas.openxmlformats.org/drawingml/2006/main" noGrp="1"/>
          </p:cNvSpPr>
          <p:nvPr/>
        </p:nvSpPr>
        <p:spPr>
          <a:xfrm xmlns:a="http://schemas.openxmlformats.org/drawingml/2006/main">
            <a:off x="4270248" y="1828800"/>
            <a:ext cx="3520440" cy="2240280"/>
          </a:xfrm>
          <a:prstGeom xmlns:a="http://schemas.openxmlformats.org/drawingml/2006/main" prst="roundRect">
            <a:avLst>
              <a:gd name="adj" fmla="val 3673"/>
            </a:avLst>
          </a:prstGeom>
          <a:solidFill xmlns:a="http://schemas.openxmlformats.org/drawingml/2006/main">
            <a:srgbClr val="E9F6F3"/>
          </a:solidFill>
          <a:ln xmlns:a="http://schemas.openxmlformats.org/drawingml/2006/main" w="12700">
            <a:solidFill>
              <a:srgbClr val="1B9E8C"/>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9743FBDB-9A24-4CA8-9E2A-F51C1A343993}"/>
              </a:ext>
            </a:extLst>
          </p:cNvPr>
          <p:cNvSpPr>
            <a:spLocks xmlns:a="http://schemas.openxmlformats.org/drawingml/2006/main" noGrp="1"/>
          </p:cNvSpPr>
          <p:nvPr/>
        </p:nvSpPr>
        <p:spPr>
          <a:xfrm xmlns:a="http://schemas.openxmlformats.org/drawingml/2006/main">
            <a:off x="4507992" y="2066544"/>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1B9E8C"/>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833779E6-0884-454C-8EA5-00A315B875D2}"/>
              </a:ext>
            </a:extLst>
          </p:cNvPr>
          <p:cNvSpPr>
            <a:spLocks xmlns:a="http://schemas.openxmlformats.org/drawingml/2006/main" noGrp="1"/>
          </p:cNvSpPr>
          <p:nvPr/>
        </p:nvSpPr>
        <p:spPr>
          <a:xfrm xmlns:a="http://schemas.openxmlformats.org/drawingml/2006/main">
            <a:off x="4507992" y="2066544"/>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1B9E8C"/>
                </a:solidFill>
                <a:latin typeface="Aptos"/>
                <a:ea typeface="Aptos"/>
                <a:cs typeface="Aptos"/>
              </a:rPr>
              <a:t>C</a:t>
            </a:r>
            <a:endParaRPr sz="1200"/>
          </a:p>
        </p:txBody>
      </p:sp>
      <p:sp>
        <p:nvSpPr>
          <p:cNvPr id="13" name="Text 11">
            <a:extLst xmlns:a="http://schemas.openxmlformats.org/drawingml/2006/main">
              <a:ext uri="{FF2B5EF4-FFF2-40B4-BE49-F238E27FC236}">
                <a16:creationId xmlns:a16="http://schemas.microsoft.com/office/drawing/2014/main" id="{E1C9F94C-8907-4908-A26C-FB6D1A791C54}"/>
              </a:ext>
            </a:extLst>
          </p:cNvPr>
          <p:cNvSpPr>
            <a:spLocks xmlns:a="http://schemas.openxmlformats.org/drawingml/2006/main" noGrp="1"/>
          </p:cNvSpPr>
          <p:nvPr/>
        </p:nvSpPr>
        <p:spPr>
          <a:xfrm xmlns:a="http://schemas.openxmlformats.org/drawingml/2006/main">
            <a:off x="5047488" y="2084832"/>
            <a:ext cx="22860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1A344D"/>
                </a:solidFill>
                <a:latin typeface="Aptos"/>
                <a:ea typeface="Aptos"/>
                <a:cs typeface="Aptos"/>
              </a:rPr>
              <a:t>Core FSM</a:t>
            </a:r>
            <a:endParaRPr sz="1400"/>
          </a:p>
        </p:txBody>
      </p:sp>
      <p:sp>
        <p:nvSpPr>
          <p:cNvPr id="14" name="Text 12">
            <a:extLst xmlns:a="http://schemas.openxmlformats.org/drawingml/2006/main">
              <a:ext uri="{FF2B5EF4-FFF2-40B4-BE49-F238E27FC236}">
                <a16:creationId xmlns:a16="http://schemas.microsoft.com/office/drawing/2014/main" id="{CAF7F836-6529-4F86-96C7-134D6ACF08B2}"/>
              </a:ext>
            </a:extLst>
          </p:cNvPr>
          <p:cNvSpPr>
            <a:spLocks xmlns:a="http://schemas.openxmlformats.org/drawingml/2006/main" noGrp="1"/>
          </p:cNvSpPr>
          <p:nvPr/>
        </p:nvSpPr>
        <p:spPr>
          <a:xfrm xmlns:a="http://schemas.openxmlformats.org/drawingml/2006/main">
            <a:off x="4507992" y="2578608"/>
            <a:ext cx="3154680" cy="1371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50"/>
              </a:lnSpc>
              <a:buNone/>
            </a:pPr>
            <a:r>
              <a:rPr sz="1050">
                <a:solidFill>
                  <a:srgbClr val="5C6978"/>
                </a:solidFill>
                <a:latin typeface="Aptos"/>
                <a:ea typeface="Aptos"/>
                <a:cs typeface="Aptos"/>
              </a:rPr>
              <a:t>STABLE</a:t>
            </a:r>
            <a:endParaRPr sz="1050"/>
          </a:p>
          <a:p xmlns:a="http://schemas.openxmlformats.org/drawingml/2006/main">
            <a:pPr marL="0" indent="0">
              <a:lnSpc>
                <a:spcPts val="1450"/>
              </a:lnSpc>
              <a:buNone/>
            </a:pPr>
            <a:r>
              <a:rPr sz="1050">
                <a:solidFill>
                  <a:srgbClr val="5C6978"/>
                </a:solidFill>
                <a:latin typeface="Aptos"/>
                <a:ea typeface="Aptos"/>
                <a:cs typeface="Aptos"/>
              </a:rPr>
              <a:t>  ↕</a:t>
            </a:r>
          </a:p>
          <a:p xmlns:a="http://schemas.openxmlformats.org/drawingml/2006/main">
            <a:pPr marL="0" indent="0">
              <a:lnSpc>
                <a:spcPts val="1450"/>
              </a:lnSpc>
              <a:buNone/>
            </a:pPr>
            <a:r>
              <a:rPr sz="1050">
                <a:solidFill>
                  <a:srgbClr val="5C6978"/>
                </a:solidFill>
                <a:latin typeface="Aptos"/>
                <a:ea typeface="Aptos"/>
                <a:cs typeface="Aptos"/>
              </a:rPr>
              <a:t>SETUP_PENDING</a:t>
            </a:r>
          </a:p>
          <a:p xmlns:a="http://schemas.openxmlformats.org/drawingml/2006/main">
            <a:pPr marL="0" indent="0">
              <a:lnSpc>
                <a:spcPts val="1450"/>
              </a:lnSpc>
              <a:buNone/>
            </a:pPr>
            <a:r>
              <a:rPr sz="1050">
                <a:solidFill>
                  <a:srgbClr val="5C6978"/>
                </a:solidFill>
                <a:latin typeface="Aptos"/>
                <a:ea typeface="Aptos"/>
                <a:cs typeface="Aptos"/>
              </a:rPr>
              <a:t>MODIFY_PENDING</a:t>
            </a:r>
          </a:p>
          <a:p xmlns:a="http://schemas.openxmlformats.org/drawingml/2006/main">
            <a:pPr marL="0" indent="0">
              <a:lnSpc>
                <a:spcPts val="1450"/>
              </a:lnSpc>
              <a:buNone/>
            </a:pPr>
            <a:r>
              <a:rPr sz="1050">
                <a:solidFill>
                  <a:srgbClr val="5C6978"/>
                </a:solidFill>
                <a:latin typeface="Aptos"/>
                <a:ea typeface="Aptos"/>
                <a:cs typeface="Aptos"/>
              </a:rPr>
              <a:t>RELEASE_PENDING</a:t>
            </a:r>
          </a:p>
          <a:p xmlns:a="http://schemas.openxmlformats.org/drawingml/2006/main">
            <a:pPr marL="0" indent="0">
              <a:lnSpc>
                <a:spcPts val="1450"/>
              </a:lnSpc>
              <a:buNone/>
            </a:pPr>
          </a:p>
          <a:p xmlns:a="http://schemas.openxmlformats.org/drawingml/2006/main">
            <a:pPr marL="0" indent="0">
              <a:lnSpc>
                <a:spcPts val="1450"/>
              </a:lnSpc>
              <a:buNone/>
            </a:pPr>
            <a:r>
              <a:rPr sz="1050">
                <a:solidFill>
                  <a:srgbClr val="5C6978"/>
                </a:solidFill>
                <a:latin typeface="Aptos"/>
                <a:ea typeface="Aptos"/>
                <a:cs typeface="Aptos"/>
              </a:rPr>
              <a:t>Committed record retained</a:t>
            </a:r>
          </a:p>
        </p:txBody>
      </p:sp>
      <p:sp>
        <p:nvSpPr>
          <p:cNvPr id="15" name="Shape 13">
            <a:extLst xmlns:a="http://schemas.openxmlformats.org/drawingml/2006/main">
              <a:ext uri="{FF2B5EF4-FFF2-40B4-BE49-F238E27FC236}">
                <a16:creationId xmlns:a16="http://schemas.microsoft.com/office/drawing/2014/main" id="{59C8CC33-CD93-4209-B2BE-1B45C9DA5795}"/>
              </a:ext>
            </a:extLst>
          </p:cNvPr>
          <p:cNvSpPr>
            <a:spLocks xmlns:a="http://schemas.openxmlformats.org/drawingml/2006/main" noGrp="1"/>
          </p:cNvSpPr>
          <p:nvPr/>
        </p:nvSpPr>
        <p:spPr>
          <a:xfrm xmlns:a="http://schemas.openxmlformats.org/drawingml/2006/main">
            <a:off x="7973568" y="1828800"/>
            <a:ext cx="3474720" cy="1051560"/>
          </a:xfrm>
          <a:prstGeom xmlns:a="http://schemas.openxmlformats.org/drawingml/2006/main" prst="roundRect">
            <a:avLst>
              <a:gd name="adj" fmla="val 7826"/>
            </a:avLst>
          </a:prstGeom>
          <a:solidFill xmlns:a="http://schemas.openxmlformats.org/drawingml/2006/main">
            <a:srgbClr val="FCEAEA"/>
          </a:solidFill>
          <a:ln xmlns:a="http://schemas.openxmlformats.org/drawingml/2006/main" w="12700">
            <a:solidFill>
              <a:srgbClr val="C94C4C"/>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B3FD5DD0-BCA2-48EA-8469-78CD7A9D741D}"/>
              </a:ext>
            </a:extLst>
          </p:cNvPr>
          <p:cNvSpPr>
            <a:spLocks xmlns:a="http://schemas.openxmlformats.org/drawingml/2006/main" noGrp="1"/>
          </p:cNvSpPr>
          <p:nvPr/>
        </p:nvSpPr>
        <p:spPr>
          <a:xfrm xmlns:a="http://schemas.openxmlformats.org/drawingml/2006/main">
            <a:off x="8174736" y="2011680"/>
            <a:ext cx="329184" cy="329184"/>
          </a:xfrm>
          <a:prstGeom xmlns:a="http://schemas.openxmlformats.org/drawingml/2006/main" prst="ellipse">
            <a:avLst/>
          </a:prstGeom>
          <a:solidFill xmlns:a="http://schemas.openxmlformats.org/drawingml/2006/main">
            <a:srgbClr val="FFFFFF"/>
          </a:solidFill>
          <a:ln xmlns:a="http://schemas.openxmlformats.org/drawingml/2006/main" w="19050">
            <a:solidFill>
              <a:srgbClr val="C94C4C"/>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59C377F7-328B-4C3C-BBD3-9BEA0D05BC1B}"/>
              </a:ext>
            </a:extLst>
          </p:cNvPr>
          <p:cNvSpPr>
            <a:spLocks xmlns:a="http://schemas.openxmlformats.org/drawingml/2006/main" noGrp="1"/>
          </p:cNvSpPr>
          <p:nvPr/>
        </p:nvSpPr>
        <p:spPr>
          <a:xfrm xmlns:a="http://schemas.openxmlformats.org/drawingml/2006/main">
            <a:off x="8174736" y="2011680"/>
            <a:ext cx="329184" cy="32918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C94C4C"/>
                </a:solidFill>
                <a:latin typeface="Aptos"/>
                <a:ea typeface="Aptos"/>
                <a:cs typeface="Aptos"/>
              </a:rPr>
              <a:t>!</a:t>
            </a:r>
            <a:endParaRPr sz="1200"/>
          </a:p>
        </p:txBody>
      </p:sp>
      <p:sp>
        <p:nvSpPr>
          <p:cNvPr id="18" name="Text 16">
            <a:extLst xmlns:a="http://schemas.openxmlformats.org/drawingml/2006/main">
              <a:ext uri="{FF2B5EF4-FFF2-40B4-BE49-F238E27FC236}">
                <a16:creationId xmlns:a16="http://schemas.microsoft.com/office/drawing/2014/main" id="{9BA14DB1-18AA-4BF2-8626-C436D7D5B6EE}"/>
              </a:ext>
            </a:extLst>
          </p:cNvPr>
          <p:cNvSpPr>
            <a:spLocks xmlns:a="http://schemas.openxmlformats.org/drawingml/2006/main" noGrp="1"/>
          </p:cNvSpPr>
          <p:nvPr/>
        </p:nvSpPr>
        <p:spPr>
          <a:xfrm xmlns:a="http://schemas.openxmlformats.org/drawingml/2006/main">
            <a:off x="8631936" y="1975104"/>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1A344D"/>
                </a:solidFill>
                <a:latin typeface="Aptos"/>
                <a:ea typeface="Aptos"/>
                <a:cs typeface="Aptos"/>
              </a:rPr>
              <a:t>Coupling rule example</a:t>
            </a:r>
            <a:endParaRPr sz="1150"/>
          </a:p>
        </p:txBody>
      </p:sp>
      <p:sp>
        <p:nvSpPr>
          <p:cNvPr id="19" name="Text 17">
            <a:extLst xmlns:a="http://schemas.openxmlformats.org/drawingml/2006/main">
              <a:ext uri="{FF2B5EF4-FFF2-40B4-BE49-F238E27FC236}">
                <a16:creationId xmlns:a16="http://schemas.microsoft.com/office/drawing/2014/main" id="{5526BFF9-5400-473D-B1D0-BC864FC607E5}"/>
              </a:ext>
            </a:extLst>
          </p:cNvPr>
          <p:cNvSpPr>
            <a:spLocks xmlns:a="http://schemas.openxmlformats.org/drawingml/2006/main" noGrp="1"/>
          </p:cNvSpPr>
          <p:nvPr/>
        </p:nvSpPr>
        <p:spPr>
          <a:xfrm xmlns:a="http://schemas.openxmlformats.org/drawingml/2006/main">
            <a:off x="8174736" y="2304288"/>
            <a:ext cx="310896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150"/>
              </a:lnSpc>
              <a:buNone/>
            </a:pPr>
            <a:r>
              <a:rPr sz="900">
                <a:solidFill>
                  <a:srgbClr val="5C6978"/>
                </a:solidFill>
                <a:latin typeface="Aptos"/>
                <a:ea typeface="Aptos"/>
                <a:cs typeface="Aptos"/>
              </a:rPr>
              <a:t>RAN resources active + Core session absent: flag after valid observation guards and 12 ms persistence.</a:t>
            </a:r>
            <a:endParaRPr sz="900"/>
          </a:p>
        </p:txBody>
      </p:sp>
      <p:sp>
        <p:nvSpPr>
          <p:cNvPr id="20" name="Shape 18">
            <a:extLst xmlns:a="http://schemas.openxmlformats.org/drawingml/2006/main">
              <a:ext uri="{FF2B5EF4-FFF2-40B4-BE49-F238E27FC236}">
                <a16:creationId xmlns:a16="http://schemas.microsoft.com/office/drawing/2014/main" id="{6D84639F-B581-4CCF-8638-DCECEACCB12D}"/>
              </a:ext>
            </a:extLst>
          </p:cNvPr>
          <p:cNvSpPr>
            <a:spLocks xmlns:a="http://schemas.openxmlformats.org/drawingml/2006/main" noGrp="1"/>
          </p:cNvSpPr>
          <p:nvPr/>
        </p:nvSpPr>
        <p:spPr>
          <a:xfrm xmlns:a="http://schemas.openxmlformats.org/drawingml/2006/main">
            <a:off x="7973568" y="3017520"/>
            <a:ext cx="3474720" cy="1051560"/>
          </a:xfrm>
          <a:prstGeom xmlns:a="http://schemas.openxmlformats.org/drawingml/2006/main" prst="roundRect">
            <a:avLst>
              <a:gd name="adj" fmla="val 7826"/>
            </a:avLst>
          </a:prstGeom>
          <a:solidFill xmlns:a="http://schemas.openxmlformats.org/drawingml/2006/main">
            <a:srgbClr val="EAF5EE"/>
          </a:solidFill>
          <a:ln xmlns:a="http://schemas.openxmlformats.org/drawingml/2006/main" w="12700">
            <a:solidFill>
              <a:srgbClr val="2F8F5B"/>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9">
            <a:extLst xmlns:a="http://schemas.openxmlformats.org/drawingml/2006/main">
              <a:ext uri="{FF2B5EF4-FFF2-40B4-BE49-F238E27FC236}">
                <a16:creationId xmlns:a16="http://schemas.microsoft.com/office/drawing/2014/main" id="{0F92B0E0-47BE-4755-A380-2BD898A0E851}"/>
              </a:ext>
            </a:extLst>
          </p:cNvPr>
          <p:cNvSpPr>
            <a:spLocks xmlns:a="http://schemas.openxmlformats.org/drawingml/2006/main" noGrp="1"/>
          </p:cNvSpPr>
          <p:nvPr/>
        </p:nvSpPr>
        <p:spPr>
          <a:xfrm xmlns:a="http://schemas.openxmlformats.org/drawingml/2006/main">
            <a:off x="8174736" y="3200400"/>
            <a:ext cx="329184" cy="329184"/>
          </a:xfrm>
          <a:prstGeom xmlns:a="http://schemas.openxmlformats.org/drawingml/2006/main" prst="ellipse">
            <a:avLst/>
          </a:prstGeom>
          <a:solidFill xmlns:a="http://schemas.openxmlformats.org/drawingml/2006/main">
            <a:srgbClr val="FFFFFF"/>
          </a:solidFill>
          <a:ln xmlns:a="http://schemas.openxmlformats.org/drawingml/2006/main" w="19050">
            <a:solidFill>
              <a:srgbClr val="2F8F5B"/>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470EEA1B-F19B-41B9-B0CB-7F1275004A60}"/>
              </a:ext>
            </a:extLst>
          </p:cNvPr>
          <p:cNvSpPr>
            <a:spLocks xmlns:a="http://schemas.openxmlformats.org/drawingml/2006/main" noGrp="1"/>
          </p:cNvSpPr>
          <p:nvPr/>
        </p:nvSpPr>
        <p:spPr>
          <a:xfrm xmlns:a="http://schemas.openxmlformats.org/drawingml/2006/main">
            <a:off x="8174736" y="3200400"/>
            <a:ext cx="329184" cy="32918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2F8F5B"/>
                </a:solidFill>
                <a:latin typeface="Aptos"/>
                <a:ea typeface="Aptos"/>
                <a:cs typeface="Aptos"/>
              </a:rPr>
              <a:t>↻</a:t>
            </a:r>
            <a:endParaRPr sz="1200"/>
          </a:p>
        </p:txBody>
      </p:sp>
      <p:sp>
        <p:nvSpPr>
          <p:cNvPr id="23" name="Text 21">
            <a:extLst xmlns:a="http://schemas.openxmlformats.org/drawingml/2006/main">
              <a:ext uri="{FF2B5EF4-FFF2-40B4-BE49-F238E27FC236}">
                <a16:creationId xmlns:a16="http://schemas.microsoft.com/office/drawing/2014/main" id="{CFEE30F1-3B65-4C08-B7A4-AC0A3DA4EAA5}"/>
              </a:ext>
            </a:extLst>
          </p:cNvPr>
          <p:cNvSpPr>
            <a:spLocks xmlns:a="http://schemas.openxmlformats.org/drawingml/2006/main" noGrp="1"/>
          </p:cNvSpPr>
          <p:nvPr/>
        </p:nvSpPr>
        <p:spPr>
          <a:xfrm xmlns:a="http://schemas.openxmlformats.org/drawingml/2006/main">
            <a:off x="8631936" y="3163824"/>
            <a:ext cx="2743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1A344D"/>
                </a:solidFill>
                <a:latin typeface="Aptos"/>
                <a:ea typeface="Aptos"/>
                <a:cs typeface="Aptos"/>
              </a:rPr>
              <a:t>Recovery hook</a:t>
            </a:r>
            <a:endParaRPr sz="1150"/>
          </a:p>
        </p:txBody>
      </p:sp>
      <p:sp>
        <p:nvSpPr>
          <p:cNvPr id="24" name="Text 22">
            <a:extLst xmlns:a="http://schemas.openxmlformats.org/drawingml/2006/main">
              <a:ext uri="{FF2B5EF4-FFF2-40B4-BE49-F238E27FC236}">
                <a16:creationId xmlns:a16="http://schemas.microsoft.com/office/drawing/2014/main" id="{F044C4BA-5841-4D43-80F4-0ED0EEA4D5E4}"/>
              </a:ext>
            </a:extLst>
          </p:cNvPr>
          <p:cNvSpPr>
            <a:spLocks xmlns:a="http://schemas.openxmlformats.org/drawingml/2006/main" noGrp="1"/>
          </p:cNvSpPr>
          <p:nvPr/>
        </p:nvSpPr>
        <p:spPr>
          <a:xfrm xmlns:a="http://schemas.openxmlformats.org/drawingml/2006/main">
            <a:off x="8174736" y="3493008"/>
            <a:ext cx="310896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150"/>
              </a:lnSpc>
              <a:buNone/>
            </a:pPr>
            <a:r>
              <a:rPr sz="900">
                <a:solidFill>
                  <a:srgbClr val="5C6978"/>
                </a:solidFill>
                <a:latin typeface="Aptos"/>
                <a:ea typeface="Aptos"/>
                <a:cs typeface="Aptos"/>
              </a:rPr>
              <a:t>Query → refuse pending / changed versions → reconcile → verify (custom simulation adapter)</a:t>
            </a:r>
            <a:endParaRPr sz="900"/>
          </a:p>
        </p:txBody>
      </p:sp>
      <p:sp>
        <p:nvSpPr>
          <p:cNvPr id="25" name="Text 23">
            <a:extLst xmlns:a="http://schemas.openxmlformats.org/drawingml/2006/main">
              <a:ext uri="{FF2B5EF4-FFF2-40B4-BE49-F238E27FC236}">
                <a16:creationId xmlns:a16="http://schemas.microsoft.com/office/drawing/2014/main" id="{E6EE9AD9-B36B-4B96-9B4B-E8693071E428}"/>
              </a:ext>
            </a:extLst>
          </p:cNvPr>
          <p:cNvSpPr>
            <a:spLocks xmlns:a="http://schemas.openxmlformats.org/drawingml/2006/main" noGrp="1"/>
          </p:cNvSpPr>
          <p:nvPr/>
        </p:nvSpPr>
        <p:spPr>
          <a:xfrm xmlns:a="http://schemas.openxmlformats.org/drawingml/2006/main">
            <a:off x="566928" y="6510528"/>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00">
                <a:solidFill>
                  <a:srgbClr val="8A94A0"/>
                </a:solidFill>
                <a:latin typeface="Aptos"/>
                <a:ea typeface="Aptos"/>
                <a:cs typeface="Aptos"/>
              </a:rPr>
              <a:t>Final Project</a:t>
            </a:r>
            <a:r>
              <a:rPr sz="800">
                <a:solidFill>
                  <a:srgbClr val="8A94A0"/>
                </a:solidFill>
                <a:latin typeface="Aptos"/>
                <a:ea typeface="Aptos"/>
                <a:cs typeface="Aptos"/>
              </a:rPr>
              <a:t>  •  5G UE Context Desynchronization Detection and Recovery</a:t>
            </a:r>
            <a:endParaRPr sz="800"/>
          </a:p>
        </p:txBody>
      </p:sp>
      <p:sp>
        <p:nvSpPr>
          <p:cNvPr id="26" name="Text 24">
            <a:extLst xmlns:a="http://schemas.openxmlformats.org/drawingml/2006/main">
              <a:ext uri="{FF2B5EF4-FFF2-40B4-BE49-F238E27FC236}">
                <a16:creationId xmlns:a16="http://schemas.microsoft.com/office/drawing/2014/main" id="{CD5C5849-69F2-4CD3-A21B-7FEBF628615A}"/>
              </a:ext>
            </a:extLst>
          </p:cNvPr>
          <p:cNvSpPr>
            <a:spLocks xmlns:a="http://schemas.openxmlformats.org/drawingml/2006/main" noGrp="1"/>
          </p:cNvSpPr>
          <p:nvPr/>
        </p:nvSpPr>
        <p:spPr>
          <a:xfrm xmlns:a="http://schemas.openxmlformats.org/drawingml/2006/main">
            <a:off x="11164824" y="6510528"/>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b="1">
                <a:solidFill>
                  <a:srgbClr val="8A94A0"/>
                </a:solidFill>
                <a:latin typeface="Aptos"/>
                <a:ea typeface="Aptos"/>
                <a:cs typeface="Aptos"/>
              </a:rPr>
              <a:t>08</a:t>
            </a:r>
            <a:endParaRPr sz="900"/>
          </a:p>
        </p:txBody>
      </p:sp>
    </p:spTree>
    <p:extLst>
      <p:ext uri="{BB962C8B-B14F-4D97-AF65-F5344CB8AC3E}">
        <p14:creationId xmlns:p14="http://schemas.microsoft.com/office/powerpoint/2010/main" val="1698638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3C2F119-7EE7-45A8-9911-298FE22F5597}"/>
              </a:ext>
            </a:extLst>
          </p:cNvPr>
          <p:cNvSpPr>
            <a:spLocks xmlns:a="http://schemas.openxmlformats.org/drawingml/2006/main" noGrp="1"/>
          </p:cNvSpPr>
          <p:nvPr/>
        </p:nvSpPr>
        <p:spPr>
          <a:xfrm xmlns:a="http://schemas.openxmlformats.org/drawingml/2006/main">
            <a:off x="566928"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2F6FED"/>
                </a:solidFill>
                <a:latin typeface="Aptos"/>
                <a:ea typeface="Aptos"/>
                <a:cs typeface="Aptos"/>
              </a:rPr>
              <a:t>08 · EVALUATION</a:t>
            </a:r>
            <a:endParaRPr sz="1100"/>
          </a:p>
        </p:txBody>
      </p:sp>
      <p:sp>
        <p:nvSpPr>
          <p:cNvPr id="3" name="Text 1">
            <a:extLst xmlns:a="http://schemas.openxmlformats.org/drawingml/2006/main">
              <a:ext uri="{FF2B5EF4-FFF2-40B4-BE49-F238E27FC236}">
                <a16:creationId xmlns:a16="http://schemas.microsoft.com/office/drawing/2014/main" id="{6BEBC1C0-AE62-42F2-BCBE-2ABD5E716A09}"/>
              </a:ext>
            </a:extLst>
          </p:cNvPr>
          <p:cNvSpPr>
            <a:spLocks xmlns:a="http://schemas.openxmlformats.org/drawingml/2006/main" noGrp="1"/>
          </p:cNvSpPr>
          <p:nvPr/>
        </p:nvSpPr>
        <p:spPr>
          <a:xfrm xmlns:a="http://schemas.openxmlformats.org/drawingml/2006/main">
            <a:off x="566928" y="676656"/>
            <a:ext cx="10789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344D"/>
                </a:solidFill>
                <a:latin typeface="Aptos"/>
                <a:ea typeface="Aptos"/>
                <a:cs typeface="Aptos"/>
              </a:rPr>
              <a:t>Measured evaluation results</a:t>
            </a:r>
            <a:endParaRPr sz="3000"/>
          </a:p>
        </p:txBody>
      </p:sp>
      <p:sp>
        <p:nvSpPr>
          <p:cNvPr id="4" name="Text 2">
            <a:extLst xmlns:a="http://schemas.openxmlformats.org/drawingml/2006/main">
              <a:ext uri="{FF2B5EF4-FFF2-40B4-BE49-F238E27FC236}">
                <a16:creationId xmlns:a16="http://schemas.microsoft.com/office/drawing/2014/main" id="{2818F0DC-011A-41A6-978C-B173511AC4D9}"/>
              </a:ext>
            </a:extLst>
          </p:cNvPr>
          <p:cNvSpPr>
            <a:spLocks xmlns:a="http://schemas.openxmlformats.org/drawingml/2006/main" noGrp="1"/>
          </p:cNvSpPr>
          <p:nvPr/>
        </p:nvSpPr>
        <p:spPr>
          <a:xfrm xmlns:a="http://schemas.openxmlformats.org/drawingml/2006/main">
            <a:off x="566928" y="1225296"/>
            <a:ext cx="106070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5C6978"/>
                </a:solidFill>
                <a:latin typeface="Aptos"/>
                <a:ea typeface="Aptos"/>
                <a:cs typeface="Aptos"/>
              </a:rPr>
              <a:t>40 paired seeds per scenario, six sessions per run. Values below refer to selected synthetic cases.</a:t>
            </a:r>
            <a:endParaRPr sz="1300"/>
          </a:p>
        </p:txBody>
      </p:sp>
      <p:sp>
        <p:nvSpPr>
          <p:cNvPr id="5" name="Shape 3">
            <a:extLst xmlns:a="http://schemas.openxmlformats.org/drawingml/2006/main">
              <a:ext uri="{FF2B5EF4-FFF2-40B4-BE49-F238E27FC236}">
                <a16:creationId xmlns:a16="http://schemas.microsoft.com/office/drawing/2014/main" id="{3F8A67E1-35BD-489F-9176-AA9677FF7FB3}"/>
              </a:ext>
            </a:extLst>
          </p:cNvPr>
          <p:cNvSpPr>
            <a:spLocks xmlns:a="http://schemas.openxmlformats.org/drawingml/2006/main" noGrp="1"/>
          </p:cNvSpPr>
          <p:nvPr/>
        </p:nvSpPr>
        <p:spPr>
          <a:xfrm xmlns:a="http://schemas.openxmlformats.org/drawingml/2006/main">
            <a:off x="566928" y="1783080"/>
            <a:ext cx="5394960" cy="9144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B6B77517-C253-4D35-8786-59F2556624B7}"/>
              </a:ext>
            </a:extLst>
          </p:cNvPr>
          <p:cNvSpPr>
            <a:spLocks xmlns:a="http://schemas.openxmlformats.org/drawingml/2006/main" noGrp="1"/>
          </p:cNvSpPr>
          <p:nvPr/>
        </p:nvSpPr>
        <p:spPr>
          <a:xfrm xmlns:a="http://schemas.openxmlformats.org/drawingml/2006/main">
            <a:off x="795528" y="2048256"/>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AEF39D8C-906F-4EC6-BEBF-AE4D015D8CF7}"/>
              </a:ext>
            </a:extLst>
          </p:cNvPr>
          <p:cNvSpPr>
            <a:spLocks xmlns:a="http://schemas.openxmlformats.org/drawingml/2006/main" noGrp="1"/>
          </p:cNvSpPr>
          <p:nvPr/>
        </p:nvSpPr>
        <p:spPr>
          <a:xfrm xmlns:a="http://schemas.openxmlformats.org/drawingml/2006/main">
            <a:off x="795528" y="2048256"/>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2F6FED"/>
                </a:solidFill>
                <a:latin typeface="Aptos"/>
                <a:ea typeface="Aptos"/>
                <a:cs typeface="Aptos"/>
              </a:rPr>
              <a:t>1</a:t>
            </a:r>
            <a:endParaRPr sz="1200"/>
          </a:p>
        </p:txBody>
      </p:sp>
      <p:sp>
        <p:nvSpPr>
          <p:cNvPr id="8" name="Text 6">
            <a:extLst xmlns:a="http://schemas.openxmlformats.org/drawingml/2006/main">
              <a:ext uri="{FF2B5EF4-FFF2-40B4-BE49-F238E27FC236}">
                <a16:creationId xmlns:a16="http://schemas.microsoft.com/office/drawing/2014/main" id="{7B5C9B82-9E73-4B7C-B172-DE4BB219CC36}"/>
              </a:ext>
            </a:extLst>
          </p:cNvPr>
          <p:cNvSpPr>
            <a:spLocks xmlns:a="http://schemas.openxmlformats.org/drawingml/2006/main" noGrp="1"/>
          </p:cNvSpPr>
          <p:nvPr/>
        </p:nvSpPr>
        <p:spPr>
          <a:xfrm xmlns:a="http://schemas.openxmlformats.org/drawingml/2006/main">
            <a:off x="1344168" y="1901952"/>
            <a:ext cx="438912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A344D"/>
                </a:solidFill>
                <a:latin typeface="Aptos"/>
                <a:ea typeface="Aptos"/>
                <a:cs typeface="Aptos"/>
              </a:rPr>
              <a:t>Precision / Recall: 1.00</a:t>
            </a:r>
            <a:endParaRPr sz="1350"/>
          </a:p>
        </p:txBody>
      </p:sp>
      <p:sp>
        <p:nvSpPr>
          <p:cNvPr id="9" name="Text 7">
            <a:extLst xmlns:a="http://schemas.openxmlformats.org/drawingml/2006/main">
              <a:ext uri="{FF2B5EF4-FFF2-40B4-BE49-F238E27FC236}">
                <a16:creationId xmlns:a16="http://schemas.microsoft.com/office/drawing/2014/main" id="{2B5713E4-BEA2-4A92-B136-80E90A8FBE78}"/>
              </a:ext>
            </a:extLst>
          </p:cNvPr>
          <p:cNvSpPr>
            <a:spLocks xmlns:a="http://schemas.openxmlformats.org/drawingml/2006/main" noGrp="1"/>
          </p:cNvSpPr>
          <p:nvPr/>
        </p:nvSpPr>
        <p:spPr>
          <a:xfrm xmlns:a="http://schemas.openxmlformats.org/drawingml/2006/main">
            <a:off x="1344168" y="2221992"/>
            <a:ext cx="438912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050">
                <a:solidFill>
                  <a:srgbClr val="5C6978"/>
                </a:solidFill>
                <a:latin typeface="Aptos"/>
                <a:ea typeface="Aptos"/>
                <a:cs typeface="Aptos"/>
              </a:rPr>
              <a:t>QoS completion failure: 167 TP, 0 FP, 0 FN with aware detection.</a:t>
            </a:r>
            <a:endParaRPr sz="1050"/>
          </a:p>
        </p:txBody>
      </p:sp>
      <p:sp>
        <p:nvSpPr>
          <p:cNvPr id="10" name="Shape 8">
            <a:extLst xmlns:a="http://schemas.openxmlformats.org/drawingml/2006/main">
              <a:ext uri="{FF2B5EF4-FFF2-40B4-BE49-F238E27FC236}">
                <a16:creationId xmlns:a16="http://schemas.microsoft.com/office/drawing/2014/main" id="{201055B7-AC2C-442F-B4A0-0A39E3DF79F1}"/>
              </a:ext>
            </a:extLst>
          </p:cNvPr>
          <p:cNvSpPr>
            <a:spLocks xmlns:a="http://schemas.openxmlformats.org/drawingml/2006/main" noGrp="1"/>
          </p:cNvSpPr>
          <p:nvPr/>
        </p:nvSpPr>
        <p:spPr>
          <a:xfrm xmlns:a="http://schemas.openxmlformats.org/drawingml/2006/main">
            <a:off x="6236208" y="1783080"/>
            <a:ext cx="5394960" cy="9144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34FE3870-31DC-443C-A16D-71E041363A5D}"/>
              </a:ext>
            </a:extLst>
          </p:cNvPr>
          <p:cNvSpPr>
            <a:spLocks xmlns:a="http://schemas.openxmlformats.org/drawingml/2006/main" noGrp="1"/>
          </p:cNvSpPr>
          <p:nvPr/>
        </p:nvSpPr>
        <p:spPr>
          <a:xfrm xmlns:a="http://schemas.openxmlformats.org/drawingml/2006/main">
            <a:off x="6464808" y="2048256"/>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1B9E8C"/>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DB0C54CD-EB26-4A46-9903-7CAF68F7DCE6}"/>
              </a:ext>
            </a:extLst>
          </p:cNvPr>
          <p:cNvSpPr>
            <a:spLocks xmlns:a="http://schemas.openxmlformats.org/drawingml/2006/main" noGrp="1"/>
          </p:cNvSpPr>
          <p:nvPr/>
        </p:nvSpPr>
        <p:spPr>
          <a:xfrm xmlns:a="http://schemas.openxmlformats.org/drawingml/2006/main">
            <a:off x="6464808" y="2048256"/>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1B9E8C"/>
                </a:solidFill>
                <a:latin typeface="Aptos"/>
                <a:ea typeface="Aptos"/>
                <a:cs typeface="Aptos"/>
              </a:rPr>
              <a:t>2</a:t>
            </a:r>
            <a:endParaRPr sz="1200"/>
          </a:p>
        </p:txBody>
      </p:sp>
      <p:sp>
        <p:nvSpPr>
          <p:cNvPr id="13" name="Text 11">
            <a:extLst xmlns:a="http://schemas.openxmlformats.org/drawingml/2006/main">
              <a:ext uri="{FF2B5EF4-FFF2-40B4-BE49-F238E27FC236}">
                <a16:creationId xmlns:a16="http://schemas.microsoft.com/office/drawing/2014/main" id="{850A4B6F-2794-41E2-8C44-95FE7B18AEE0}"/>
              </a:ext>
            </a:extLst>
          </p:cNvPr>
          <p:cNvSpPr>
            <a:spLocks xmlns:a="http://schemas.openxmlformats.org/drawingml/2006/main" noGrp="1"/>
          </p:cNvSpPr>
          <p:nvPr/>
        </p:nvSpPr>
        <p:spPr>
          <a:xfrm xmlns:a="http://schemas.openxmlformats.org/drawingml/2006/main">
            <a:off x="7013448" y="1901952"/>
            <a:ext cx="438912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A344D"/>
                </a:solidFill>
                <a:latin typeface="Aptos"/>
                <a:ea typeface="Aptos"/>
                <a:cs typeface="Aptos"/>
              </a:rPr>
              <a:t>Probe lead time: 18.35 ms</a:t>
            </a:r>
            <a:endParaRPr sz="1350"/>
          </a:p>
        </p:txBody>
      </p:sp>
      <p:sp>
        <p:nvSpPr>
          <p:cNvPr id="14" name="Text 12">
            <a:extLst xmlns:a="http://schemas.openxmlformats.org/drawingml/2006/main">
              <a:ext uri="{FF2B5EF4-FFF2-40B4-BE49-F238E27FC236}">
                <a16:creationId xmlns:a16="http://schemas.microsoft.com/office/drawing/2014/main" id="{997CF206-E641-4AE4-A621-2A37897A97A3}"/>
              </a:ext>
            </a:extLst>
          </p:cNvPr>
          <p:cNvSpPr>
            <a:spLocks xmlns:a="http://schemas.openxmlformats.org/drawingml/2006/main" noGrp="1"/>
          </p:cNvSpPr>
          <p:nvPr/>
        </p:nvSpPr>
        <p:spPr>
          <a:xfrm xmlns:a="http://schemas.openxmlformats.org/drawingml/2006/main">
            <a:off x="7013448" y="2221992"/>
            <a:ext cx="438912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050">
                <a:solidFill>
                  <a:srgbClr val="5C6978"/>
                </a:solidFill>
                <a:latin typeface="Aptos"/>
                <a:ea typeface="Aptos"/>
                <a:cs typeface="Aptos"/>
              </a:rPr>
              <a:t>QoS completion failure, recovery off. Mean detection delay: 20.93 ms.</a:t>
            </a:r>
            <a:endParaRPr sz="1050"/>
          </a:p>
        </p:txBody>
      </p:sp>
      <p:sp>
        <p:nvSpPr>
          <p:cNvPr id="15" name="Shape 13">
            <a:extLst xmlns:a="http://schemas.openxmlformats.org/drawingml/2006/main">
              <a:ext uri="{FF2B5EF4-FFF2-40B4-BE49-F238E27FC236}">
                <a16:creationId xmlns:a16="http://schemas.microsoft.com/office/drawing/2014/main" id="{02E72E5D-482E-4565-9511-3F8A13AC805D}"/>
              </a:ext>
            </a:extLst>
          </p:cNvPr>
          <p:cNvSpPr>
            <a:spLocks xmlns:a="http://schemas.openxmlformats.org/drawingml/2006/main" noGrp="1"/>
          </p:cNvSpPr>
          <p:nvPr/>
        </p:nvSpPr>
        <p:spPr>
          <a:xfrm xmlns:a="http://schemas.openxmlformats.org/drawingml/2006/main">
            <a:off x="566928" y="2898648"/>
            <a:ext cx="5394960" cy="9144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FE46DA6E-C986-4F77-8DDF-B791DC9364E9}"/>
              </a:ext>
            </a:extLst>
          </p:cNvPr>
          <p:cNvSpPr>
            <a:spLocks xmlns:a="http://schemas.openxmlformats.org/drawingml/2006/main" noGrp="1"/>
          </p:cNvSpPr>
          <p:nvPr/>
        </p:nvSpPr>
        <p:spPr>
          <a:xfrm xmlns:a="http://schemas.openxmlformats.org/drawingml/2006/main">
            <a:off x="795528" y="3163824"/>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CC842D"/>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F44C399A-36B9-4791-9E3B-C465CD89B638}"/>
              </a:ext>
            </a:extLst>
          </p:cNvPr>
          <p:cNvSpPr>
            <a:spLocks xmlns:a="http://schemas.openxmlformats.org/drawingml/2006/main" noGrp="1"/>
          </p:cNvSpPr>
          <p:nvPr/>
        </p:nvSpPr>
        <p:spPr>
          <a:xfrm xmlns:a="http://schemas.openxmlformats.org/drawingml/2006/main">
            <a:off x="795528" y="3163824"/>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CC842D"/>
                </a:solidFill>
                <a:latin typeface="Aptos"/>
                <a:ea typeface="Aptos"/>
                <a:cs typeface="Aptos"/>
              </a:rPr>
              <a:t>3</a:t>
            </a:r>
            <a:endParaRPr sz="1200"/>
          </a:p>
        </p:txBody>
      </p:sp>
      <p:sp>
        <p:nvSpPr>
          <p:cNvPr id="18" name="Text 16">
            <a:extLst xmlns:a="http://schemas.openxmlformats.org/drawingml/2006/main">
              <a:ext uri="{FF2B5EF4-FFF2-40B4-BE49-F238E27FC236}">
                <a16:creationId xmlns:a16="http://schemas.microsoft.com/office/drawing/2014/main" id="{6FBE7BCD-84FF-4EAD-842B-359D3A7718BC}"/>
              </a:ext>
            </a:extLst>
          </p:cNvPr>
          <p:cNvSpPr>
            <a:spLocks xmlns:a="http://schemas.openxmlformats.org/drawingml/2006/main" noGrp="1"/>
          </p:cNvSpPr>
          <p:nvPr/>
        </p:nvSpPr>
        <p:spPr>
          <a:xfrm xmlns:a="http://schemas.openxmlformats.org/drawingml/2006/main">
            <a:off x="1344168" y="3017520"/>
            <a:ext cx="438912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A344D"/>
                </a:solidFill>
                <a:latin typeface="Aptos"/>
                <a:ea typeface="Aptos"/>
                <a:cs typeface="Aptos"/>
              </a:rPr>
              <a:t>Delay false-positive rate: 0%</a:t>
            </a:r>
            <a:endParaRPr sz="1350"/>
          </a:p>
        </p:txBody>
      </p:sp>
      <p:sp>
        <p:nvSpPr>
          <p:cNvPr id="19" name="Text 17">
            <a:extLst xmlns:a="http://schemas.openxmlformats.org/drawingml/2006/main">
              <a:ext uri="{FF2B5EF4-FFF2-40B4-BE49-F238E27FC236}">
                <a16:creationId xmlns:a16="http://schemas.microsoft.com/office/drawing/2014/main" id="{E0714B19-E7DB-4D18-AC38-2EF8CACF454C}"/>
              </a:ext>
            </a:extLst>
          </p:cNvPr>
          <p:cNvSpPr>
            <a:spLocks xmlns:a="http://schemas.openxmlformats.org/drawingml/2006/main" noGrp="1"/>
          </p:cNvSpPr>
          <p:nvPr/>
        </p:nvSpPr>
        <p:spPr>
          <a:xfrm xmlns:a="http://schemas.openxmlformats.org/drawingml/2006/main">
            <a:off x="1344168" y="3337560"/>
            <a:ext cx="438912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050">
                <a:solidFill>
                  <a:srgbClr val="5C6978"/>
                </a:solidFill>
                <a:latin typeface="Aptos"/>
                <a:ea typeface="Aptos"/>
                <a:cs typeface="Aptos"/>
              </a:rPr>
              <a:t>Aware: 0/240 sessions. Fixed 25 ms: 225/240 (93.75%).</a:t>
            </a:r>
            <a:endParaRPr sz="1050"/>
          </a:p>
        </p:txBody>
      </p:sp>
      <p:sp>
        <p:nvSpPr>
          <p:cNvPr id="20" name="Shape 18">
            <a:extLst xmlns:a="http://schemas.openxmlformats.org/drawingml/2006/main">
              <a:ext uri="{FF2B5EF4-FFF2-40B4-BE49-F238E27FC236}">
                <a16:creationId xmlns:a16="http://schemas.microsoft.com/office/drawing/2014/main" id="{C9E96BD1-A349-4D72-ADE3-AE80E31B85AD}"/>
              </a:ext>
            </a:extLst>
          </p:cNvPr>
          <p:cNvSpPr>
            <a:spLocks xmlns:a="http://schemas.openxmlformats.org/drawingml/2006/main" noGrp="1"/>
          </p:cNvSpPr>
          <p:nvPr/>
        </p:nvSpPr>
        <p:spPr>
          <a:xfrm xmlns:a="http://schemas.openxmlformats.org/drawingml/2006/main">
            <a:off x="6236208" y="2898648"/>
            <a:ext cx="5394960" cy="9144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9">
            <a:extLst xmlns:a="http://schemas.openxmlformats.org/drawingml/2006/main">
              <a:ext uri="{FF2B5EF4-FFF2-40B4-BE49-F238E27FC236}">
                <a16:creationId xmlns:a16="http://schemas.microsoft.com/office/drawing/2014/main" id="{AD537F2E-030B-4376-B9BE-2B5D8F0B4F77}"/>
              </a:ext>
            </a:extLst>
          </p:cNvPr>
          <p:cNvSpPr>
            <a:spLocks xmlns:a="http://schemas.openxmlformats.org/drawingml/2006/main" noGrp="1"/>
          </p:cNvSpPr>
          <p:nvPr/>
        </p:nvSpPr>
        <p:spPr>
          <a:xfrm xmlns:a="http://schemas.openxmlformats.org/drawingml/2006/main">
            <a:off x="6464808" y="3163824"/>
            <a:ext cx="384048" cy="384048"/>
          </a:xfrm>
          <a:prstGeom xmlns:a="http://schemas.openxmlformats.org/drawingml/2006/main" prst="ellipse">
            <a:avLst/>
          </a:prstGeom>
          <a:solidFill xmlns:a="http://schemas.openxmlformats.org/drawingml/2006/main">
            <a:srgbClr val="FFFFFF"/>
          </a:solidFill>
          <a:ln xmlns:a="http://schemas.openxmlformats.org/drawingml/2006/main" w="19050">
            <a:solidFill>
              <a:srgbClr val="2F8F5B"/>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E23AFC49-A96C-46AB-A312-60B406EFC6B5}"/>
              </a:ext>
            </a:extLst>
          </p:cNvPr>
          <p:cNvSpPr>
            <a:spLocks xmlns:a="http://schemas.openxmlformats.org/drawingml/2006/main" noGrp="1"/>
          </p:cNvSpPr>
          <p:nvPr/>
        </p:nvSpPr>
        <p:spPr>
          <a:xfrm xmlns:a="http://schemas.openxmlformats.org/drawingml/2006/main">
            <a:off x="6464808" y="3163824"/>
            <a:ext cx="384048" cy="38404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2F8F5B"/>
                </a:solidFill>
                <a:latin typeface="Aptos"/>
                <a:ea typeface="Aptos"/>
                <a:cs typeface="Aptos"/>
              </a:rPr>
              <a:t>4</a:t>
            </a:r>
            <a:endParaRPr sz="1200"/>
          </a:p>
        </p:txBody>
      </p:sp>
      <p:sp>
        <p:nvSpPr>
          <p:cNvPr id="23" name="Text 21">
            <a:extLst xmlns:a="http://schemas.openxmlformats.org/drawingml/2006/main">
              <a:ext uri="{FF2B5EF4-FFF2-40B4-BE49-F238E27FC236}">
                <a16:creationId xmlns:a16="http://schemas.microsoft.com/office/drawing/2014/main" id="{4AB9B462-3DFE-4DF5-9AD7-1FB0CF546933}"/>
              </a:ext>
            </a:extLst>
          </p:cNvPr>
          <p:cNvSpPr>
            <a:spLocks xmlns:a="http://schemas.openxmlformats.org/drawingml/2006/main" noGrp="1"/>
          </p:cNvSpPr>
          <p:nvPr/>
        </p:nvSpPr>
        <p:spPr>
          <a:xfrm xmlns:a="http://schemas.openxmlformats.org/drawingml/2006/main">
            <a:off x="7013448" y="3017520"/>
            <a:ext cx="438912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50" b="1">
                <a:solidFill>
                  <a:srgbClr val="1A344D"/>
                </a:solidFill>
                <a:latin typeface="Aptos"/>
                <a:ea typeface="Aptos"/>
                <a:cs typeface="Aptos"/>
              </a:rPr>
              <a:t>Recovery: 167 / 167 jobs</a:t>
            </a:r>
            <a:endParaRPr sz="1350"/>
          </a:p>
        </p:txBody>
      </p:sp>
      <p:sp>
        <p:nvSpPr>
          <p:cNvPr id="24" name="Text 22">
            <a:extLst xmlns:a="http://schemas.openxmlformats.org/drawingml/2006/main">
              <a:ext uri="{FF2B5EF4-FFF2-40B4-BE49-F238E27FC236}">
                <a16:creationId xmlns:a16="http://schemas.microsoft.com/office/drawing/2014/main" id="{7BFC14F5-A577-4E0D-B331-9D7A5105565E}"/>
              </a:ext>
            </a:extLst>
          </p:cNvPr>
          <p:cNvSpPr>
            <a:spLocks xmlns:a="http://schemas.openxmlformats.org/drawingml/2006/main" noGrp="1"/>
          </p:cNvSpPr>
          <p:nvPr/>
        </p:nvSpPr>
        <p:spPr>
          <a:xfrm xmlns:a="http://schemas.openxmlformats.org/drawingml/2006/main">
            <a:off x="7013448" y="3337560"/>
            <a:ext cx="438912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300"/>
              </a:lnSpc>
              <a:buNone/>
            </a:pPr>
            <a:r>
              <a:rPr sz="1050">
                <a:solidFill>
                  <a:srgbClr val="5C6978"/>
                </a:solidFill>
                <a:latin typeface="Aptos"/>
                <a:ea typeface="Aptos"/>
                <a:cs typeface="Aptos"/>
              </a:rPr>
              <a:t>QoS failed probes fall from 334 to 148 out of 720. Convergence is not connectivity.</a:t>
            </a:r>
            <a:endParaRPr sz="1050"/>
          </a:p>
        </p:txBody>
      </p:sp>
      <p:sp>
        <p:nvSpPr>
          <p:cNvPr id="25" name="Text 23">
            <a:extLst xmlns:a="http://schemas.openxmlformats.org/drawingml/2006/main">
              <a:ext uri="{FF2B5EF4-FFF2-40B4-BE49-F238E27FC236}">
                <a16:creationId xmlns:a16="http://schemas.microsoft.com/office/drawing/2014/main" id="{D86386A5-A2EA-433A-9BC1-19E9453F9F15}"/>
              </a:ext>
            </a:extLst>
          </p:cNvPr>
          <p:cNvSpPr>
            <a:spLocks xmlns:a="http://schemas.openxmlformats.org/drawingml/2006/main" noGrp="1"/>
          </p:cNvSpPr>
          <p:nvPr/>
        </p:nvSpPr>
        <p:spPr>
          <a:xfrm xmlns:a="http://schemas.openxmlformats.org/drawingml/2006/main">
            <a:off x="566928" y="4251960"/>
            <a:ext cx="1645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spc="100">
                <a:solidFill>
                  <a:srgbClr val="2F6FED"/>
                </a:solidFill>
                <a:latin typeface="Aptos"/>
                <a:ea typeface="Aptos"/>
                <a:cs typeface="Aptos"/>
              </a:rPr>
              <a:t>SCENARIOS</a:t>
            </a:r>
            <a:endParaRPr sz="1050"/>
          </a:p>
        </p:txBody>
      </p:sp>
      <p:sp>
        <p:nvSpPr>
          <p:cNvPr id="26" name="Shape 24">
            <a:extLst xmlns:a="http://schemas.openxmlformats.org/drawingml/2006/main">
              <a:ext uri="{FF2B5EF4-FFF2-40B4-BE49-F238E27FC236}">
                <a16:creationId xmlns:a16="http://schemas.microsoft.com/office/drawing/2014/main" id="{B1B2C90E-F940-4490-9389-8395B425CD50}"/>
              </a:ext>
            </a:extLst>
          </p:cNvPr>
          <p:cNvSpPr>
            <a:spLocks xmlns:a="http://schemas.openxmlformats.org/drawingml/2006/main" noGrp="1"/>
          </p:cNvSpPr>
          <p:nvPr/>
        </p:nvSpPr>
        <p:spPr>
          <a:xfrm xmlns:a="http://schemas.openxmlformats.org/drawingml/2006/main">
            <a:off x="566928" y="4572000"/>
            <a:ext cx="777240" cy="38404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5875">
            <a:solidFill>
              <a:srgbClr val="1A344D"/>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Text 25">
            <a:extLst xmlns:a="http://schemas.openxmlformats.org/drawingml/2006/main">
              <a:ext uri="{FF2B5EF4-FFF2-40B4-BE49-F238E27FC236}">
                <a16:creationId xmlns:a16="http://schemas.microsoft.com/office/drawing/2014/main" id="{B82013AD-8150-4A82-8BE6-69B5F79B8847}"/>
              </a:ext>
            </a:extLst>
          </p:cNvPr>
          <p:cNvSpPr>
            <a:spLocks xmlns:a="http://schemas.openxmlformats.org/drawingml/2006/main" noGrp="1"/>
          </p:cNvSpPr>
          <p:nvPr/>
        </p:nvSpPr>
        <p:spPr>
          <a:xfrm xmlns:a="http://schemas.openxmlformats.org/drawingml/2006/main">
            <a:off x="566928" y="4572000"/>
            <a:ext cx="77724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1A344D"/>
                </a:solidFill>
                <a:latin typeface="Aptos"/>
                <a:ea typeface="Aptos"/>
                <a:cs typeface="Aptos"/>
              </a:rPr>
              <a:t>Clean</a:t>
            </a:r>
            <a:endParaRPr sz="1050"/>
          </a:p>
        </p:txBody>
      </p:sp>
      <p:sp>
        <p:nvSpPr>
          <p:cNvPr id="28" name="Shape 26">
            <a:extLst xmlns:a="http://schemas.openxmlformats.org/drawingml/2006/main">
              <a:ext uri="{FF2B5EF4-FFF2-40B4-BE49-F238E27FC236}">
                <a16:creationId xmlns:a16="http://schemas.microsoft.com/office/drawing/2014/main" id="{6C899A53-389F-42FB-9E21-426FCB794A8F}"/>
              </a:ext>
            </a:extLst>
          </p:cNvPr>
          <p:cNvSpPr>
            <a:spLocks xmlns:a="http://schemas.openxmlformats.org/drawingml/2006/main" noGrp="1"/>
          </p:cNvSpPr>
          <p:nvPr/>
        </p:nvSpPr>
        <p:spPr>
          <a:xfrm xmlns:a="http://schemas.openxmlformats.org/drawingml/2006/main">
            <a:off x="1527048" y="4572000"/>
            <a:ext cx="1188720" cy="38404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5875">
            <a:solidFill>
              <a:srgbClr val="2F6FED"/>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Text 27">
            <a:extLst xmlns:a="http://schemas.openxmlformats.org/drawingml/2006/main">
              <a:ext uri="{FF2B5EF4-FFF2-40B4-BE49-F238E27FC236}">
                <a16:creationId xmlns:a16="http://schemas.microsoft.com/office/drawing/2014/main" id="{1A115E1C-8E0D-4FB3-A550-96CF4C4E3EBB}"/>
              </a:ext>
            </a:extLst>
          </p:cNvPr>
          <p:cNvSpPr>
            <a:spLocks xmlns:a="http://schemas.openxmlformats.org/drawingml/2006/main" noGrp="1"/>
          </p:cNvSpPr>
          <p:nvPr/>
        </p:nvSpPr>
        <p:spPr>
          <a:xfrm xmlns:a="http://schemas.openxmlformats.org/drawingml/2006/main">
            <a:off x="1527048" y="4572000"/>
            <a:ext cx="118872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2F6FED"/>
                </a:solidFill>
                <a:latin typeface="Aptos"/>
                <a:ea typeface="Aptos"/>
                <a:cs typeface="Aptos"/>
              </a:rPr>
              <a:t>Delay only</a:t>
            </a:r>
            <a:endParaRPr sz="1050"/>
          </a:p>
        </p:txBody>
      </p:sp>
      <p:sp>
        <p:nvSpPr>
          <p:cNvPr id="30" name="Shape 28">
            <a:extLst xmlns:a="http://schemas.openxmlformats.org/drawingml/2006/main">
              <a:ext uri="{FF2B5EF4-FFF2-40B4-BE49-F238E27FC236}">
                <a16:creationId xmlns:a16="http://schemas.microsoft.com/office/drawing/2014/main" id="{72829AAE-2044-4234-AD93-3889FB16AEE1}"/>
              </a:ext>
            </a:extLst>
          </p:cNvPr>
          <p:cNvSpPr>
            <a:spLocks xmlns:a="http://schemas.openxmlformats.org/drawingml/2006/main" noGrp="1"/>
          </p:cNvSpPr>
          <p:nvPr/>
        </p:nvSpPr>
        <p:spPr>
          <a:xfrm xmlns:a="http://schemas.openxmlformats.org/drawingml/2006/main">
            <a:off x="2898648" y="4572000"/>
            <a:ext cx="1353312" cy="38404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5875">
            <a:solidFill>
              <a:srgbClr val="C94C4C"/>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9">
            <a:extLst xmlns:a="http://schemas.openxmlformats.org/drawingml/2006/main">
              <a:ext uri="{FF2B5EF4-FFF2-40B4-BE49-F238E27FC236}">
                <a16:creationId xmlns:a16="http://schemas.microsoft.com/office/drawing/2014/main" id="{3CCF6075-D74F-4B76-8A6A-231FB068AA3C}"/>
              </a:ext>
            </a:extLst>
          </p:cNvPr>
          <p:cNvSpPr>
            <a:spLocks xmlns:a="http://schemas.openxmlformats.org/drawingml/2006/main" noGrp="1"/>
          </p:cNvSpPr>
          <p:nvPr/>
        </p:nvSpPr>
        <p:spPr>
          <a:xfrm xmlns:a="http://schemas.openxmlformats.org/drawingml/2006/main">
            <a:off x="2898648" y="4572000"/>
            <a:ext cx="1353312"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C94C4C"/>
                </a:solidFill>
                <a:latin typeface="Aptos"/>
                <a:ea typeface="Aptos"/>
                <a:cs typeface="Aptos"/>
              </a:rPr>
              <a:t>Processing loss</a:t>
            </a:r>
            <a:endParaRPr sz="1050"/>
          </a:p>
        </p:txBody>
      </p:sp>
      <p:sp>
        <p:nvSpPr>
          <p:cNvPr id="32" name="Shape 30">
            <a:extLst xmlns:a="http://schemas.openxmlformats.org/drawingml/2006/main">
              <a:ext uri="{FF2B5EF4-FFF2-40B4-BE49-F238E27FC236}">
                <a16:creationId xmlns:a16="http://schemas.microsoft.com/office/drawing/2014/main" id="{F7E506A8-01A0-40E7-BF0C-47179C5FE052}"/>
              </a:ext>
            </a:extLst>
          </p:cNvPr>
          <p:cNvSpPr>
            <a:spLocks xmlns:a="http://schemas.openxmlformats.org/drawingml/2006/main" noGrp="1"/>
          </p:cNvSpPr>
          <p:nvPr/>
        </p:nvSpPr>
        <p:spPr>
          <a:xfrm xmlns:a="http://schemas.openxmlformats.org/drawingml/2006/main">
            <a:off x="4434840" y="4572000"/>
            <a:ext cx="1188720" cy="38404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5875">
            <a:solidFill>
              <a:srgbClr val="CC842D"/>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Text 31">
            <a:extLst xmlns:a="http://schemas.openxmlformats.org/drawingml/2006/main">
              <a:ext uri="{FF2B5EF4-FFF2-40B4-BE49-F238E27FC236}">
                <a16:creationId xmlns:a16="http://schemas.microsoft.com/office/drawing/2014/main" id="{4A3B451B-E1A0-4115-B56A-94BB303AB6AD}"/>
              </a:ext>
            </a:extLst>
          </p:cNvPr>
          <p:cNvSpPr>
            <a:spLocks xmlns:a="http://schemas.openxmlformats.org/drawingml/2006/main" noGrp="1"/>
          </p:cNvSpPr>
          <p:nvPr/>
        </p:nvSpPr>
        <p:spPr>
          <a:xfrm xmlns:a="http://schemas.openxmlformats.org/drawingml/2006/main">
            <a:off x="4434840" y="4572000"/>
            <a:ext cx="1188720"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CC842D"/>
                </a:solidFill>
                <a:latin typeface="Aptos"/>
                <a:ea typeface="Aptos"/>
                <a:cs typeface="Aptos"/>
              </a:rPr>
              <a:t>Reordering</a:t>
            </a:r>
            <a:endParaRPr sz="1050"/>
          </a:p>
        </p:txBody>
      </p:sp>
      <p:sp>
        <p:nvSpPr>
          <p:cNvPr id="34" name="Shape 32">
            <a:extLst xmlns:a="http://schemas.openxmlformats.org/drawingml/2006/main">
              <a:ext uri="{FF2B5EF4-FFF2-40B4-BE49-F238E27FC236}">
                <a16:creationId xmlns:a16="http://schemas.microsoft.com/office/drawing/2014/main" id="{8800C4BF-F6F4-4354-99F6-940211B78391}"/>
              </a:ext>
            </a:extLst>
          </p:cNvPr>
          <p:cNvSpPr>
            <a:spLocks xmlns:a="http://schemas.openxmlformats.org/drawingml/2006/main" noGrp="1"/>
          </p:cNvSpPr>
          <p:nvPr/>
        </p:nvSpPr>
        <p:spPr>
          <a:xfrm xmlns:a="http://schemas.openxmlformats.org/drawingml/2006/main">
            <a:off x="5806440" y="4572000"/>
            <a:ext cx="1106424" cy="38404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5875">
            <a:solidFill>
              <a:srgbClr val="1B9E8C"/>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33">
            <a:extLst xmlns:a="http://schemas.openxmlformats.org/drawingml/2006/main">
              <a:ext uri="{FF2B5EF4-FFF2-40B4-BE49-F238E27FC236}">
                <a16:creationId xmlns:a16="http://schemas.microsoft.com/office/drawing/2014/main" id="{C6E0465D-28B6-4531-95E2-75EDA7E1DCC5}"/>
              </a:ext>
            </a:extLst>
          </p:cNvPr>
          <p:cNvSpPr>
            <a:spLocks xmlns:a="http://schemas.openxmlformats.org/drawingml/2006/main" noGrp="1"/>
          </p:cNvSpPr>
          <p:nvPr/>
        </p:nvSpPr>
        <p:spPr>
          <a:xfrm xmlns:a="http://schemas.openxmlformats.org/drawingml/2006/main">
            <a:off x="5806440" y="4572000"/>
            <a:ext cx="1106424"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50" b="1">
                <a:solidFill>
                  <a:srgbClr val="1B9E8C"/>
                </a:solidFill>
                <a:latin typeface="Aptos"/>
                <a:ea typeface="Aptos"/>
                <a:cs typeface="Aptos"/>
              </a:rPr>
              <a:t>High load</a:t>
            </a:r>
            <a:endParaRPr sz="1050"/>
          </a:p>
        </p:txBody>
      </p:sp>
      <p:sp>
        <p:nvSpPr>
          <p:cNvPr id="36" name="Text 34">
            <a:extLst xmlns:a="http://schemas.openxmlformats.org/drawingml/2006/main">
              <a:ext uri="{FF2B5EF4-FFF2-40B4-BE49-F238E27FC236}">
                <a16:creationId xmlns:a16="http://schemas.microsoft.com/office/drawing/2014/main" id="{CBE2CE5A-CBED-4D37-8D93-F17900582D5D}"/>
              </a:ext>
            </a:extLst>
          </p:cNvPr>
          <p:cNvSpPr>
            <a:spLocks xmlns:a="http://schemas.openxmlformats.org/drawingml/2006/main" noGrp="1"/>
          </p:cNvSpPr>
          <p:nvPr/>
        </p:nvSpPr>
        <p:spPr>
          <a:xfrm xmlns:a="http://schemas.openxmlformats.org/drawingml/2006/main">
            <a:off x="566928" y="516636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i="1">
                <a:solidFill>
                  <a:srgbClr val="5C6978"/>
                </a:solidFill>
                <a:latin typeface="Aptos"/>
                <a:ea typeface="Aptos"/>
                <a:cs typeface="Aptos"/>
              </a:rPr>
              <a:t>Truth comes from actual node states. Lead time uses consistency probes, not real call drops.</a:t>
            </a:r>
            <a:endParaRPr sz="1100"/>
          </a:p>
        </p:txBody>
      </p:sp>
      <p:sp>
        <p:nvSpPr>
          <p:cNvPr id="37" name="Text 35">
            <a:extLst xmlns:a="http://schemas.openxmlformats.org/drawingml/2006/main">
              <a:ext uri="{FF2B5EF4-FFF2-40B4-BE49-F238E27FC236}">
                <a16:creationId xmlns:a16="http://schemas.microsoft.com/office/drawing/2014/main" id="{B2E092CC-4267-43B8-8657-24BEBB530461}"/>
              </a:ext>
            </a:extLst>
          </p:cNvPr>
          <p:cNvSpPr>
            <a:spLocks xmlns:a="http://schemas.openxmlformats.org/drawingml/2006/main" noGrp="1"/>
          </p:cNvSpPr>
          <p:nvPr/>
        </p:nvSpPr>
        <p:spPr>
          <a:xfrm xmlns:a="http://schemas.openxmlformats.org/drawingml/2006/main">
            <a:off x="566928" y="6510528"/>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00">
                <a:solidFill>
                  <a:srgbClr val="8A94A0"/>
                </a:solidFill>
                <a:latin typeface="Aptos"/>
                <a:ea typeface="Aptos"/>
                <a:cs typeface="Aptos"/>
              </a:rPr>
              <a:t>Final Project</a:t>
            </a:r>
            <a:r>
              <a:rPr sz="800">
                <a:solidFill>
                  <a:srgbClr val="8A94A0"/>
                </a:solidFill>
                <a:latin typeface="Aptos"/>
                <a:ea typeface="Aptos"/>
                <a:cs typeface="Aptos"/>
              </a:rPr>
              <a:t>  •  5G UE Context Desynchronization Detection and Recovery</a:t>
            </a:r>
            <a:endParaRPr sz="800"/>
          </a:p>
        </p:txBody>
      </p:sp>
      <p:sp>
        <p:nvSpPr>
          <p:cNvPr id="38" name="Text 36">
            <a:extLst xmlns:a="http://schemas.openxmlformats.org/drawingml/2006/main">
              <a:ext uri="{FF2B5EF4-FFF2-40B4-BE49-F238E27FC236}">
                <a16:creationId xmlns:a16="http://schemas.microsoft.com/office/drawing/2014/main" id="{DA5C7B6B-6250-429B-BBF4-B7685E53BA94}"/>
              </a:ext>
            </a:extLst>
          </p:cNvPr>
          <p:cNvSpPr>
            <a:spLocks xmlns:a="http://schemas.openxmlformats.org/drawingml/2006/main" noGrp="1"/>
          </p:cNvSpPr>
          <p:nvPr/>
        </p:nvSpPr>
        <p:spPr>
          <a:xfrm xmlns:a="http://schemas.openxmlformats.org/drawingml/2006/main">
            <a:off x="11164824" y="6510528"/>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b="1">
                <a:solidFill>
                  <a:srgbClr val="8A94A0"/>
                </a:solidFill>
                <a:latin typeface="Aptos"/>
                <a:ea typeface="Aptos"/>
                <a:cs typeface="Aptos"/>
              </a:rPr>
              <a:t>09</a:t>
            </a:r>
            <a:endParaRPr sz="900"/>
          </a:p>
        </p:txBody>
      </p:sp>
    </p:spTree>
    <p:extLst>
      <p:ext uri="{BB962C8B-B14F-4D97-AF65-F5344CB8AC3E}">
        <p14:creationId xmlns:p14="http://schemas.microsoft.com/office/powerpoint/2010/main" val="14257105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3C2F119-7EE7-45A8-9911-298FE22F5597}"/>
              </a:ext>
            </a:extLst>
          </p:cNvPr>
          <p:cNvSpPr>
            <a:spLocks xmlns:a="http://schemas.openxmlformats.org/drawingml/2006/main" noGrp="1"/>
          </p:cNvSpPr>
          <p:nvPr/>
        </p:nvSpPr>
        <p:spPr>
          <a:xfrm xmlns:a="http://schemas.openxmlformats.org/drawingml/2006/main">
            <a:off x="566928"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2F6FED"/>
                </a:solidFill>
                <a:latin typeface="Aptos"/>
                <a:ea typeface="Aptos"/>
                <a:cs typeface="Aptos"/>
              </a:rPr>
              <a:t>RESULTS · MEASURED EVIDENCE</a:t>
            </a:r>
            <a:endParaRPr sz="1100"/>
          </a:p>
        </p:txBody>
      </p:sp>
      <p:sp>
        <p:nvSpPr>
          <p:cNvPr id="3" name="Text 1">
            <a:extLst xmlns:a="http://schemas.openxmlformats.org/drawingml/2006/main">
              <a:ext uri="{FF2B5EF4-FFF2-40B4-BE49-F238E27FC236}">
                <a16:creationId xmlns:a16="http://schemas.microsoft.com/office/drawing/2014/main" id="{6BEBC1C0-AE62-42F2-BCBE-2ABD5E716A09}"/>
              </a:ext>
            </a:extLst>
          </p:cNvPr>
          <p:cNvSpPr>
            <a:spLocks xmlns:a="http://schemas.openxmlformats.org/drawingml/2006/main" noGrp="1"/>
          </p:cNvSpPr>
          <p:nvPr/>
        </p:nvSpPr>
        <p:spPr>
          <a:xfrm xmlns:a="http://schemas.openxmlformats.org/drawingml/2006/main">
            <a:off x="566928" y="676656"/>
            <a:ext cx="10789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344D"/>
                </a:solidFill>
                <a:latin typeface="Aptos"/>
                <a:ea typeface="Aptos"/>
                <a:cs typeface="Aptos"/>
              </a:rPr>
              <a:t>False alarms under benign delay</a:t>
            </a:r>
            <a:endParaRPr sz="3000"/>
          </a:p>
        </p:txBody>
      </p:sp>
      <p:sp>
        <p:nvSpPr>
          <p:cNvPr id="4" name="Text 2">
            <a:extLst xmlns:a="http://schemas.openxmlformats.org/drawingml/2006/main">
              <a:ext uri="{FF2B5EF4-FFF2-40B4-BE49-F238E27FC236}">
                <a16:creationId xmlns:a16="http://schemas.microsoft.com/office/drawing/2014/main" id="{2818F0DC-011A-41A6-978C-B173511AC4D9}"/>
              </a:ext>
            </a:extLst>
          </p:cNvPr>
          <p:cNvSpPr>
            <a:spLocks xmlns:a="http://schemas.openxmlformats.org/drawingml/2006/main" noGrp="1"/>
          </p:cNvSpPr>
          <p:nvPr/>
        </p:nvSpPr>
        <p:spPr>
          <a:xfrm xmlns:a="http://schemas.openxmlformats.org/drawingml/2006/main">
            <a:off x="566928" y="1225296"/>
            <a:ext cx="106070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5C6978"/>
                </a:solidFill>
                <a:latin typeface="Aptos"/>
                <a:ea typeface="Aptos"/>
                <a:cs typeface="Aptos"/>
              </a:rPr>
              <a:t>False-positive sessions (%) among 240 sessions with no true desynchronization</a:t>
            </a:r>
            <a:endParaRPr sz="1300"/>
          </a:p>
        </p:txBody>
      </p:sp>
      <p:sp>
        <p:nvSpPr>
          <p:cNvPr id="37" name="Text 35">
            <a:extLst xmlns:a="http://schemas.openxmlformats.org/drawingml/2006/main">
              <a:ext uri="{FF2B5EF4-FFF2-40B4-BE49-F238E27FC236}">
                <a16:creationId xmlns:a16="http://schemas.microsoft.com/office/drawing/2014/main" id="{B2E092CC-4267-43B8-8657-24BEBB530461}"/>
              </a:ext>
            </a:extLst>
          </p:cNvPr>
          <p:cNvSpPr>
            <a:spLocks xmlns:a="http://schemas.openxmlformats.org/drawingml/2006/main" noGrp="1"/>
          </p:cNvSpPr>
          <p:nvPr/>
        </p:nvSpPr>
        <p:spPr>
          <a:xfrm xmlns:a="http://schemas.openxmlformats.org/drawingml/2006/main">
            <a:off x="566928" y="6510528"/>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00">
                <a:solidFill>
                  <a:srgbClr val="8A94A0"/>
                </a:solidFill>
                <a:latin typeface="Aptos"/>
                <a:ea typeface="Aptos"/>
                <a:cs typeface="Aptos"/>
              </a:rPr>
              <a:t>Final Project</a:t>
            </a:r>
            <a:r>
              <a:rPr sz="800">
                <a:solidFill>
                  <a:srgbClr val="8A94A0"/>
                </a:solidFill>
                <a:latin typeface="Aptos"/>
                <a:ea typeface="Aptos"/>
                <a:cs typeface="Aptos"/>
              </a:rPr>
              <a:t>  •  5G UE Context Desynchronization Detection and Recovery</a:t>
            </a:r>
            <a:endParaRPr sz="800"/>
          </a:p>
        </p:txBody>
      </p:sp>
      <p:sp>
        <p:nvSpPr>
          <p:cNvPr id="38" name="Text 36">
            <a:extLst xmlns:a="http://schemas.openxmlformats.org/drawingml/2006/main">
              <a:ext uri="{FF2B5EF4-FFF2-40B4-BE49-F238E27FC236}">
                <a16:creationId xmlns:a16="http://schemas.microsoft.com/office/drawing/2014/main" id="{DA5C7B6B-6250-429B-BBF4-B7685E53BA94}"/>
              </a:ext>
            </a:extLst>
          </p:cNvPr>
          <p:cNvSpPr>
            <a:spLocks xmlns:a="http://schemas.openxmlformats.org/drawingml/2006/main" noGrp="1"/>
          </p:cNvSpPr>
          <p:nvPr/>
        </p:nvSpPr>
        <p:spPr>
          <a:xfrm xmlns:a="http://schemas.openxmlformats.org/drawingml/2006/main">
            <a:off x="11164824" y="6510528"/>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b="1">
                <a:solidFill>
                  <a:srgbClr val="8A94A0"/>
                </a:solidFill>
                <a:latin typeface="Aptos"/>
                <a:ea typeface="Aptos"/>
                <a:cs typeface="Aptos"/>
              </a:rPr>
              <a:t>10</a:t>
            </a:r>
            <a:endParaRPr sz="900"/>
          </a:p>
        </p:txBody>
      </p:sp>
      <p:sp>
        <p:nvSpPr>
          <p:cNvPr id="39" name="">
            <a:extLst xmlns:a="http://schemas.openxmlformats.org/drawingml/2006/main">
              <a:ext uri="{FF2B5EF4-FFF2-40B4-BE49-F238E27FC236}">
                <a16:creationId xmlns:a16="http://schemas.microsoft.com/office/drawing/2014/main" id="{CD331BB0-9E7A-417B-B754-380479452D80}"/>
              </a:ext>
            </a:extLst>
          </p:cNvPr>
          <p:cNvSpPr>
            <a:spLocks xmlns:a="http://schemas.openxmlformats.org/drawingml/2006/main" noGrp="1"/>
          </p:cNvSpPr>
          <p:nvPr/>
        </p:nvSpPr>
        <p:spPr>
          <a:xfrm xmlns:a="http://schemas.openxmlformats.org/drawingml/2006/main">
            <a:off x="571500" y="1828800"/>
            <a:ext cx="11049000" cy="3638550"/>
          </a:xfrm>
          <a:prstGeom xmlns:a="http://schemas.openxmlformats.org/drawingml/2006/main" prst="roundRect">
            <a:avLst>
              <a:gd name="adj" fmla="val 2618"/>
            </a:avLst>
          </a:prstGeom>
          <a:solidFill xmlns:a="http://schemas.openxmlformats.org/drawingml/2006/main">
            <a:srgbClr val="FFFFFF"/>
          </a:solidFill>
          <a:ln xmlns:a="http://schemas.openxmlformats.org/drawingml/2006/main" w="9525">
            <a:solidFill>
              <a:srgbClr val="D5E1F0"/>
            </a:solidFill>
          </a:ln>
        </p:spPr>
      </p:sp>
      <p:graphicFrame>
        <p:nvGraphicFramePr>
          <p:cNvPr id="40" name="Chart">
            <a:extLst xmlns:a="http://schemas.openxmlformats.org/drawingml/2006/main">
              <a:ext uri="{FF2B5EF4-FFF2-40B4-BE49-F238E27FC236}">
                <a16:creationId xmlns:a16="http://schemas.microsoft.com/office/drawing/2014/main" id="{42EED08A-C03D-45BA-A808-670AE4465A1E}"/>
              </a:ext>
            </a:extLst>
          </p:cNvPr>
          <p:cNvGraphicFramePr/>
          <p:nvPr/>
        </p:nvGraphicFramePr>
        <p:xfrm>
          <a:off xmlns:a="http://schemas.openxmlformats.org/drawingml/2006/main" x="838200" y="2028825"/>
          <a:ext xmlns:a="http://schemas.openxmlformats.org/drawingml/2006/main" cx="10515600" cy="3238500"/>
        </p:xfrm>
        <a:graphic xmlns:a="http://schemas.openxmlformats.org/drawingml/2006/main">
          <a:graphicData uri="http://schemas.openxmlformats.org/drawingml/2006/chart">
            <c:chart xmlns:r="http://schemas.openxmlformats.org/officeDocument/2006/relationships" xmlns:c="http://schemas.openxmlformats.org/drawingml/2006/chart" r:id="R83e5b8b4fa844af2"/>
          </a:graphicData>
        </a:graphic>
      </p:graphicFrame>
      <p:sp>
        <p:nvSpPr>
          <p:cNvPr id="41" name="">
            <a:extLst xmlns:a="http://schemas.openxmlformats.org/drawingml/2006/main">
              <a:ext uri="{FF2B5EF4-FFF2-40B4-BE49-F238E27FC236}">
                <a16:creationId xmlns:a16="http://schemas.microsoft.com/office/drawing/2014/main" id="{B26A0CF7-99DC-40FD-AA73-6F9700AAED99}"/>
              </a:ext>
            </a:extLst>
          </p:cNvPr>
          <p:cNvSpPr>
            <a:spLocks xmlns:a="http://schemas.openxmlformats.org/drawingml/2006/main" noGrp="1"/>
          </p:cNvSpPr>
          <p:nvPr/>
        </p:nvSpPr>
        <p:spPr>
          <a:xfrm xmlns:a="http://schemas.openxmlformats.org/drawingml/2006/main">
            <a:off x="666750" y="573405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A344D"/>
                </a:solidFill>
                <a:latin typeface="Aptos"/>
                <a:ea typeface="Aptos"/>
                <a:cs typeface="Aptos"/>
              </a:defRPr>
            </a:defPPr>
          </a:lstStyle>
          <a:p xmlns:a="http://schemas.openxmlformats.org/drawingml/2006/main">
            <a:pPr>
              <a:defRPr sz="1725" b="1">
                <a:solidFill>
                  <a:srgbClr val="1A344D"/>
                </a:solidFill>
                <a:latin typeface="Aptos"/>
                <a:ea typeface="Aptos"/>
                <a:cs typeface="Aptos"/>
              </a:defRPr>
            </a:pPr>
            <a:r>
              <a:rPr sz="1725" b="1">
                <a:solidFill>
                  <a:srgbClr val="1A344D"/>
                </a:solidFill>
                <a:latin typeface="Aptos"/>
                <a:ea typeface="Aptos"/>
                <a:cs typeface="Aptos"/>
              </a:rPr>
              <a:t>The fixed checker flags 225 of 240 sessions. The aware checker flags none.</a:t>
            </a:r>
          </a:p>
        </p:txBody>
      </p:sp>
      <p:sp>
        <p:nvSpPr>
          <p:cNvPr id="42" name="">
            <a:extLst xmlns:a="http://schemas.openxmlformats.org/drawingml/2006/main">
              <a:ext uri="{FF2B5EF4-FFF2-40B4-BE49-F238E27FC236}">
                <a16:creationId xmlns:a16="http://schemas.microsoft.com/office/drawing/2014/main" id="{3C0F5B3A-1B73-4E1C-8AB6-8B5D1B71F80D}"/>
              </a:ext>
            </a:extLst>
          </p:cNvPr>
          <p:cNvSpPr>
            <a:spLocks xmlns:a="http://schemas.openxmlformats.org/drawingml/2006/main" noGrp="1"/>
          </p:cNvSpPr>
          <p:nvPr/>
        </p:nvSpPr>
        <p:spPr>
          <a:xfrm xmlns:a="http://schemas.openxmlformats.org/drawingml/2006/main">
            <a:off x="666750" y="6172200"/>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C6978"/>
                </a:solidFill>
                <a:latin typeface="Aptos"/>
                <a:ea typeface="Aptos"/>
                <a:cs typeface="Aptos"/>
              </a:defRPr>
            </a:defPPr>
          </a:lstStyle>
          <a:p xmlns:a="http://schemas.openxmlformats.org/drawingml/2006/main">
            <a:pPr>
              <a:defRPr sz="1275" b="0">
                <a:solidFill>
                  <a:srgbClr val="5C6978"/>
                </a:solidFill>
                <a:latin typeface="Aptos"/>
                <a:ea typeface="Aptos"/>
                <a:cs typeface="Aptos"/>
              </a:defRPr>
            </a:pPr>
            <a:r>
              <a:rPr sz="1275" b="0">
                <a:solidFill>
                  <a:srgbClr val="5C6978"/>
                </a:solidFill>
                <a:latin typeface="Aptos"/>
                <a:ea typeface="Aptos"/>
                <a:cs typeface="Aptos"/>
              </a:rPr>
              <a:t>Valid procedures remain within the 110 ms deadline. Delay alone is not a contradiction.</a:t>
            </a:r>
          </a:p>
        </p:txBody>
      </p:sp>
    </p:spTree>
    <p:extLst>
      <p:ext uri="{BB962C8B-B14F-4D97-AF65-F5344CB8AC3E}">
        <p14:creationId xmlns:p14="http://schemas.microsoft.com/office/powerpoint/2010/main" val="142571054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3C2F119-7EE7-45A8-9911-298FE22F5597}"/>
              </a:ext>
            </a:extLst>
          </p:cNvPr>
          <p:cNvSpPr>
            <a:spLocks xmlns:a="http://schemas.openxmlformats.org/drawingml/2006/main" noGrp="1"/>
          </p:cNvSpPr>
          <p:nvPr/>
        </p:nvSpPr>
        <p:spPr>
          <a:xfrm xmlns:a="http://schemas.openxmlformats.org/drawingml/2006/main">
            <a:off x="566928"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2F6FED"/>
                </a:solidFill>
                <a:latin typeface="Aptos"/>
                <a:ea typeface="Aptos"/>
                <a:cs typeface="Aptos"/>
              </a:rPr>
              <a:t>RESULTS · MEASURED EVIDENCE</a:t>
            </a:r>
            <a:endParaRPr sz="1100"/>
          </a:p>
        </p:txBody>
      </p:sp>
      <p:sp>
        <p:nvSpPr>
          <p:cNvPr id="3" name="Text 1">
            <a:extLst xmlns:a="http://schemas.openxmlformats.org/drawingml/2006/main">
              <a:ext uri="{FF2B5EF4-FFF2-40B4-BE49-F238E27FC236}">
                <a16:creationId xmlns:a16="http://schemas.microsoft.com/office/drawing/2014/main" id="{6BEBC1C0-AE62-42F2-BCBE-2ABD5E716A09}"/>
              </a:ext>
            </a:extLst>
          </p:cNvPr>
          <p:cNvSpPr>
            <a:spLocks xmlns:a="http://schemas.openxmlformats.org/drawingml/2006/main" noGrp="1"/>
          </p:cNvSpPr>
          <p:nvPr/>
        </p:nvSpPr>
        <p:spPr>
          <a:xfrm xmlns:a="http://schemas.openxmlformats.org/drawingml/2006/main">
            <a:off x="566928" y="676656"/>
            <a:ext cx="10789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344D"/>
                </a:solidFill>
                <a:latin typeface="Aptos"/>
                <a:ea typeface="Aptos"/>
                <a:cs typeface="Aptos"/>
              </a:rPr>
              <a:t>Detection delay across fault scenarios</a:t>
            </a:r>
            <a:endParaRPr sz="3000"/>
          </a:p>
        </p:txBody>
      </p:sp>
      <p:sp>
        <p:nvSpPr>
          <p:cNvPr id="4" name="Text 2">
            <a:extLst xmlns:a="http://schemas.openxmlformats.org/drawingml/2006/main">
              <a:ext uri="{FF2B5EF4-FFF2-40B4-BE49-F238E27FC236}">
                <a16:creationId xmlns:a16="http://schemas.microsoft.com/office/drawing/2014/main" id="{2818F0DC-011A-41A6-978C-B173511AC4D9}"/>
              </a:ext>
            </a:extLst>
          </p:cNvPr>
          <p:cNvSpPr>
            <a:spLocks xmlns:a="http://schemas.openxmlformats.org/drawingml/2006/main" noGrp="1"/>
          </p:cNvSpPr>
          <p:nvPr/>
        </p:nvSpPr>
        <p:spPr>
          <a:xfrm xmlns:a="http://schemas.openxmlformats.org/drawingml/2006/main">
            <a:off x="566928" y="1225296"/>
            <a:ext cx="106070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5C6978"/>
                </a:solidFill>
                <a:latin typeface="Aptos"/>
                <a:ea typeface="Aptos"/>
                <a:cs typeface="Aptos"/>
              </a:rPr>
              <a:t>Mean virtual milliseconds after a true contradiction begins; aware detector, recovery off</a:t>
            </a:r>
            <a:endParaRPr sz="1300"/>
          </a:p>
        </p:txBody>
      </p:sp>
      <p:sp>
        <p:nvSpPr>
          <p:cNvPr id="37" name="Text 35">
            <a:extLst xmlns:a="http://schemas.openxmlformats.org/drawingml/2006/main">
              <a:ext uri="{FF2B5EF4-FFF2-40B4-BE49-F238E27FC236}">
                <a16:creationId xmlns:a16="http://schemas.microsoft.com/office/drawing/2014/main" id="{B2E092CC-4267-43B8-8657-24BEBB530461}"/>
              </a:ext>
            </a:extLst>
          </p:cNvPr>
          <p:cNvSpPr>
            <a:spLocks xmlns:a="http://schemas.openxmlformats.org/drawingml/2006/main" noGrp="1"/>
          </p:cNvSpPr>
          <p:nvPr/>
        </p:nvSpPr>
        <p:spPr>
          <a:xfrm xmlns:a="http://schemas.openxmlformats.org/drawingml/2006/main">
            <a:off x="566928" y="6510528"/>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00">
                <a:solidFill>
                  <a:srgbClr val="8A94A0"/>
                </a:solidFill>
                <a:latin typeface="Aptos"/>
                <a:ea typeface="Aptos"/>
                <a:cs typeface="Aptos"/>
              </a:rPr>
              <a:t>Final Project</a:t>
            </a:r>
            <a:r>
              <a:rPr sz="800">
                <a:solidFill>
                  <a:srgbClr val="8A94A0"/>
                </a:solidFill>
                <a:latin typeface="Aptos"/>
                <a:ea typeface="Aptos"/>
                <a:cs typeface="Aptos"/>
              </a:rPr>
              <a:t>  •  5G UE Context Desynchronization Detection and Recovery</a:t>
            </a:r>
            <a:endParaRPr sz="800"/>
          </a:p>
        </p:txBody>
      </p:sp>
      <p:sp>
        <p:nvSpPr>
          <p:cNvPr id="38" name="Text 36">
            <a:extLst xmlns:a="http://schemas.openxmlformats.org/drawingml/2006/main">
              <a:ext uri="{FF2B5EF4-FFF2-40B4-BE49-F238E27FC236}">
                <a16:creationId xmlns:a16="http://schemas.microsoft.com/office/drawing/2014/main" id="{DA5C7B6B-6250-429B-BBF4-B7685E53BA94}"/>
              </a:ext>
            </a:extLst>
          </p:cNvPr>
          <p:cNvSpPr>
            <a:spLocks xmlns:a="http://schemas.openxmlformats.org/drawingml/2006/main" noGrp="1"/>
          </p:cNvSpPr>
          <p:nvPr/>
        </p:nvSpPr>
        <p:spPr>
          <a:xfrm xmlns:a="http://schemas.openxmlformats.org/drawingml/2006/main">
            <a:off x="11164824" y="6510528"/>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b="1">
                <a:solidFill>
                  <a:srgbClr val="8A94A0"/>
                </a:solidFill>
                <a:latin typeface="Aptos"/>
                <a:ea typeface="Aptos"/>
                <a:cs typeface="Aptos"/>
              </a:rPr>
              <a:t>11</a:t>
            </a:r>
            <a:endParaRPr sz="900"/>
          </a:p>
        </p:txBody>
      </p:sp>
      <p:sp>
        <p:nvSpPr>
          <p:cNvPr id="39" name="">
            <a:extLst xmlns:a="http://schemas.openxmlformats.org/drawingml/2006/main">
              <a:ext uri="{FF2B5EF4-FFF2-40B4-BE49-F238E27FC236}">
                <a16:creationId xmlns:a16="http://schemas.microsoft.com/office/drawing/2014/main" id="{27449230-01B0-47AB-A018-26467D84DF3B}"/>
              </a:ext>
            </a:extLst>
          </p:cNvPr>
          <p:cNvSpPr>
            <a:spLocks xmlns:a="http://schemas.openxmlformats.org/drawingml/2006/main" noGrp="1"/>
          </p:cNvSpPr>
          <p:nvPr/>
        </p:nvSpPr>
        <p:spPr>
          <a:xfrm xmlns:a="http://schemas.openxmlformats.org/drawingml/2006/main">
            <a:off x="571500" y="1828800"/>
            <a:ext cx="11049000" cy="3638550"/>
          </a:xfrm>
          <a:prstGeom xmlns:a="http://schemas.openxmlformats.org/drawingml/2006/main" prst="roundRect">
            <a:avLst>
              <a:gd name="adj" fmla="val 2618"/>
            </a:avLst>
          </a:prstGeom>
          <a:solidFill xmlns:a="http://schemas.openxmlformats.org/drawingml/2006/main">
            <a:srgbClr val="FFFFFF"/>
          </a:solidFill>
          <a:ln xmlns:a="http://schemas.openxmlformats.org/drawingml/2006/main" w="9525">
            <a:solidFill>
              <a:srgbClr val="D5E1F0"/>
            </a:solidFill>
          </a:ln>
        </p:spPr>
      </p:sp>
      <p:graphicFrame>
        <p:nvGraphicFramePr>
          <p:cNvPr id="40" name="Chart">
            <a:extLst xmlns:a="http://schemas.openxmlformats.org/drawingml/2006/main">
              <a:ext uri="{FF2B5EF4-FFF2-40B4-BE49-F238E27FC236}">
                <a16:creationId xmlns:a16="http://schemas.microsoft.com/office/drawing/2014/main" id="{C56476D3-2472-4E15-A564-B59751D4C35F}"/>
              </a:ext>
            </a:extLst>
          </p:cNvPr>
          <p:cNvGraphicFramePr/>
          <p:nvPr/>
        </p:nvGraphicFramePr>
        <p:xfrm>
          <a:off xmlns:a="http://schemas.openxmlformats.org/drawingml/2006/main" x="838200" y="2028825"/>
          <a:ext xmlns:a="http://schemas.openxmlformats.org/drawingml/2006/main" cx="10515600" cy="3238500"/>
        </p:xfrm>
        <a:graphic xmlns:a="http://schemas.openxmlformats.org/drawingml/2006/main">
          <a:graphicData uri="http://schemas.openxmlformats.org/drawingml/2006/chart">
            <c:chart xmlns:r="http://schemas.openxmlformats.org/officeDocument/2006/relationships" xmlns:c="http://schemas.openxmlformats.org/drawingml/2006/chart" r:id="R040a7bf1647745a3"/>
          </a:graphicData>
        </a:graphic>
      </p:graphicFrame>
      <p:sp>
        <p:nvSpPr>
          <p:cNvPr id="41" name="">
            <a:extLst xmlns:a="http://schemas.openxmlformats.org/drawingml/2006/main">
              <a:ext uri="{FF2B5EF4-FFF2-40B4-BE49-F238E27FC236}">
                <a16:creationId xmlns:a16="http://schemas.microsoft.com/office/drawing/2014/main" id="{15DCC30C-323A-4EA7-9807-0F96C3BD7993}"/>
              </a:ext>
            </a:extLst>
          </p:cNvPr>
          <p:cNvSpPr>
            <a:spLocks xmlns:a="http://schemas.openxmlformats.org/drawingml/2006/main" noGrp="1"/>
          </p:cNvSpPr>
          <p:nvPr/>
        </p:nvSpPr>
        <p:spPr>
          <a:xfrm xmlns:a="http://schemas.openxmlformats.org/drawingml/2006/main">
            <a:off x="666750" y="57340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A344D"/>
                </a:solidFill>
                <a:latin typeface="Aptos"/>
                <a:ea typeface="Aptos"/>
                <a:cs typeface="Aptos"/>
              </a:defRPr>
            </a:defPPr>
          </a:lstStyle>
          <a:p xmlns:a="http://schemas.openxmlformats.org/drawingml/2006/main">
            <a:pPr>
              <a:defRPr sz="1650" b="1">
                <a:solidFill>
                  <a:srgbClr val="1A344D"/>
                </a:solidFill>
                <a:latin typeface="Aptos"/>
                <a:ea typeface="Aptos"/>
                <a:cs typeface="Aptos"/>
              </a:defRPr>
            </a:pPr>
            <a:r>
              <a:rPr sz="1650" b="1">
                <a:solidFill>
                  <a:srgbClr val="1A344D"/>
                </a:solidFill>
                <a:latin typeface="Aptos"/>
                <a:ea typeface="Aptos"/>
                <a:cs typeface="Aptos"/>
              </a:rPr>
              <a:t>Observation outages increase delay to 84.36 ms because fresh evidence is unavailable.</a:t>
            </a:r>
          </a:p>
        </p:txBody>
      </p:sp>
      <p:sp>
        <p:nvSpPr>
          <p:cNvPr id="42" name="">
            <a:extLst xmlns:a="http://schemas.openxmlformats.org/drawingml/2006/main">
              <a:ext uri="{FF2B5EF4-FFF2-40B4-BE49-F238E27FC236}">
                <a16:creationId xmlns:a16="http://schemas.microsoft.com/office/drawing/2014/main" id="{658C3BFE-99AE-4DD3-9D72-339FEB97A93A}"/>
              </a:ext>
            </a:extLst>
          </p:cNvPr>
          <p:cNvSpPr>
            <a:spLocks xmlns:a="http://schemas.openxmlformats.org/drawingml/2006/main" noGrp="1"/>
          </p:cNvSpPr>
          <p:nvPr/>
        </p:nvSpPr>
        <p:spPr>
          <a:xfrm xmlns:a="http://schemas.openxmlformats.org/drawingml/2006/main">
            <a:off x="666750" y="6191250"/>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C6978"/>
                </a:solidFill>
                <a:latin typeface="Aptos"/>
                <a:ea typeface="Aptos"/>
                <a:cs typeface="Aptos"/>
              </a:defRPr>
            </a:defPPr>
          </a:lstStyle>
          <a:p xmlns:a="http://schemas.openxmlformats.org/drawingml/2006/main">
            <a:pPr>
              <a:defRPr sz="1275" b="0">
                <a:solidFill>
                  <a:srgbClr val="5C6978"/>
                </a:solidFill>
                <a:latin typeface="Aptos"/>
                <a:ea typeface="Aptos"/>
                <a:cs typeface="Aptos"/>
              </a:defRPr>
            </a:pPr>
            <a:r>
              <a:rPr sz="1275" b="0">
                <a:solidFill>
                  <a:srgbClr val="5C6978"/>
                </a:solidFill>
                <a:latin typeface="Aptos"/>
                <a:ea typeface="Aptos"/>
                <a:cs typeface="Aptos"/>
              </a:rPr>
              <a:t>These are detection delays. They are not measured call-drop lead times.</a:t>
            </a:r>
          </a:p>
        </p:txBody>
      </p:sp>
    </p:spTree>
    <p:extLst>
      <p:ext uri="{BB962C8B-B14F-4D97-AF65-F5344CB8AC3E}">
        <p14:creationId xmlns:p14="http://schemas.microsoft.com/office/powerpoint/2010/main" val="142571054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3C2F119-7EE7-45A8-9911-298FE22F5597}"/>
              </a:ext>
            </a:extLst>
          </p:cNvPr>
          <p:cNvSpPr>
            <a:spLocks xmlns:a="http://schemas.openxmlformats.org/drawingml/2006/main" noGrp="1"/>
          </p:cNvSpPr>
          <p:nvPr/>
        </p:nvSpPr>
        <p:spPr>
          <a:xfrm xmlns:a="http://schemas.openxmlformats.org/drawingml/2006/main">
            <a:off x="566928"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2F6FED"/>
                </a:solidFill>
                <a:latin typeface="Aptos"/>
                <a:ea typeface="Aptos"/>
                <a:cs typeface="Aptos"/>
              </a:rPr>
              <a:t>RESULTS · MEASURED EVIDENCE</a:t>
            </a:r>
            <a:endParaRPr sz="1100"/>
          </a:p>
        </p:txBody>
      </p:sp>
      <p:sp>
        <p:nvSpPr>
          <p:cNvPr id="3" name="Text 1">
            <a:extLst xmlns:a="http://schemas.openxmlformats.org/drawingml/2006/main">
              <a:ext uri="{FF2B5EF4-FFF2-40B4-BE49-F238E27FC236}">
                <a16:creationId xmlns:a16="http://schemas.microsoft.com/office/drawing/2014/main" id="{6BEBC1C0-AE62-42F2-BCBE-2ABD5E716A09}"/>
              </a:ext>
            </a:extLst>
          </p:cNvPr>
          <p:cNvSpPr>
            <a:spLocks xmlns:a="http://schemas.openxmlformats.org/drawingml/2006/main" noGrp="1"/>
          </p:cNvSpPr>
          <p:nvPr/>
        </p:nvSpPr>
        <p:spPr>
          <a:xfrm xmlns:a="http://schemas.openxmlformats.org/drawingml/2006/main">
            <a:off x="566928" y="676656"/>
            <a:ext cx="10789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344D"/>
                </a:solidFill>
                <a:latin typeface="Aptos"/>
                <a:ea typeface="Aptos"/>
                <a:cs typeface="Aptos"/>
              </a:rPr>
              <a:t>Recovery reduces failed consistency probes</a:t>
            </a:r>
            <a:endParaRPr sz="3000"/>
          </a:p>
        </p:txBody>
      </p:sp>
      <p:sp>
        <p:nvSpPr>
          <p:cNvPr id="4" name="Text 2">
            <a:extLst xmlns:a="http://schemas.openxmlformats.org/drawingml/2006/main">
              <a:ext uri="{FF2B5EF4-FFF2-40B4-BE49-F238E27FC236}">
                <a16:creationId xmlns:a16="http://schemas.microsoft.com/office/drawing/2014/main" id="{2818F0DC-011A-41A6-978C-B173511AC4D9}"/>
              </a:ext>
            </a:extLst>
          </p:cNvPr>
          <p:cNvSpPr>
            <a:spLocks xmlns:a="http://schemas.openxmlformats.org/drawingml/2006/main" noGrp="1"/>
          </p:cNvSpPr>
          <p:nvPr/>
        </p:nvSpPr>
        <p:spPr>
          <a:xfrm xmlns:a="http://schemas.openxmlformats.org/drawingml/2006/main">
            <a:off x="566928" y="1225296"/>
            <a:ext cx="106070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5C6978"/>
                </a:solidFill>
                <a:latin typeface="Aptos"/>
                <a:ea typeface="Aptos"/>
                <a:cs typeface="Aptos"/>
              </a:rPr>
              <a:t>Failed probes out of 720 per scenario; same seeds with recovery disabled and enabled</a:t>
            </a:r>
            <a:endParaRPr sz="1300"/>
          </a:p>
        </p:txBody>
      </p:sp>
      <p:sp>
        <p:nvSpPr>
          <p:cNvPr id="37" name="Text 35">
            <a:extLst xmlns:a="http://schemas.openxmlformats.org/drawingml/2006/main">
              <a:ext uri="{FF2B5EF4-FFF2-40B4-BE49-F238E27FC236}">
                <a16:creationId xmlns:a16="http://schemas.microsoft.com/office/drawing/2014/main" id="{B2E092CC-4267-43B8-8657-24BEBB530461}"/>
              </a:ext>
            </a:extLst>
          </p:cNvPr>
          <p:cNvSpPr>
            <a:spLocks xmlns:a="http://schemas.openxmlformats.org/drawingml/2006/main" noGrp="1"/>
          </p:cNvSpPr>
          <p:nvPr/>
        </p:nvSpPr>
        <p:spPr>
          <a:xfrm xmlns:a="http://schemas.openxmlformats.org/drawingml/2006/main">
            <a:off x="566928" y="6510528"/>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00">
                <a:solidFill>
                  <a:srgbClr val="8A94A0"/>
                </a:solidFill>
                <a:latin typeface="Aptos"/>
                <a:ea typeface="Aptos"/>
                <a:cs typeface="Aptos"/>
              </a:rPr>
              <a:t>Final Project</a:t>
            </a:r>
            <a:r>
              <a:rPr sz="800">
                <a:solidFill>
                  <a:srgbClr val="8A94A0"/>
                </a:solidFill>
                <a:latin typeface="Aptos"/>
                <a:ea typeface="Aptos"/>
                <a:cs typeface="Aptos"/>
              </a:rPr>
              <a:t>  •  5G UE Context Desynchronization Detection and Recovery</a:t>
            </a:r>
            <a:endParaRPr sz="800"/>
          </a:p>
        </p:txBody>
      </p:sp>
      <p:sp>
        <p:nvSpPr>
          <p:cNvPr id="38" name="Text 36">
            <a:extLst xmlns:a="http://schemas.openxmlformats.org/drawingml/2006/main">
              <a:ext uri="{FF2B5EF4-FFF2-40B4-BE49-F238E27FC236}">
                <a16:creationId xmlns:a16="http://schemas.microsoft.com/office/drawing/2014/main" id="{DA5C7B6B-6250-429B-BBF4-B7685E53BA94}"/>
              </a:ext>
            </a:extLst>
          </p:cNvPr>
          <p:cNvSpPr>
            <a:spLocks xmlns:a="http://schemas.openxmlformats.org/drawingml/2006/main" noGrp="1"/>
          </p:cNvSpPr>
          <p:nvPr/>
        </p:nvSpPr>
        <p:spPr>
          <a:xfrm xmlns:a="http://schemas.openxmlformats.org/drawingml/2006/main">
            <a:off x="11164824" y="6510528"/>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b="1">
                <a:solidFill>
                  <a:srgbClr val="8A94A0"/>
                </a:solidFill>
                <a:latin typeface="Aptos"/>
                <a:ea typeface="Aptos"/>
                <a:cs typeface="Aptos"/>
              </a:rPr>
              <a:t>12</a:t>
            </a:r>
            <a:endParaRPr sz="900"/>
          </a:p>
        </p:txBody>
      </p:sp>
      <p:sp>
        <p:nvSpPr>
          <p:cNvPr id="39" name="">
            <a:extLst xmlns:a="http://schemas.openxmlformats.org/drawingml/2006/main">
              <a:ext uri="{FF2B5EF4-FFF2-40B4-BE49-F238E27FC236}">
                <a16:creationId xmlns:a16="http://schemas.microsoft.com/office/drawing/2014/main" id="{F9834E39-2423-4F10-88DF-D4F1F3818B70}"/>
              </a:ext>
            </a:extLst>
          </p:cNvPr>
          <p:cNvSpPr>
            <a:spLocks xmlns:a="http://schemas.openxmlformats.org/drawingml/2006/main" noGrp="1"/>
          </p:cNvSpPr>
          <p:nvPr/>
        </p:nvSpPr>
        <p:spPr>
          <a:xfrm xmlns:a="http://schemas.openxmlformats.org/drawingml/2006/main">
            <a:off x="571500" y="1828800"/>
            <a:ext cx="11049000" cy="3638550"/>
          </a:xfrm>
          <a:prstGeom xmlns:a="http://schemas.openxmlformats.org/drawingml/2006/main" prst="roundRect">
            <a:avLst>
              <a:gd name="adj" fmla="val 2618"/>
            </a:avLst>
          </a:prstGeom>
          <a:solidFill xmlns:a="http://schemas.openxmlformats.org/drawingml/2006/main">
            <a:srgbClr val="FFFFFF"/>
          </a:solidFill>
          <a:ln xmlns:a="http://schemas.openxmlformats.org/drawingml/2006/main" w="9525">
            <a:solidFill>
              <a:srgbClr val="D5E1F0"/>
            </a:solidFill>
          </a:ln>
        </p:spPr>
      </p:sp>
      <p:graphicFrame>
        <p:nvGraphicFramePr>
          <p:cNvPr id="40" name="Chart">
            <a:extLst xmlns:a="http://schemas.openxmlformats.org/drawingml/2006/main">
              <a:ext uri="{FF2B5EF4-FFF2-40B4-BE49-F238E27FC236}">
                <a16:creationId xmlns:a16="http://schemas.microsoft.com/office/drawing/2014/main" id="{AC49DD8D-5B74-4BCD-842C-01435FF72E0C}"/>
              </a:ext>
            </a:extLst>
          </p:cNvPr>
          <p:cNvGraphicFramePr/>
          <p:nvPr/>
        </p:nvGraphicFramePr>
        <p:xfrm>
          <a:off xmlns:a="http://schemas.openxmlformats.org/drawingml/2006/main" x="838200" y="2028825"/>
          <a:ext xmlns:a="http://schemas.openxmlformats.org/drawingml/2006/main" cx="10515600" cy="3238500"/>
        </p:xfrm>
        <a:graphic xmlns:a="http://schemas.openxmlformats.org/drawingml/2006/main">
          <a:graphicData uri="http://schemas.openxmlformats.org/drawingml/2006/chart">
            <c:chart xmlns:r="http://schemas.openxmlformats.org/officeDocument/2006/relationships" xmlns:c="http://schemas.openxmlformats.org/drawingml/2006/chart" r:id="R880cdc0a8acd4800"/>
          </a:graphicData>
        </a:graphic>
      </p:graphicFrame>
      <p:sp>
        <p:nvSpPr>
          <p:cNvPr id="41" name="">
            <a:extLst xmlns:a="http://schemas.openxmlformats.org/drawingml/2006/main">
              <a:ext uri="{FF2B5EF4-FFF2-40B4-BE49-F238E27FC236}">
                <a16:creationId xmlns:a16="http://schemas.microsoft.com/office/drawing/2014/main" id="{7D417633-0C24-45C2-BFA0-1C1AF65EC55A}"/>
              </a:ext>
            </a:extLst>
          </p:cNvPr>
          <p:cNvSpPr>
            <a:spLocks xmlns:a="http://schemas.openxmlformats.org/drawingml/2006/main" noGrp="1"/>
          </p:cNvSpPr>
          <p:nvPr/>
        </p:nvSpPr>
        <p:spPr>
          <a:xfrm xmlns:a="http://schemas.openxmlformats.org/drawingml/2006/main">
            <a:off x="666750" y="57340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A344D"/>
                </a:solidFill>
                <a:latin typeface="Aptos"/>
                <a:ea typeface="Aptos"/>
                <a:cs typeface="Aptos"/>
              </a:defRPr>
            </a:defPPr>
          </a:lstStyle>
          <a:p xmlns:a="http://schemas.openxmlformats.org/drawingml/2006/main">
            <a:pPr>
              <a:defRPr sz="1725" b="1">
                <a:solidFill>
                  <a:srgbClr val="1A344D"/>
                </a:solidFill>
                <a:latin typeface="Aptos"/>
                <a:ea typeface="Aptos"/>
                <a:cs typeface="Aptos"/>
              </a:defRPr>
            </a:pPr>
            <a:r>
              <a:rPr sz="1725" b="1">
                <a:solidFill>
                  <a:srgbClr val="1A344D"/>
                </a:solidFill>
                <a:latin typeface="Aptos"/>
                <a:ea typeface="Aptos"/>
                <a:cs typeface="Aptos"/>
              </a:rPr>
              <a:t>QoS failed probes fall from 334 to 148, a 55.7% reduction.</a:t>
            </a:r>
          </a:p>
        </p:txBody>
      </p:sp>
      <p:sp>
        <p:nvSpPr>
          <p:cNvPr id="42" name="">
            <a:extLst xmlns:a="http://schemas.openxmlformats.org/drawingml/2006/main">
              <a:ext uri="{FF2B5EF4-FFF2-40B4-BE49-F238E27FC236}">
                <a16:creationId xmlns:a16="http://schemas.microsoft.com/office/drawing/2014/main" id="{250017AA-5DDF-4F35-A89D-4F7BCFD41C0F}"/>
              </a:ext>
            </a:extLst>
          </p:cNvPr>
          <p:cNvSpPr>
            <a:spLocks xmlns:a="http://schemas.openxmlformats.org/drawingml/2006/main" noGrp="1"/>
          </p:cNvSpPr>
          <p:nvPr/>
        </p:nvSpPr>
        <p:spPr>
          <a:xfrm xmlns:a="http://schemas.openxmlformats.org/drawingml/2006/main">
            <a:off x="666750" y="617220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C6978"/>
                </a:solidFill>
                <a:latin typeface="Aptos"/>
                <a:ea typeface="Aptos"/>
                <a:cs typeface="Aptos"/>
              </a:defRPr>
            </a:defPPr>
          </a:lstStyle>
          <a:p xmlns:a="http://schemas.openxmlformats.org/drawingml/2006/main">
            <a:pPr>
              <a:defRPr sz="1275" b="0">
                <a:solidFill>
                  <a:srgbClr val="5C6978"/>
                </a:solidFill>
                <a:latin typeface="Aptos"/>
                <a:ea typeface="Aptos"/>
                <a:cs typeface="Aptos"/>
              </a:defRPr>
            </a:pPr>
            <a:r>
              <a:rPr sz="1275" b="0">
                <a:solidFill>
                  <a:srgbClr val="5C6978"/>
                </a:solidFill>
                <a:latin typeface="Aptos"/>
                <a:ea typeface="Aptos"/>
                <a:cs typeface="Aptos"/>
              </a:rPr>
              <a:t>Outages and adapter failure limit recovery. Passing a consistency probe does not prove connectivity.</a:t>
            </a:r>
          </a:p>
        </p:txBody>
      </p:sp>
    </p:spTree>
    <p:extLst>
      <p:ext uri="{BB962C8B-B14F-4D97-AF65-F5344CB8AC3E}">
        <p14:creationId xmlns:p14="http://schemas.microsoft.com/office/powerpoint/2010/main" val="142571054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3C2F119-7EE7-45A8-9911-298FE22F5597}"/>
              </a:ext>
            </a:extLst>
          </p:cNvPr>
          <p:cNvSpPr>
            <a:spLocks xmlns:a="http://schemas.openxmlformats.org/drawingml/2006/main" noGrp="1"/>
          </p:cNvSpPr>
          <p:nvPr/>
        </p:nvSpPr>
        <p:spPr>
          <a:xfrm xmlns:a="http://schemas.openxmlformats.org/drawingml/2006/main">
            <a:off x="566928"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2F6FED"/>
                </a:solidFill>
                <a:latin typeface="Aptos"/>
                <a:ea typeface="Aptos"/>
                <a:cs typeface="Aptos"/>
              </a:rPr>
              <a:t>RESULTS · MEASURED EVIDENCE</a:t>
            </a:r>
            <a:endParaRPr sz="1100"/>
          </a:p>
        </p:txBody>
      </p:sp>
      <p:sp>
        <p:nvSpPr>
          <p:cNvPr id="3" name="Text 1">
            <a:extLst xmlns:a="http://schemas.openxmlformats.org/drawingml/2006/main">
              <a:ext uri="{FF2B5EF4-FFF2-40B4-BE49-F238E27FC236}">
                <a16:creationId xmlns:a16="http://schemas.microsoft.com/office/drawing/2014/main" id="{6BEBC1C0-AE62-42F2-BCBE-2ABD5E716A09}"/>
              </a:ext>
            </a:extLst>
          </p:cNvPr>
          <p:cNvSpPr>
            <a:spLocks xmlns:a="http://schemas.openxmlformats.org/drawingml/2006/main" noGrp="1"/>
          </p:cNvSpPr>
          <p:nvPr/>
        </p:nvSpPr>
        <p:spPr>
          <a:xfrm xmlns:a="http://schemas.openxmlformats.org/drawingml/2006/main">
            <a:off x="566928" y="676656"/>
            <a:ext cx="10789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344D"/>
                </a:solidFill>
                <a:latin typeface="Aptos"/>
                <a:ea typeface="Aptos"/>
                <a:cs typeface="Aptos"/>
              </a:rPr>
              <a:t>Detection accuracy and mismatch exposure</a:t>
            </a:r>
            <a:endParaRPr sz="3000"/>
          </a:p>
        </p:txBody>
      </p:sp>
      <p:sp>
        <p:nvSpPr>
          <p:cNvPr id="4" name="Text 2">
            <a:extLst xmlns:a="http://schemas.openxmlformats.org/drawingml/2006/main">
              <a:ext uri="{FF2B5EF4-FFF2-40B4-BE49-F238E27FC236}">
                <a16:creationId xmlns:a16="http://schemas.microsoft.com/office/drawing/2014/main" id="{2818F0DC-011A-41A6-978C-B173511AC4D9}"/>
              </a:ext>
            </a:extLst>
          </p:cNvPr>
          <p:cNvSpPr>
            <a:spLocks xmlns:a="http://schemas.openxmlformats.org/drawingml/2006/main" noGrp="1"/>
          </p:cNvSpPr>
          <p:nvPr/>
        </p:nvSpPr>
        <p:spPr>
          <a:xfrm xmlns:a="http://schemas.openxmlformats.org/drawingml/2006/main">
            <a:off x="566928" y="1225296"/>
            <a:ext cx="106070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5C6978"/>
                </a:solidFill>
                <a:latin typeface="Aptos"/>
                <a:ea typeface="Aptos"/>
                <a:cs typeface="Aptos"/>
              </a:rPr>
              <a:t>Aware detector without recovery; each row aggregates 40 runs</a:t>
            </a:r>
            <a:endParaRPr sz="1300"/>
          </a:p>
        </p:txBody>
      </p:sp>
      <p:sp>
        <p:nvSpPr>
          <p:cNvPr id="37" name="Text 35">
            <a:extLst xmlns:a="http://schemas.openxmlformats.org/drawingml/2006/main">
              <a:ext uri="{FF2B5EF4-FFF2-40B4-BE49-F238E27FC236}">
                <a16:creationId xmlns:a16="http://schemas.microsoft.com/office/drawing/2014/main" id="{B2E092CC-4267-43B8-8657-24BEBB530461}"/>
              </a:ext>
            </a:extLst>
          </p:cNvPr>
          <p:cNvSpPr>
            <a:spLocks xmlns:a="http://schemas.openxmlformats.org/drawingml/2006/main" noGrp="1"/>
          </p:cNvSpPr>
          <p:nvPr/>
        </p:nvSpPr>
        <p:spPr>
          <a:xfrm xmlns:a="http://schemas.openxmlformats.org/drawingml/2006/main">
            <a:off x="566928" y="6510528"/>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00">
                <a:solidFill>
                  <a:srgbClr val="8A94A0"/>
                </a:solidFill>
                <a:latin typeface="Aptos"/>
                <a:ea typeface="Aptos"/>
                <a:cs typeface="Aptos"/>
              </a:rPr>
              <a:t>Final Project</a:t>
            </a:r>
            <a:r>
              <a:rPr sz="800">
                <a:solidFill>
                  <a:srgbClr val="8A94A0"/>
                </a:solidFill>
                <a:latin typeface="Aptos"/>
                <a:ea typeface="Aptos"/>
                <a:cs typeface="Aptos"/>
              </a:rPr>
              <a:t>  •  5G UE Context Desynchronization Detection and Recovery</a:t>
            </a:r>
            <a:endParaRPr sz="800"/>
          </a:p>
        </p:txBody>
      </p:sp>
      <p:sp>
        <p:nvSpPr>
          <p:cNvPr id="38" name="Text 36">
            <a:extLst xmlns:a="http://schemas.openxmlformats.org/drawingml/2006/main">
              <a:ext uri="{FF2B5EF4-FFF2-40B4-BE49-F238E27FC236}">
                <a16:creationId xmlns:a16="http://schemas.microsoft.com/office/drawing/2014/main" id="{DA5C7B6B-6250-429B-BBF4-B7685E53BA94}"/>
              </a:ext>
            </a:extLst>
          </p:cNvPr>
          <p:cNvSpPr>
            <a:spLocks xmlns:a="http://schemas.openxmlformats.org/drawingml/2006/main" noGrp="1"/>
          </p:cNvSpPr>
          <p:nvPr/>
        </p:nvSpPr>
        <p:spPr>
          <a:xfrm xmlns:a="http://schemas.openxmlformats.org/drawingml/2006/main">
            <a:off x="11164824" y="6510528"/>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b="1">
                <a:solidFill>
                  <a:srgbClr val="8A94A0"/>
                </a:solidFill>
                <a:latin typeface="Aptos"/>
                <a:ea typeface="Aptos"/>
                <a:cs typeface="Aptos"/>
              </a:rPr>
              <a:t>13</a:t>
            </a:r>
            <a:endParaRPr sz="900"/>
          </a:p>
        </p:txBody>
      </p:sp>
      <p:sp>
        <p:nvSpPr>
          <p:cNvPr id="39" name="">
            <a:extLst xmlns:a="http://schemas.openxmlformats.org/drawingml/2006/main">
              <a:ext uri="{FF2B5EF4-FFF2-40B4-BE49-F238E27FC236}">
                <a16:creationId xmlns:a16="http://schemas.microsoft.com/office/drawing/2014/main" id="{CDE65582-9DB0-4B07-8DC3-AFC350793951}"/>
              </a:ext>
            </a:extLst>
          </p:cNvPr>
          <p:cNvSpPr>
            <a:spLocks xmlns:a="http://schemas.openxmlformats.org/drawingml/2006/main" noGrp="1"/>
          </p:cNvSpPr>
          <p:nvPr/>
        </p:nvSpPr>
        <p:spPr>
          <a:xfrm xmlns:a="http://schemas.openxmlformats.org/drawingml/2006/main">
            <a:off x="571500" y="1828800"/>
            <a:ext cx="11049000" cy="3638550"/>
          </a:xfrm>
          <a:prstGeom xmlns:a="http://schemas.openxmlformats.org/drawingml/2006/main" prst="roundRect">
            <a:avLst>
              <a:gd name="adj" fmla="val 2618"/>
            </a:avLst>
          </a:prstGeom>
          <a:solidFill xmlns:a="http://schemas.openxmlformats.org/drawingml/2006/main">
            <a:srgbClr val="FFFFFF"/>
          </a:solidFill>
          <a:ln xmlns:a="http://schemas.openxmlformats.org/drawingml/2006/main" w="9525">
            <a:solidFill>
              <a:srgbClr val="D5E1F0"/>
            </a:solidFill>
          </a:ln>
        </p:spPr>
      </p:sp>
      <p:graphicFrame>
        <p:nvGraphicFramePr>
          <p:cNvPr id="40" name="">
            <a:extLst xmlns:a="http://schemas.openxmlformats.org/drawingml/2006/main">
              <a:ext uri="{FF2B5EF4-FFF2-40B4-BE49-F238E27FC236}">
                <a16:creationId xmlns:a16="http://schemas.microsoft.com/office/drawing/2014/main" id="{2C599B28-DADA-492F-859D-7D0056F05AF8}"/>
              </a:ext>
            </a:extLst>
          </p:cNvPr>
          <p:cNvGraphicFramePr/>
          <p:nvPr/>
        </p:nvGraphicFramePr>
        <p:xfrm>
          <a:off xmlns:a="http://schemas.openxmlformats.org/drawingml/2006/main" x="781050" y="2028825"/>
          <a:ext xmlns:a="http://schemas.openxmlformats.org/drawingml/2006/main" cx="10629900" cy="3143250"/>
        </p:xfrm>
        <a:graphic xmlns:a="http://schemas.openxmlformats.org/drawingml/2006/main">
          <a:graphicData uri="http://schemas.openxmlformats.org/drawingml/2006/table">
            <a:tbl>
              <a:tblPr/>
              <a:tblGrid>
                <a:gridCol w="3390900"/>
                <a:gridCol w="1524000"/>
                <a:gridCol w="1714500"/>
                <a:gridCol w="1333500"/>
                <a:gridCol w="2667000"/>
              </a:tblGrid>
              <a:tr h="523875">
                <a:tc>
                  <a:txBody>
                    <a:bodyPr/>
                    <a:lstStyle/>
                    <a:p>
                      <a:r>
                        <a:rPr sz="1575" b="1">
                          <a:solidFill>
                            <a:srgbClr val="FFFFFF"/>
                          </a:solidFill>
                          <a:latin typeface="Aptos"/>
                          <a:ea typeface="Aptos"/>
                          <a:cs typeface="Aptos"/>
                        </a:rPr>
                        <a:t>Scenario</a:t>
                      </a:r>
                    </a:p>
                  </a:txBody>
                  <a:tcPr marL="91440" marR="91440" marT="45720" marB="45720">
                    <a:lnL w="9525">
                      <a:solidFill>
                        <a:srgbClr val="D9E3EC"/>
                      </a:solidFill>
                      <a:prstDash val="solid"/>
                    </a:lnL>
                    <a:lnR w="9525">
                      <a:solidFill>
                        <a:srgbClr val="D9E3EC"/>
                      </a:solidFill>
                      <a:prstDash val="solid"/>
                    </a:lnR>
                    <a:lnT w="9525">
                      <a:solidFill>
                        <a:srgbClr val="D9E3EC"/>
                      </a:solidFill>
                      <a:prstDash val="solid"/>
                    </a:lnT>
                    <a:lnB w="9525">
                      <a:solidFill>
                        <a:srgbClr val="D9E3EC"/>
                      </a:solidFill>
                      <a:prstDash val="solid"/>
                    </a:lnB>
                    <a:solidFill>
                      <a:srgbClr val="1A344D"/>
                    </a:solidFill>
                  </a:tcPr>
                </a:tc>
                <a:tc>
                  <a:txBody>
                    <a:bodyPr/>
                    <a:lstStyle/>
                    <a:p>
                      <a:r>
                        <a:rPr sz="1575" b="1">
                          <a:solidFill>
                            <a:srgbClr val="FFFFFF"/>
                          </a:solidFill>
                          <a:latin typeface="Aptos"/>
                          <a:ea typeface="Aptos"/>
                          <a:cs typeface="Aptos"/>
                        </a:rPr>
                        <a:t>Detected</a:t>
                      </a:r>
                    </a:p>
                  </a:txBody>
                  <a:tcPr marL="91440" marR="91440" marT="45720" marB="45720">
                    <a:lnR w="9525">
                      <a:solidFill>
                        <a:srgbClr val="D9E3EC"/>
                      </a:solidFill>
                      <a:prstDash val="solid"/>
                    </a:lnR>
                    <a:lnT w="9525">
                      <a:solidFill>
                        <a:srgbClr val="D9E3EC"/>
                      </a:solidFill>
                      <a:prstDash val="solid"/>
                    </a:lnT>
                    <a:lnB w="9525">
                      <a:solidFill>
                        <a:srgbClr val="D9E3EC"/>
                      </a:solidFill>
                      <a:prstDash val="solid"/>
                    </a:lnB>
                    <a:solidFill>
                      <a:srgbClr val="1A344D"/>
                    </a:solidFill>
                  </a:tcPr>
                </a:tc>
                <a:tc>
                  <a:txBody>
                    <a:bodyPr/>
                    <a:lstStyle/>
                    <a:p>
                      <a:r>
                        <a:rPr sz="1575" b="1">
                          <a:solidFill>
                            <a:srgbClr val="FFFFFF"/>
                          </a:solidFill>
                          <a:latin typeface="Aptos"/>
                          <a:ea typeface="Aptos"/>
                          <a:cs typeface="Aptos"/>
                        </a:rPr>
                        <a:t>False alarms</a:t>
                      </a:r>
                    </a:p>
                  </a:txBody>
                  <a:tcPr marL="91440" marR="91440" marT="45720" marB="45720">
                    <a:lnR w="9525">
                      <a:solidFill>
                        <a:srgbClr val="D9E3EC"/>
                      </a:solidFill>
                      <a:prstDash val="solid"/>
                    </a:lnR>
                    <a:lnT w="9525">
                      <a:solidFill>
                        <a:srgbClr val="D9E3EC"/>
                      </a:solidFill>
                      <a:prstDash val="solid"/>
                    </a:lnT>
                    <a:lnB w="9525">
                      <a:solidFill>
                        <a:srgbClr val="D9E3EC"/>
                      </a:solidFill>
                      <a:prstDash val="solid"/>
                    </a:lnB>
                    <a:solidFill>
                      <a:srgbClr val="1A344D"/>
                    </a:solidFill>
                  </a:tcPr>
                </a:tc>
                <a:tc>
                  <a:txBody>
                    <a:bodyPr/>
                    <a:lstStyle/>
                    <a:p>
                      <a:r>
                        <a:rPr sz="1575" b="1">
                          <a:solidFill>
                            <a:srgbClr val="FFFFFF"/>
                          </a:solidFill>
                          <a:latin typeface="Aptos"/>
                          <a:ea typeface="Aptos"/>
                          <a:cs typeface="Aptos"/>
                        </a:rPr>
                        <a:t>Missed</a:t>
                      </a:r>
                    </a:p>
                  </a:txBody>
                  <a:tcPr marL="91440" marR="91440" marT="45720" marB="45720">
                    <a:lnR w="9525">
                      <a:solidFill>
                        <a:srgbClr val="D9E3EC"/>
                      </a:solidFill>
                      <a:prstDash val="solid"/>
                    </a:lnR>
                    <a:lnT w="9525">
                      <a:solidFill>
                        <a:srgbClr val="D9E3EC"/>
                      </a:solidFill>
                      <a:prstDash val="solid"/>
                    </a:lnT>
                    <a:lnB w="9525">
                      <a:solidFill>
                        <a:srgbClr val="D9E3EC"/>
                      </a:solidFill>
                      <a:prstDash val="solid"/>
                    </a:lnB>
                    <a:solidFill>
                      <a:srgbClr val="1A344D"/>
                    </a:solidFill>
                  </a:tcPr>
                </a:tc>
                <a:tc>
                  <a:txBody>
                    <a:bodyPr/>
                    <a:lstStyle/>
                    <a:p>
                      <a:r>
                        <a:rPr sz="1575" b="1">
                          <a:solidFill>
                            <a:srgbClr val="FFFFFF"/>
                          </a:solidFill>
                          <a:latin typeface="Aptos"/>
                          <a:ea typeface="Aptos"/>
                          <a:cs typeface="Aptos"/>
                        </a:rPr>
                        <a:t>Precision / Recall</a:t>
                      </a:r>
                    </a:p>
                  </a:txBody>
                  <a:tcPr marL="91440" marR="91440" marT="45720" marB="45720">
                    <a:lnR w="9525">
                      <a:solidFill>
                        <a:srgbClr val="D9E3EC"/>
                      </a:solidFill>
                      <a:prstDash val="solid"/>
                    </a:lnR>
                    <a:lnT w="9525">
                      <a:solidFill>
                        <a:srgbClr val="D9E3EC"/>
                      </a:solidFill>
                      <a:prstDash val="solid"/>
                    </a:lnT>
                    <a:lnB w="9525">
                      <a:solidFill>
                        <a:srgbClr val="D9E3EC"/>
                      </a:solidFill>
                      <a:prstDash val="solid"/>
                    </a:lnB>
                    <a:solidFill>
                      <a:srgbClr val="1A344D"/>
                    </a:solidFill>
                  </a:tcPr>
                </a:tc>
              </a:tr>
              <a:tr h="523875">
                <a:tc>
                  <a:txBody>
                    <a:bodyPr/>
                    <a:lstStyle/>
                    <a:p>
                      <a:r>
                        <a:rPr sz="1575" b="0">
                          <a:solidFill>
                            <a:srgbClr val="1A344D"/>
                          </a:solidFill>
                          <a:latin typeface="Aptos"/>
                          <a:ea typeface="Aptos"/>
                          <a:cs typeface="Aptos"/>
                        </a:rPr>
                        <a:t>Setup completion</a:t>
                      </a:r>
                    </a:p>
                  </a:txBody>
                  <a:tcPr marL="91440" marR="91440" marT="45720" marB="45720">
                    <a:lnL w="9525">
                      <a:solidFill>
                        <a:srgbClr val="D9E3EC"/>
                      </a:solidFill>
                      <a:prstDash val="solid"/>
                    </a:lnL>
                    <a:lnR w="9525">
                      <a:solidFill>
                        <a:srgbClr val="D9E3EC"/>
                      </a:solidFill>
                      <a:prstDash val="solid"/>
                    </a:lnR>
                    <a:lnB w="9525">
                      <a:solidFill>
                        <a:srgbClr val="D9E3EC"/>
                      </a:solidFill>
                      <a:prstDash val="solid"/>
                    </a:lnB>
                    <a:solidFill>
                      <a:srgbClr val="F4F7FA"/>
                    </a:solidFill>
                  </a:tcPr>
                </a:tc>
                <a:tc>
                  <a:txBody>
                    <a:bodyPr/>
                    <a:lstStyle/>
                    <a:p>
                      <a:r>
                        <a:rPr sz="1575" b="0">
                          <a:solidFill>
                            <a:srgbClr val="1A344D"/>
                          </a:solidFill>
                          <a:latin typeface="Aptos"/>
                          <a:ea typeface="Aptos"/>
                          <a:cs typeface="Aptos"/>
                        </a:rPr>
                        <a:t>167</a:t>
                      </a:r>
                    </a:p>
                  </a:txBody>
                  <a:tcPr marL="91440" marR="91440" marT="45720" marB="45720">
                    <a:lnR w="9525">
                      <a:solidFill>
                        <a:srgbClr val="D9E3EC"/>
                      </a:solidFill>
                      <a:prstDash val="solid"/>
                    </a:lnR>
                    <a:lnB w="9525">
                      <a:solidFill>
                        <a:srgbClr val="D9E3EC"/>
                      </a:solidFill>
                      <a:prstDash val="solid"/>
                    </a:lnB>
                    <a:solidFill>
                      <a:srgbClr val="F4F7FA"/>
                    </a:solidFill>
                  </a:tcPr>
                </a:tc>
                <a:tc>
                  <a:txBody>
                    <a:bodyPr/>
                    <a:lstStyle/>
                    <a:p>
                      <a:r>
                        <a:rPr sz="1575" b="0">
                          <a:solidFill>
                            <a:srgbClr val="1A344D"/>
                          </a:solidFill>
                          <a:latin typeface="Aptos"/>
                          <a:ea typeface="Aptos"/>
                          <a:cs typeface="Aptos"/>
                        </a:rPr>
                        <a:t>0</a:t>
                      </a:r>
                    </a:p>
                  </a:txBody>
                  <a:tcPr marL="91440" marR="91440" marT="45720" marB="45720">
                    <a:lnR w="9525">
                      <a:solidFill>
                        <a:srgbClr val="D9E3EC"/>
                      </a:solidFill>
                      <a:prstDash val="solid"/>
                    </a:lnR>
                    <a:lnB w="9525">
                      <a:solidFill>
                        <a:srgbClr val="D9E3EC"/>
                      </a:solidFill>
                      <a:prstDash val="solid"/>
                    </a:lnB>
                    <a:solidFill>
                      <a:srgbClr val="F4F7FA"/>
                    </a:solidFill>
                  </a:tcPr>
                </a:tc>
                <a:tc>
                  <a:txBody>
                    <a:bodyPr/>
                    <a:lstStyle/>
                    <a:p>
                      <a:r>
                        <a:rPr sz="1575" b="0">
                          <a:solidFill>
                            <a:srgbClr val="1A344D"/>
                          </a:solidFill>
                          <a:latin typeface="Aptos"/>
                          <a:ea typeface="Aptos"/>
                          <a:cs typeface="Aptos"/>
                        </a:rPr>
                        <a:t>0</a:t>
                      </a:r>
                    </a:p>
                  </a:txBody>
                  <a:tcPr marL="91440" marR="91440" marT="45720" marB="45720">
                    <a:lnR w="9525">
                      <a:solidFill>
                        <a:srgbClr val="D9E3EC"/>
                      </a:solidFill>
                      <a:prstDash val="solid"/>
                    </a:lnR>
                    <a:lnB w="9525">
                      <a:solidFill>
                        <a:srgbClr val="D9E3EC"/>
                      </a:solidFill>
                      <a:prstDash val="solid"/>
                    </a:lnB>
                    <a:solidFill>
                      <a:srgbClr val="F4F7FA"/>
                    </a:solidFill>
                  </a:tcPr>
                </a:tc>
                <a:tc>
                  <a:txBody>
                    <a:bodyPr/>
                    <a:lstStyle/>
                    <a:p>
                      <a:r>
                        <a:rPr sz="1575" b="0">
                          <a:solidFill>
                            <a:srgbClr val="1A344D"/>
                          </a:solidFill>
                          <a:latin typeface="Aptos"/>
                          <a:ea typeface="Aptos"/>
                          <a:cs typeface="Aptos"/>
                        </a:rPr>
                        <a:t>1.00 / 1.00</a:t>
                      </a:r>
                    </a:p>
                  </a:txBody>
                  <a:tcPr marL="91440" marR="91440" marT="45720" marB="45720">
                    <a:lnR w="9525">
                      <a:solidFill>
                        <a:srgbClr val="D9E3EC"/>
                      </a:solidFill>
                      <a:prstDash val="solid"/>
                    </a:lnR>
                    <a:lnB w="9525">
                      <a:solidFill>
                        <a:srgbClr val="D9E3EC"/>
                      </a:solidFill>
                      <a:prstDash val="solid"/>
                    </a:lnB>
                    <a:solidFill>
                      <a:srgbClr val="F4F7FA"/>
                    </a:solidFill>
                  </a:tcPr>
                </a:tc>
              </a:tr>
              <a:tr h="523875">
                <a:tc>
                  <a:txBody>
                    <a:bodyPr/>
                    <a:lstStyle/>
                    <a:p>
                      <a:r>
                        <a:rPr sz="1575" b="0">
                          <a:solidFill>
                            <a:srgbClr val="1A344D"/>
                          </a:solidFill>
                          <a:latin typeface="Aptos"/>
                          <a:ea typeface="Aptos"/>
                          <a:cs typeface="Aptos"/>
                        </a:rPr>
                        <a:t>QoS completion</a:t>
                      </a:r>
                    </a:p>
                  </a:txBody>
                  <a:tcPr marL="91440" marR="91440" marT="45720" marB="45720">
                    <a:lnL w="9525">
                      <a:solidFill>
                        <a:srgbClr val="D9E3EC"/>
                      </a:solidFill>
                      <a:prstDash val="solid"/>
                    </a:lnL>
                    <a:lnR w="9525">
                      <a:solidFill>
                        <a:srgbClr val="D9E3EC"/>
                      </a:solidFill>
                      <a:prstDash val="solid"/>
                    </a:lnR>
                    <a:lnB w="9525">
                      <a:solidFill>
                        <a:srgbClr val="D9E3EC"/>
                      </a:solidFill>
                      <a:prstDash val="solid"/>
                    </a:lnB>
                    <a:solidFill>
                      <a:srgbClr val="FFFFFF"/>
                    </a:solidFill>
                  </a:tcPr>
                </a:tc>
                <a:tc>
                  <a:txBody>
                    <a:bodyPr/>
                    <a:lstStyle/>
                    <a:p>
                      <a:r>
                        <a:rPr sz="1575" b="0">
                          <a:solidFill>
                            <a:srgbClr val="1A344D"/>
                          </a:solidFill>
                          <a:latin typeface="Aptos"/>
                          <a:ea typeface="Aptos"/>
                          <a:cs typeface="Aptos"/>
                        </a:rPr>
                        <a:t>167</a:t>
                      </a:r>
                    </a:p>
                  </a:txBody>
                  <a:tcPr marL="91440" marR="91440" marT="45720" marB="45720">
                    <a:lnR w="9525">
                      <a:solidFill>
                        <a:srgbClr val="D9E3EC"/>
                      </a:solidFill>
                      <a:prstDash val="solid"/>
                    </a:lnR>
                    <a:lnB w="9525">
                      <a:solidFill>
                        <a:srgbClr val="D9E3EC"/>
                      </a:solidFill>
                      <a:prstDash val="solid"/>
                    </a:lnB>
                    <a:solidFill>
                      <a:srgbClr val="FFFFFF"/>
                    </a:solidFill>
                  </a:tcPr>
                </a:tc>
                <a:tc>
                  <a:txBody>
                    <a:bodyPr/>
                    <a:lstStyle/>
                    <a:p>
                      <a:r>
                        <a:rPr sz="1575" b="0">
                          <a:solidFill>
                            <a:srgbClr val="1A344D"/>
                          </a:solidFill>
                          <a:latin typeface="Aptos"/>
                          <a:ea typeface="Aptos"/>
                          <a:cs typeface="Aptos"/>
                        </a:rPr>
                        <a:t>0</a:t>
                      </a:r>
                    </a:p>
                  </a:txBody>
                  <a:tcPr marL="91440" marR="91440" marT="45720" marB="45720">
                    <a:lnR w="9525">
                      <a:solidFill>
                        <a:srgbClr val="D9E3EC"/>
                      </a:solidFill>
                      <a:prstDash val="solid"/>
                    </a:lnR>
                    <a:lnB w="9525">
                      <a:solidFill>
                        <a:srgbClr val="D9E3EC"/>
                      </a:solidFill>
                      <a:prstDash val="solid"/>
                    </a:lnB>
                    <a:solidFill>
                      <a:srgbClr val="FFFFFF"/>
                    </a:solidFill>
                  </a:tcPr>
                </a:tc>
                <a:tc>
                  <a:txBody>
                    <a:bodyPr/>
                    <a:lstStyle/>
                    <a:p>
                      <a:r>
                        <a:rPr sz="1575" b="0">
                          <a:solidFill>
                            <a:srgbClr val="1A344D"/>
                          </a:solidFill>
                          <a:latin typeface="Aptos"/>
                          <a:ea typeface="Aptos"/>
                          <a:cs typeface="Aptos"/>
                        </a:rPr>
                        <a:t>0</a:t>
                      </a:r>
                    </a:p>
                  </a:txBody>
                  <a:tcPr marL="91440" marR="91440" marT="45720" marB="45720">
                    <a:lnR w="9525">
                      <a:solidFill>
                        <a:srgbClr val="D9E3EC"/>
                      </a:solidFill>
                      <a:prstDash val="solid"/>
                    </a:lnR>
                    <a:lnB w="9525">
                      <a:solidFill>
                        <a:srgbClr val="D9E3EC"/>
                      </a:solidFill>
                      <a:prstDash val="solid"/>
                    </a:lnB>
                    <a:solidFill>
                      <a:srgbClr val="FFFFFF"/>
                    </a:solidFill>
                  </a:tcPr>
                </a:tc>
                <a:tc>
                  <a:txBody>
                    <a:bodyPr/>
                    <a:lstStyle/>
                    <a:p>
                      <a:r>
                        <a:rPr sz="1575" b="0">
                          <a:solidFill>
                            <a:srgbClr val="1A344D"/>
                          </a:solidFill>
                          <a:latin typeface="Aptos"/>
                          <a:ea typeface="Aptos"/>
                          <a:cs typeface="Aptos"/>
                        </a:rPr>
                        <a:t>1.00 / 1.00</a:t>
                      </a:r>
                    </a:p>
                  </a:txBody>
                  <a:tcPr marL="91440" marR="91440" marT="45720" marB="45720">
                    <a:lnR w="9525">
                      <a:solidFill>
                        <a:srgbClr val="D9E3EC"/>
                      </a:solidFill>
                      <a:prstDash val="solid"/>
                    </a:lnR>
                    <a:lnB w="9525">
                      <a:solidFill>
                        <a:srgbClr val="D9E3EC"/>
                      </a:solidFill>
                      <a:prstDash val="solid"/>
                    </a:lnB>
                    <a:solidFill>
                      <a:srgbClr val="FFFFFF"/>
                    </a:solidFill>
                  </a:tcPr>
                </a:tc>
              </a:tr>
              <a:tr h="523875">
                <a:tc>
                  <a:txBody>
                    <a:bodyPr/>
                    <a:lstStyle/>
                    <a:p>
                      <a:r>
                        <a:rPr sz="1575" b="0">
                          <a:solidFill>
                            <a:srgbClr val="1A344D"/>
                          </a:solidFill>
                          <a:latin typeface="Aptos"/>
                          <a:ea typeface="Aptos"/>
                          <a:cs typeface="Aptos"/>
                        </a:rPr>
                        <a:t>Release completion</a:t>
                      </a:r>
                    </a:p>
                  </a:txBody>
                  <a:tcPr marL="91440" marR="91440" marT="45720" marB="45720">
                    <a:lnL w="9525">
                      <a:solidFill>
                        <a:srgbClr val="D9E3EC"/>
                      </a:solidFill>
                      <a:prstDash val="solid"/>
                    </a:lnL>
                    <a:lnR w="9525">
                      <a:solidFill>
                        <a:srgbClr val="D9E3EC"/>
                      </a:solidFill>
                      <a:prstDash val="solid"/>
                    </a:lnR>
                    <a:lnB w="9525">
                      <a:solidFill>
                        <a:srgbClr val="D9E3EC"/>
                      </a:solidFill>
                      <a:prstDash val="solid"/>
                    </a:lnB>
                    <a:solidFill>
                      <a:srgbClr val="F4F7FA"/>
                    </a:solidFill>
                  </a:tcPr>
                </a:tc>
                <a:tc>
                  <a:txBody>
                    <a:bodyPr/>
                    <a:lstStyle/>
                    <a:p>
                      <a:r>
                        <a:rPr sz="1575" b="0">
                          <a:solidFill>
                            <a:srgbClr val="1A344D"/>
                          </a:solidFill>
                          <a:latin typeface="Aptos"/>
                          <a:ea typeface="Aptos"/>
                          <a:cs typeface="Aptos"/>
                        </a:rPr>
                        <a:t>167</a:t>
                      </a:r>
                    </a:p>
                  </a:txBody>
                  <a:tcPr marL="91440" marR="91440" marT="45720" marB="45720">
                    <a:lnR w="9525">
                      <a:solidFill>
                        <a:srgbClr val="D9E3EC"/>
                      </a:solidFill>
                      <a:prstDash val="solid"/>
                    </a:lnR>
                    <a:lnB w="9525">
                      <a:solidFill>
                        <a:srgbClr val="D9E3EC"/>
                      </a:solidFill>
                      <a:prstDash val="solid"/>
                    </a:lnB>
                    <a:solidFill>
                      <a:srgbClr val="F4F7FA"/>
                    </a:solidFill>
                  </a:tcPr>
                </a:tc>
                <a:tc>
                  <a:txBody>
                    <a:bodyPr/>
                    <a:lstStyle/>
                    <a:p>
                      <a:r>
                        <a:rPr sz="1575" b="0">
                          <a:solidFill>
                            <a:srgbClr val="1A344D"/>
                          </a:solidFill>
                          <a:latin typeface="Aptos"/>
                          <a:ea typeface="Aptos"/>
                          <a:cs typeface="Aptos"/>
                        </a:rPr>
                        <a:t>0</a:t>
                      </a:r>
                    </a:p>
                  </a:txBody>
                  <a:tcPr marL="91440" marR="91440" marT="45720" marB="45720">
                    <a:lnR w="9525">
                      <a:solidFill>
                        <a:srgbClr val="D9E3EC"/>
                      </a:solidFill>
                      <a:prstDash val="solid"/>
                    </a:lnR>
                    <a:lnB w="9525">
                      <a:solidFill>
                        <a:srgbClr val="D9E3EC"/>
                      </a:solidFill>
                      <a:prstDash val="solid"/>
                    </a:lnB>
                    <a:solidFill>
                      <a:srgbClr val="F4F7FA"/>
                    </a:solidFill>
                  </a:tcPr>
                </a:tc>
                <a:tc>
                  <a:txBody>
                    <a:bodyPr/>
                    <a:lstStyle/>
                    <a:p>
                      <a:r>
                        <a:rPr sz="1575" b="0">
                          <a:solidFill>
                            <a:srgbClr val="1A344D"/>
                          </a:solidFill>
                          <a:latin typeface="Aptos"/>
                          <a:ea typeface="Aptos"/>
                          <a:cs typeface="Aptos"/>
                        </a:rPr>
                        <a:t>0</a:t>
                      </a:r>
                    </a:p>
                  </a:txBody>
                  <a:tcPr marL="91440" marR="91440" marT="45720" marB="45720">
                    <a:lnR w="9525">
                      <a:solidFill>
                        <a:srgbClr val="D9E3EC"/>
                      </a:solidFill>
                      <a:prstDash val="solid"/>
                    </a:lnR>
                    <a:lnB w="9525">
                      <a:solidFill>
                        <a:srgbClr val="D9E3EC"/>
                      </a:solidFill>
                      <a:prstDash val="solid"/>
                    </a:lnB>
                    <a:solidFill>
                      <a:srgbClr val="F4F7FA"/>
                    </a:solidFill>
                  </a:tcPr>
                </a:tc>
                <a:tc>
                  <a:txBody>
                    <a:bodyPr/>
                    <a:lstStyle/>
                    <a:p>
                      <a:r>
                        <a:rPr sz="1575" b="0">
                          <a:solidFill>
                            <a:srgbClr val="1A344D"/>
                          </a:solidFill>
                          <a:latin typeface="Aptos"/>
                          <a:ea typeface="Aptos"/>
                          <a:cs typeface="Aptos"/>
                        </a:rPr>
                        <a:t>1.00 / 1.00</a:t>
                      </a:r>
                    </a:p>
                  </a:txBody>
                  <a:tcPr marL="91440" marR="91440" marT="45720" marB="45720">
                    <a:lnR w="9525">
                      <a:solidFill>
                        <a:srgbClr val="D9E3EC"/>
                      </a:solidFill>
                      <a:prstDash val="solid"/>
                    </a:lnR>
                    <a:lnB w="9525">
                      <a:solidFill>
                        <a:srgbClr val="D9E3EC"/>
                      </a:solidFill>
                      <a:prstDash val="solid"/>
                    </a:lnB>
                    <a:solidFill>
                      <a:srgbClr val="F4F7FA"/>
                    </a:solidFill>
                  </a:tcPr>
                </a:tc>
              </a:tr>
              <a:tr h="523875">
                <a:tc>
                  <a:txBody>
                    <a:bodyPr/>
                    <a:lstStyle/>
                    <a:p>
                      <a:r>
                        <a:rPr sz="1575" b="0">
                          <a:solidFill>
                            <a:srgbClr val="1A344D"/>
                          </a:solidFill>
                          <a:latin typeface="Aptos"/>
                          <a:ea typeface="Aptos"/>
                          <a:cs typeface="Aptos"/>
                        </a:rPr>
                        <a:t>Queued high load</a:t>
                      </a:r>
                    </a:p>
                  </a:txBody>
                  <a:tcPr marL="91440" marR="91440" marT="45720" marB="45720">
                    <a:lnL w="9525">
                      <a:solidFill>
                        <a:srgbClr val="D9E3EC"/>
                      </a:solidFill>
                      <a:prstDash val="solid"/>
                    </a:lnL>
                    <a:lnR w="9525">
                      <a:solidFill>
                        <a:srgbClr val="D9E3EC"/>
                      </a:solidFill>
                      <a:prstDash val="solid"/>
                    </a:lnR>
                    <a:lnB w="9525">
                      <a:solidFill>
                        <a:srgbClr val="D9E3EC"/>
                      </a:solidFill>
                      <a:prstDash val="solid"/>
                    </a:lnB>
                    <a:solidFill>
                      <a:srgbClr val="FFFFFF"/>
                    </a:solidFill>
                  </a:tcPr>
                </a:tc>
                <a:tc>
                  <a:txBody>
                    <a:bodyPr/>
                    <a:lstStyle/>
                    <a:p>
                      <a:r>
                        <a:rPr sz="1575" b="0">
                          <a:solidFill>
                            <a:srgbClr val="1A344D"/>
                          </a:solidFill>
                          <a:latin typeface="Aptos"/>
                          <a:ea typeface="Aptos"/>
                          <a:cs typeface="Aptos"/>
                        </a:rPr>
                        <a:t>154</a:t>
                      </a:r>
                    </a:p>
                  </a:txBody>
                  <a:tcPr marL="91440" marR="91440" marT="45720" marB="45720">
                    <a:lnR w="9525">
                      <a:solidFill>
                        <a:srgbClr val="D9E3EC"/>
                      </a:solidFill>
                      <a:prstDash val="solid"/>
                    </a:lnR>
                    <a:lnB w="9525">
                      <a:solidFill>
                        <a:srgbClr val="D9E3EC"/>
                      </a:solidFill>
                      <a:prstDash val="solid"/>
                    </a:lnB>
                    <a:solidFill>
                      <a:srgbClr val="FFFFFF"/>
                    </a:solidFill>
                  </a:tcPr>
                </a:tc>
                <a:tc>
                  <a:txBody>
                    <a:bodyPr/>
                    <a:lstStyle/>
                    <a:p>
                      <a:r>
                        <a:rPr sz="1575" b="0">
                          <a:solidFill>
                            <a:srgbClr val="1A344D"/>
                          </a:solidFill>
                          <a:latin typeface="Aptos"/>
                          <a:ea typeface="Aptos"/>
                          <a:cs typeface="Aptos"/>
                        </a:rPr>
                        <a:t>0</a:t>
                      </a:r>
                    </a:p>
                  </a:txBody>
                  <a:tcPr marL="91440" marR="91440" marT="45720" marB="45720">
                    <a:lnR w="9525">
                      <a:solidFill>
                        <a:srgbClr val="D9E3EC"/>
                      </a:solidFill>
                      <a:prstDash val="solid"/>
                    </a:lnR>
                    <a:lnB w="9525">
                      <a:solidFill>
                        <a:srgbClr val="D9E3EC"/>
                      </a:solidFill>
                      <a:prstDash val="solid"/>
                    </a:lnB>
                    <a:solidFill>
                      <a:srgbClr val="FFFFFF"/>
                    </a:solidFill>
                  </a:tcPr>
                </a:tc>
                <a:tc>
                  <a:txBody>
                    <a:bodyPr/>
                    <a:lstStyle/>
                    <a:p>
                      <a:r>
                        <a:rPr sz="1575" b="0">
                          <a:solidFill>
                            <a:srgbClr val="1A344D"/>
                          </a:solidFill>
                          <a:latin typeface="Aptos"/>
                          <a:ea typeface="Aptos"/>
                          <a:cs typeface="Aptos"/>
                        </a:rPr>
                        <a:t>0</a:t>
                      </a:r>
                    </a:p>
                  </a:txBody>
                  <a:tcPr marL="91440" marR="91440" marT="45720" marB="45720">
                    <a:lnR w="9525">
                      <a:solidFill>
                        <a:srgbClr val="D9E3EC"/>
                      </a:solidFill>
                      <a:prstDash val="solid"/>
                    </a:lnR>
                    <a:lnB w="9525">
                      <a:solidFill>
                        <a:srgbClr val="D9E3EC"/>
                      </a:solidFill>
                      <a:prstDash val="solid"/>
                    </a:lnB>
                    <a:solidFill>
                      <a:srgbClr val="FFFFFF"/>
                    </a:solidFill>
                  </a:tcPr>
                </a:tc>
                <a:tc>
                  <a:txBody>
                    <a:bodyPr/>
                    <a:lstStyle/>
                    <a:p>
                      <a:r>
                        <a:rPr sz="1575" b="0">
                          <a:solidFill>
                            <a:srgbClr val="1A344D"/>
                          </a:solidFill>
                          <a:latin typeface="Aptos"/>
                          <a:ea typeface="Aptos"/>
                          <a:cs typeface="Aptos"/>
                        </a:rPr>
                        <a:t>1.00 / 1.00</a:t>
                      </a:r>
                    </a:p>
                  </a:txBody>
                  <a:tcPr marL="91440" marR="91440" marT="45720" marB="45720">
                    <a:lnR w="9525">
                      <a:solidFill>
                        <a:srgbClr val="D9E3EC"/>
                      </a:solidFill>
                      <a:prstDash val="solid"/>
                    </a:lnR>
                    <a:lnB w="9525">
                      <a:solidFill>
                        <a:srgbClr val="D9E3EC"/>
                      </a:solidFill>
                      <a:prstDash val="solid"/>
                    </a:lnB>
                    <a:solidFill>
                      <a:srgbClr val="FFFFFF"/>
                    </a:solidFill>
                  </a:tcPr>
                </a:tc>
              </a:tr>
              <a:tr h="523875">
                <a:tc>
                  <a:txBody>
                    <a:bodyPr/>
                    <a:lstStyle/>
                    <a:p>
                      <a:r>
                        <a:rPr sz="1575" b="0">
                          <a:solidFill>
                            <a:srgbClr val="1A344D"/>
                          </a:solidFill>
                          <a:latin typeface="Aptos"/>
                          <a:ea typeface="Aptos"/>
                          <a:cs typeface="Aptos"/>
                        </a:rPr>
                        <a:t>Observation outage</a:t>
                      </a:r>
                    </a:p>
                  </a:txBody>
                  <a:tcPr marL="91440" marR="91440" marT="45720" marB="45720">
                    <a:lnL w="9525">
                      <a:solidFill>
                        <a:srgbClr val="D9E3EC"/>
                      </a:solidFill>
                      <a:prstDash val="solid"/>
                    </a:lnL>
                    <a:lnR w="9525">
                      <a:solidFill>
                        <a:srgbClr val="D9E3EC"/>
                      </a:solidFill>
                      <a:prstDash val="solid"/>
                    </a:lnR>
                    <a:lnB w="9525">
                      <a:solidFill>
                        <a:srgbClr val="D9E3EC"/>
                      </a:solidFill>
                      <a:prstDash val="solid"/>
                    </a:lnB>
                    <a:solidFill>
                      <a:srgbClr val="F4F7FA"/>
                    </a:solidFill>
                  </a:tcPr>
                </a:tc>
                <a:tc>
                  <a:txBody>
                    <a:bodyPr/>
                    <a:lstStyle/>
                    <a:p>
                      <a:r>
                        <a:rPr sz="1575" b="0">
                          <a:solidFill>
                            <a:srgbClr val="1A344D"/>
                          </a:solidFill>
                          <a:latin typeface="Aptos"/>
                          <a:ea typeface="Aptos"/>
                          <a:cs typeface="Aptos"/>
                        </a:rPr>
                        <a:t>167</a:t>
                      </a:r>
                    </a:p>
                  </a:txBody>
                  <a:tcPr marL="91440" marR="91440" marT="45720" marB="45720">
                    <a:lnR w="9525">
                      <a:solidFill>
                        <a:srgbClr val="D9E3EC"/>
                      </a:solidFill>
                      <a:prstDash val="solid"/>
                    </a:lnR>
                    <a:lnB w="9525">
                      <a:solidFill>
                        <a:srgbClr val="D9E3EC"/>
                      </a:solidFill>
                      <a:prstDash val="solid"/>
                    </a:lnB>
                    <a:solidFill>
                      <a:srgbClr val="F4F7FA"/>
                    </a:solidFill>
                  </a:tcPr>
                </a:tc>
                <a:tc>
                  <a:txBody>
                    <a:bodyPr/>
                    <a:lstStyle/>
                    <a:p>
                      <a:r>
                        <a:rPr sz="1575" b="0">
                          <a:solidFill>
                            <a:srgbClr val="1A344D"/>
                          </a:solidFill>
                          <a:latin typeface="Aptos"/>
                          <a:ea typeface="Aptos"/>
                          <a:cs typeface="Aptos"/>
                        </a:rPr>
                        <a:t>0</a:t>
                      </a:r>
                    </a:p>
                  </a:txBody>
                  <a:tcPr marL="91440" marR="91440" marT="45720" marB="45720">
                    <a:lnR w="9525">
                      <a:solidFill>
                        <a:srgbClr val="D9E3EC"/>
                      </a:solidFill>
                      <a:prstDash val="solid"/>
                    </a:lnR>
                    <a:lnB w="9525">
                      <a:solidFill>
                        <a:srgbClr val="D9E3EC"/>
                      </a:solidFill>
                      <a:prstDash val="solid"/>
                    </a:lnB>
                    <a:solidFill>
                      <a:srgbClr val="F4F7FA"/>
                    </a:solidFill>
                  </a:tcPr>
                </a:tc>
                <a:tc>
                  <a:txBody>
                    <a:bodyPr/>
                    <a:lstStyle/>
                    <a:p>
                      <a:r>
                        <a:rPr sz="1575" b="0">
                          <a:solidFill>
                            <a:srgbClr val="1A344D"/>
                          </a:solidFill>
                          <a:latin typeface="Aptos"/>
                          <a:ea typeface="Aptos"/>
                          <a:cs typeface="Aptos"/>
                        </a:rPr>
                        <a:t>0</a:t>
                      </a:r>
                    </a:p>
                  </a:txBody>
                  <a:tcPr marL="91440" marR="91440" marT="45720" marB="45720">
                    <a:lnR w="9525">
                      <a:solidFill>
                        <a:srgbClr val="D9E3EC"/>
                      </a:solidFill>
                      <a:prstDash val="solid"/>
                    </a:lnR>
                    <a:lnB w="9525">
                      <a:solidFill>
                        <a:srgbClr val="D9E3EC"/>
                      </a:solidFill>
                      <a:prstDash val="solid"/>
                    </a:lnB>
                    <a:solidFill>
                      <a:srgbClr val="F4F7FA"/>
                    </a:solidFill>
                  </a:tcPr>
                </a:tc>
                <a:tc>
                  <a:txBody>
                    <a:bodyPr/>
                    <a:lstStyle/>
                    <a:p>
                      <a:r>
                        <a:rPr sz="1575" b="0">
                          <a:solidFill>
                            <a:srgbClr val="1A344D"/>
                          </a:solidFill>
                          <a:latin typeface="Aptos"/>
                          <a:ea typeface="Aptos"/>
                          <a:cs typeface="Aptos"/>
                        </a:rPr>
                        <a:t>1.00 / 1.00</a:t>
                      </a:r>
                    </a:p>
                  </a:txBody>
                  <a:tcPr marL="91440" marR="91440" marT="45720" marB="45720">
                    <a:lnR w="9525">
                      <a:solidFill>
                        <a:srgbClr val="D9E3EC"/>
                      </a:solidFill>
                      <a:prstDash val="solid"/>
                    </a:lnR>
                    <a:lnB w="9525">
                      <a:solidFill>
                        <a:srgbClr val="D9E3EC"/>
                      </a:solidFill>
                      <a:prstDash val="solid"/>
                    </a:lnB>
                    <a:solidFill>
                      <a:srgbClr val="F4F7FA"/>
                    </a:solidFill>
                  </a:tcPr>
                </a:tc>
              </a:tr>
            </a:tbl>
          </a:graphicData>
        </a:graphic>
      </p:graphicFrame>
      <p:sp>
        <p:nvSpPr>
          <p:cNvPr id="41" name="">
            <a:extLst xmlns:a="http://schemas.openxmlformats.org/drawingml/2006/main">
              <a:ext uri="{FF2B5EF4-FFF2-40B4-BE49-F238E27FC236}">
                <a16:creationId xmlns:a16="http://schemas.microsoft.com/office/drawing/2014/main" id="{1DEBD6A1-DB92-466C-8092-6E7AF0D0B72D}"/>
              </a:ext>
            </a:extLst>
          </p:cNvPr>
          <p:cNvSpPr>
            <a:spLocks xmlns:a="http://schemas.openxmlformats.org/drawingml/2006/main" noGrp="1"/>
          </p:cNvSpPr>
          <p:nvPr/>
        </p:nvSpPr>
        <p:spPr>
          <a:xfrm xmlns:a="http://schemas.openxmlformats.org/drawingml/2006/main">
            <a:off x="666750" y="573405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A344D"/>
                </a:solidFill>
                <a:latin typeface="Aptos"/>
                <a:ea typeface="Aptos"/>
                <a:cs typeface="Aptos"/>
              </a:defRPr>
            </a:defPPr>
          </a:lstStyle>
          <a:p xmlns:a="http://schemas.openxmlformats.org/drawingml/2006/main">
            <a:pPr>
              <a:defRPr sz="1725" b="1">
                <a:solidFill>
                  <a:srgbClr val="1A344D"/>
                </a:solidFill>
                <a:latin typeface="Aptos"/>
                <a:ea typeface="Aptos"/>
                <a:cs typeface="Aptos"/>
              </a:defRPr>
            </a:pPr>
            <a:r>
              <a:rPr sz="1725" b="1">
                <a:solidFill>
                  <a:srgbClr val="1A344D"/>
                </a:solidFill>
                <a:latin typeface="Aptos"/>
                <a:ea typeface="Aptos"/>
                <a:cs typeface="Aptos"/>
              </a:rPr>
              <a:t>QoS exposure with recovery: 15,698 → 6,192 session-ms (60.6% lower).</a:t>
            </a:r>
          </a:p>
        </p:txBody>
      </p:sp>
      <p:sp>
        <p:nvSpPr>
          <p:cNvPr id="42" name="">
            <a:extLst xmlns:a="http://schemas.openxmlformats.org/drawingml/2006/main">
              <a:ext uri="{FF2B5EF4-FFF2-40B4-BE49-F238E27FC236}">
                <a16:creationId xmlns:a16="http://schemas.microsoft.com/office/drawing/2014/main" id="{9DC5DE71-E854-4CF1-97BC-36CCF192E86F}"/>
              </a:ext>
            </a:extLst>
          </p:cNvPr>
          <p:cNvSpPr>
            <a:spLocks xmlns:a="http://schemas.openxmlformats.org/drawingml/2006/main" noGrp="1"/>
          </p:cNvSpPr>
          <p:nvPr/>
        </p:nvSpPr>
        <p:spPr>
          <a:xfrm xmlns:a="http://schemas.openxmlformats.org/drawingml/2006/main">
            <a:off x="666750" y="61722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C6978"/>
                </a:solidFill>
                <a:latin typeface="Aptos"/>
                <a:ea typeface="Aptos"/>
                <a:cs typeface="Aptos"/>
              </a:defRPr>
            </a:defPPr>
          </a:lstStyle>
          <a:p xmlns:a="http://schemas.openxmlformats.org/drawingml/2006/main">
            <a:pPr>
              <a:defRPr sz="1275" b="0">
                <a:solidFill>
                  <a:srgbClr val="5C6978"/>
                </a:solidFill>
                <a:latin typeface="Aptos"/>
                <a:ea typeface="Aptos"/>
                <a:cs typeface="Aptos"/>
              </a:defRPr>
            </a:pPr>
            <a:r>
              <a:rPr sz="1275" b="0">
                <a:solidFill>
                  <a:srgbClr val="5C6978"/>
                </a:solidFill>
                <a:latin typeface="Aptos"/>
                <a:ea typeface="Aptos"/>
                <a:cs typeface="Aptos"/>
              </a:rPr>
              <a:t>Perfect scores apply to these synthetic cases. They do not estimate operator-network accuracy.</a:t>
            </a:r>
          </a:p>
        </p:txBody>
      </p:sp>
    </p:spTree>
    <p:extLst>
      <p:ext uri="{BB962C8B-B14F-4D97-AF65-F5344CB8AC3E}">
        <p14:creationId xmlns:p14="http://schemas.microsoft.com/office/powerpoint/2010/main" val="142571054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A47AC29-DB7D-44EE-A401-58678D416348}"/>
              </a:ext>
            </a:extLst>
          </p:cNvPr>
          <p:cNvSpPr>
            <a:spLocks xmlns:a="http://schemas.openxmlformats.org/drawingml/2006/main" noGrp="1"/>
          </p:cNvSpPr>
          <p:nvPr/>
        </p:nvSpPr>
        <p:spPr>
          <a:xfrm xmlns:a="http://schemas.openxmlformats.org/drawingml/2006/main">
            <a:off x="566928"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2F6FED"/>
                </a:solidFill>
                <a:latin typeface="Aptos"/>
                <a:ea typeface="Aptos"/>
                <a:cs typeface="Aptos"/>
              </a:rPr>
              <a:t>09 · CONCLUSION</a:t>
            </a:r>
            <a:endParaRPr sz="1100"/>
          </a:p>
        </p:txBody>
      </p:sp>
      <p:sp>
        <p:nvSpPr>
          <p:cNvPr id="3" name="Text 1">
            <a:extLst xmlns:a="http://schemas.openxmlformats.org/drawingml/2006/main">
              <a:ext uri="{FF2B5EF4-FFF2-40B4-BE49-F238E27FC236}">
                <a16:creationId xmlns:a16="http://schemas.microsoft.com/office/drawing/2014/main" id="{9A6E0875-D0FF-47B0-B4DA-F64766DE13D0}"/>
              </a:ext>
            </a:extLst>
          </p:cNvPr>
          <p:cNvSpPr>
            <a:spLocks xmlns:a="http://schemas.openxmlformats.org/drawingml/2006/main" noGrp="1"/>
          </p:cNvSpPr>
          <p:nvPr/>
        </p:nvSpPr>
        <p:spPr>
          <a:xfrm xmlns:a="http://schemas.openxmlformats.org/drawingml/2006/main">
            <a:off x="566928" y="676656"/>
            <a:ext cx="10789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344D"/>
                </a:solidFill>
                <a:latin typeface="Aptos"/>
                <a:ea typeface="Aptos"/>
                <a:cs typeface="Aptos"/>
              </a:rPr>
              <a:t>Conclusions and limitations</a:t>
            </a:r>
            <a:endParaRPr sz="3000"/>
          </a:p>
        </p:txBody>
      </p:sp>
      <p:sp>
        <p:nvSpPr>
          <p:cNvPr id="4" name="Text 2">
            <a:extLst xmlns:a="http://schemas.openxmlformats.org/drawingml/2006/main">
              <a:ext uri="{FF2B5EF4-FFF2-40B4-BE49-F238E27FC236}">
                <a16:creationId xmlns:a16="http://schemas.microsoft.com/office/drawing/2014/main" id="{9A5128A2-91D8-4D8C-959A-B01A94CBEF39}"/>
              </a:ext>
            </a:extLst>
          </p:cNvPr>
          <p:cNvSpPr>
            <a:spLocks xmlns:a="http://schemas.openxmlformats.org/drawingml/2006/main" noGrp="1"/>
          </p:cNvSpPr>
          <p:nvPr/>
        </p:nvSpPr>
        <p:spPr>
          <a:xfrm xmlns:a="http://schemas.openxmlformats.org/drawingml/2006/main">
            <a:off x="566928" y="1225296"/>
            <a:ext cx="106070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5C6978"/>
                </a:solidFill>
                <a:latin typeface="Aptos"/>
                <a:ea typeface="Aptos"/>
                <a:cs typeface="Aptos"/>
              </a:rPr>
              <a:t>The scoped prototype detects modeled contradictions and reduces mismatch exposure with available recovery.</a:t>
            </a:r>
            <a:endParaRPr sz="1300"/>
          </a:p>
        </p:txBody>
      </p:sp>
      <p:sp>
        <p:nvSpPr>
          <p:cNvPr id="5" name="Shape 3">
            <a:extLst xmlns:a="http://schemas.openxmlformats.org/drawingml/2006/main">
              <a:ext uri="{FF2B5EF4-FFF2-40B4-BE49-F238E27FC236}">
                <a16:creationId xmlns:a16="http://schemas.microsoft.com/office/drawing/2014/main" id="{A5C34BE2-87E7-4486-8D07-F3E49F453E7F}"/>
              </a:ext>
            </a:extLst>
          </p:cNvPr>
          <p:cNvSpPr>
            <a:spLocks xmlns:a="http://schemas.openxmlformats.org/drawingml/2006/main" noGrp="1"/>
          </p:cNvSpPr>
          <p:nvPr/>
        </p:nvSpPr>
        <p:spPr>
          <a:xfrm xmlns:a="http://schemas.openxmlformats.org/drawingml/2006/main">
            <a:off x="566928" y="1828800"/>
            <a:ext cx="3520440" cy="2148840"/>
          </a:xfrm>
          <a:prstGeom xmlns:a="http://schemas.openxmlformats.org/drawingml/2006/main" prst="roundRect">
            <a:avLst>
              <a:gd name="adj" fmla="val 3830"/>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633A546E-9021-4280-A1E5-9AE13AD17BEF}"/>
              </a:ext>
            </a:extLst>
          </p:cNvPr>
          <p:cNvSpPr>
            <a:spLocks xmlns:a="http://schemas.openxmlformats.org/drawingml/2006/main" noGrp="1"/>
          </p:cNvSpPr>
          <p:nvPr/>
        </p:nvSpPr>
        <p:spPr>
          <a:xfrm xmlns:a="http://schemas.openxmlformats.org/drawingml/2006/main">
            <a:off x="822960" y="2103120"/>
            <a:ext cx="420624" cy="420624"/>
          </a:xfrm>
          <a:prstGeom xmlns:a="http://schemas.openxmlformats.org/drawingml/2006/main" prst="ellipse">
            <a:avLst/>
          </a:prstGeom>
          <a:solidFill xmlns:a="http://schemas.openxmlformats.org/drawingml/2006/main">
            <a:srgbClr val="FFFFFF"/>
          </a:solidFill>
          <a:ln xmlns:a="http://schemas.openxmlformats.org/drawingml/2006/main" w="19050">
            <a:solidFill>
              <a:srgbClr val="C94C4C"/>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8D5FE9B5-83AB-4837-8DA4-0B96AB38B6BE}"/>
              </a:ext>
            </a:extLst>
          </p:cNvPr>
          <p:cNvSpPr>
            <a:spLocks xmlns:a="http://schemas.openxmlformats.org/drawingml/2006/main" noGrp="1"/>
          </p:cNvSpPr>
          <p:nvPr/>
        </p:nvSpPr>
        <p:spPr>
          <a:xfrm xmlns:a="http://schemas.openxmlformats.org/drawingml/2006/main">
            <a:off x="822960" y="2103120"/>
            <a:ext cx="420624" cy="42062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C94C4C"/>
                </a:solidFill>
                <a:latin typeface="Aptos"/>
                <a:ea typeface="Aptos"/>
                <a:cs typeface="Aptos"/>
              </a:rPr>
              <a:t>1</a:t>
            </a:r>
            <a:endParaRPr sz="1200"/>
          </a:p>
        </p:txBody>
      </p:sp>
      <p:sp>
        <p:nvSpPr>
          <p:cNvPr id="8" name="Text 6">
            <a:extLst xmlns:a="http://schemas.openxmlformats.org/drawingml/2006/main">
              <a:ext uri="{FF2B5EF4-FFF2-40B4-BE49-F238E27FC236}">
                <a16:creationId xmlns:a16="http://schemas.microsoft.com/office/drawing/2014/main" id="{E146F9AD-5174-4B43-87E3-69E87B82A801}"/>
              </a:ext>
            </a:extLst>
          </p:cNvPr>
          <p:cNvSpPr>
            <a:spLocks xmlns:a="http://schemas.openxmlformats.org/drawingml/2006/main" noGrp="1"/>
          </p:cNvSpPr>
          <p:nvPr/>
        </p:nvSpPr>
        <p:spPr>
          <a:xfrm xmlns:a="http://schemas.openxmlformats.org/drawingml/2006/main">
            <a:off x="822960" y="2743200"/>
            <a:ext cx="3008376"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700"/>
              </a:lnSpc>
              <a:buNone/>
            </a:pPr>
            <a:r>
              <a:rPr sz="1400" b="1">
                <a:solidFill>
                  <a:srgbClr val="1A344D"/>
                </a:solidFill>
                <a:latin typeface="Aptos"/>
                <a:ea typeface="Aptos"/>
                <a:cs typeface="Aptos"/>
              </a:rPr>
              <a:t>Problem</a:t>
            </a:r>
            <a:endParaRPr sz="1400"/>
          </a:p>
        </p:txBody>
      </p:sp>
      <p:sp>
        <p:nvSpPr>
          <p:cNvPr id="9" name="Text 7">
            <a:extLst xmlns:a="http://schemas.openxmlformats.org/drawingml/2006/main">
              <a:ext uri="{FF2B5EF4-FFF2-40B4-BE49-F238E27FC236}">
                <a16:creationId xmlns:a16="http://schemas.microsoft.com/office/drawing/2014/main" id="{C87898BB-BCB7-40F8-AEDC-76A9BDD16191}"/>
              </a:ext>
            </a:extLst>
          </p:cNvPr>
          <p:cNvSpPr>
            <a:spLocks xmlns:a="http://schemas.openxmlformats.org/drawingml/2006/main" noGrp="1"/>
          </p:cNvSpPr>
          <p:nvPr/>
        </p:nvSpPr>
        <p:spPr>
          <a:xfrm xmlns:a="http://schemas.openxmlformats.org/drawingml/2006/main">
            <a:off x="822960" y="3200400"/>
            <a:ext cx="3008376"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050">
                <a:solidFill>
                  <a:srgbClr val="5C6978"/>
                </a:solidFill>
                <a:latin typeface="Aptos"/>
                <a:ea typeface="Aptos"/>
                <a:cs typeface="Aptos"/>
              </a:rPr>
              <a:t>RAN and Core can hold different UE states after signaling faults.</a:t>
            </a:r>
            <a:endParaRPr sz="1050"/>
          </a:p>
        </p:txBody>
      </p:sp>
      <p:sp>
        <p:nvSpPr>
          <p:cNvPr id="10" name="Shape 8">
            <a:extLst xmlns:a="http://schemas.openxmlformats.org/drawingml/2006/main">
              <a:ext uri="{FF2B5EF4-FFF2-40B4-BE49-F238E27FC236}">
                <a16:creationId xmlns:a16="http://schemas.microsoft.com/office/drawing/2014/main" id="{DB018837-C4E9-403F-BAF7-41356AA4F107}"/>
              </a:ext>
            </a:extLst>
          </p:cNvPr>
          <p:cNvSpPr>
            <a:spLocks xmlns:a="http://schemas.openxmlformats.org/drawingml/2006/main" noGrp="1"/>
          </p:cNvSpPr>
          <p:nvPr/>
        </p:nvSpPr>
        <p:spPr>
          <a:xfrm xmlns:a="http://schemas.openxmlformats.org/drawingml/2006/main">
            <a:off x="4270248" y="1828800"/>
            <a:ext cx="3520440" cy="2148840"/>
          </a:xfrm>
          <a:prstGeom xmlns:a="http://schemas.openxmlformats.org/drawingml/2006/main" prst="roundRect">
            <a:avLst>
              <a:gd name="adj" fmla="val 3830"/>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004B1E8-B256-4782-A233-AAA2E319F172}"/>
              </a:ext>
            </a:extLst>
          </p:cNvPr>
          <p:cNvSpPr>
            <a:spLocks xmlns:a="http://schemas.openxmlformats.org/drawingml/2006/main" noGrp="1"/>
          </p:cNvSpPr>
          <p:nvPr/>
        </p:nvSpPr>
        <p:spPr>
          <a:xfrm xmlns:a="http://schemas.openxmlformats.org/drawingml/2006/main">
            <a:off x="4526280" y="2103120"/>
            <a:ext cx="420624" cy="420624"/>
          </a:xfrm>
          <a:prstGeom xmlns:a="http://schemas.openxmlformats.org/drawingml/2006/main" prst="ellipse">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F3ADDCEC-72F4-450F-850C-25C53879B4DD}"/>
              </a:ext>
            </a:extLst>
          </p:cNvPr>
          <p:cNvSpPr>
            <a:spLocks xmlns:a="http://schemas.openxmlformats.org/drawingml/2006/main" noGrp="1"/>
          </p:cNvSpPr>
          <p:nvPr/>
        </p:nvSpPr>
        <p:spPr>
          <a:xfrm xmlns:a="http://schemas.openxmlformats.org/drawingml/2006/main">
            <a:off x="4526280" y="2103120"/>
            <a:ext cx="420624" cy="42062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2F6FED"/>
                </a:solidFill>
                <a:latin typeface="Aptos"/>
                <a:ea typeface="Aptos"/>
                <a:cs typeface="Aptos"/>
              </a:rPr>
              <a:t>2</a:t>
            </a:r>
            <a:endParaRPr sz="1200"/>
          </a:p>
        </p:txBody>
      </p:sp>
      <p:sp>
        <p:nvSpPr>
          <p:cNvPr id="13" name="Text 11">
            <a:extLst xmlns:a="http://schemas.openxmlformats.org/drawingml/2006/main">
              <a:ext uri="{FF2B5EF4-FFF2-40B4-BE49-F238E27FC236}">
                <a16:creationId xmlns:a16="http://schemas.microsoft.com/office/drawing/2014/main" id="{B478F318-A1C6-4768-BAD5-1D183DEE3366}"/>
              </a:ext>
            </a:extLst>
          </p:cNvPr>
          <p:cNvSpPr>
            <a:spLocks xmlns:a="http://schemas.openxmlformats.org/drawingml/2006/main" noGrp="1"/>
          </p:cNvSpPr>
          <p:nvPr/>
        </p:nvSpPr>
        <p:spPr>
          <a:xfrm xmlns:a="http://schemas.openxmlformats.org/drawingml/2006/main">
            <a:off x="4526280" y="2743200"/>
            <a:ext cx="3008376"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700"/>
              </a:lnSpc>
              <a:buNone/>
            </a:pPr>
            <a:r>
              <a:rPr sz="1400" b="1">
                <a:solidFill>
                  <a:srgbClr val="1A344D"/>
                </a:solidFill>
                <a:latin typeface="Aptos"/>
                <a:ea typeface="Aptos"/>
                <a:cs typeface="Aptos"/>
              </a:rPr>
              <a:t>Implemented solution</a:t>
            </a:r>
            <a:endParaRPr sz="1400"/>
          </a:p>
        </p:txBody>
      </p:sp>
      <p:sp>
        <p:nvSpPr>
          <p:cNvPr id="14" name="Text 12">
            <a:extLst xmlns:a="http://schemas.openxmlformats.org/drawingml/2006/main">
              <a:ext uri="{FF2B5EF4-FFF2-40B4-BE49-F238E27FC236}">
                <a16:creationId xmlns:a16="http://schemas.microsoft.com/office/drawing/2014/main" id="{0A014E48-38E0-4A27-999B-B00EF645C26A}"/>
              </a:ext>
            </a:extLst>
          </p:cNvPr>
          <p:cNvSpPr>
            <a:spLocks xmlns:a="http://schemas.openxmlformats.org/drawingml/2006/main" noGrp="1"/>
          </p:cNvSpPr>
          <p:nvPr/>
        </p:nvSpPr>
        <p:spPr>
          <a:xfrm xmlns:a="http://schemas.openxmlformats.org/drawingml/2006/main">
            <a:off x="4526280" y="3200400"/>
            <a:ext cx="3008376"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050">
                <a:solidFill>
                  <a:srgbClr val="5C6978"/>
                </a:solidFill>
                <a:latin typeface="Aptos"/>
                <a:ea typeface="Aptos"/>
                <a:cs typeface="Aptos"/>
              </a:rPr>
              <a:t>Coupled FSMs + protocol-aware consistency rules + controlled fault injection.</a:t>
            </a:r>
            <a:endParaRPr sz="1050"/>
          </a:p>
        </p:txBody>
      </p:sp>
      <p:sp>
        <p:nvSpPr>
          <p:cNvPr id="15" name="Shape 13">
            <a:extLst xmlns:a="http://schemas.openxmlformats.org/drawingml/2006/main">
              <a:ext uri="{FF2B5EF4-FFF2-40B4-BE49-F238E27FC236}">
                <a16:creationId xmlns:a16="http://schemas.microsoft.com/office/drawing/2014/main" id="{86761DE0-7130-4EF6-B937-EA447C00AEB4}"/>
              </a:ext>
            </a:extLst>
          </p:cNvPr>
          <p:cNvSpPr>
            <a:spLocks xmlns:a="http://schemas.openxmlformats.org/drawingml/2006/main" noGrp="1"/>
          </p:cNvSpPr>
          <p:nvPr/>
        </p:nvSpPr>
        <p:spPr>
          <a:xfrm xmlns:a="http://schemas.openxmlformats.org/drawingml/2006/main">
            <a:off x="7973568" y="1828800"/>
            <a:ext cx="3520440" cy="2148840"/>
          </a:xfrm>
          <a:prstGeom xmlns:a="http://schemas.openxmlformats.org/drawingml/2006/main" prst="roundRect">
            <a:avLst>
              <a:gd name="adj" fmla="val 3830"/>
            </a:avLst>
          </a:prstGeom>
          <a:solidFill xmlns:a="http://schemas.openxmlformats.org/drawingml/2006/main">
            <a:srgbClr val="FFFFFF"/>
          </a:solidFill>
          <a:ln xmlns:a="http://schemas.openxmlformats.org/drawingml/2006/main" w="12700">
            <a:solidFill>
              <a:srgbClr val="E4E9F0"/>
            </a:solidFill>
            <a:prstDash val="solid"/>
          </a:ln>
          <a:effectLst xmlns:a="http://schemas.openxmlformats.org/drawingml/2006/main">
            <a:outerShdw blurRad="38100" dist="19050" dir="5400000" algn="bl" rotWithShape="0">
              <a:srgbClr val="9AA7B5">
                <a:alpha val="15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C09A2F11-8049-4866-A809-8FE56E95B14F}"/>
              </a:ext>
            </a:extLst>
          </p:cNvPr>
          <p:cNvSpPr>
            <a:spLocks xmlns:a="http://schemas.openxmlformats.org/drawingml/2006/main" noGrp="1"/>
          </p:cNvSpPr>
          <p:nvPr/>
        </p:nvSpPr>
        <p:spPr>
          <a:xfrm xmlns:a="http://schemas.openxmlformats.org/drawingml/2006/main">
            <a:off x="8229600" y="2103120"/>
            <a:ext cx="420624" cy="420624"/>
          </a:xfrm>
          <a:prstGeom xmlns:a="http://schemas.openxmlformats.org/drawingml/2006/main" prst="ellipse">
            <a:avLst/>
          </a:prstGeom>
          <a:solidFill xmlns:a="http://schemas.openxmlformats.org/drawingml/2006/main">
            <a:srgbClr val="FFFFFF"/>
          </a:solidFill>
          <a:ln xmlns:a="http://schemas.openxmlformats.org/drawingml/2006/main" w="19050">
            <a:solidFill>
              <a:srgbClr val="2F8F5B"/>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72F27F81-74AA-459C-BF78-F3D356E07463}"/>
              </a:ext>
            </a:extLst>
          </p:cNvPr>
          <p:cNvSpPr>
            <a:spLocks xmlns:a="http://schemas.openxmlformats.org/drawingml/2006/main" noGrp="1"/>
          </p:cNvSpPr>
          <p:nvPr/>
        </p:nvSpPr>
        <p:spPr>
          <a:xfrm xmlns:a="http://schemas.openxmlformats.org/drawingml/2006/main">
            <a:off x="8229600" y="2103120"/>
            <a:ext cx="420624" cy="420624"/>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buNone/>
            </a:pPr>
            <a:r>
              <a:rPr sz="1200" b="1">
                <a:solidFill>
                  <a:srgbClr val="2F8F5B"/>
                </a:solidFill>
                <a:latin typeface="Aptos"/>
                <a:ea typeface="Aptos"/>
                <a:cs typeface="Aptos"/>
              </a:rPr>
              <a:t>3</a:t>
            </a:r>
            <a:endParaRPr sz="1200"/>
          </a:p>
        </p:txBody>
      </p:sp>
      <p:sp>
        <p:nvSpPr>
          <p:cNvPr id="18" name="Text 16">
            <a:extLst xmlns:a="http://schemas.openxmlformats.org/drawingml/2006/main">
              <a:ext uri="{FF2B5EF4-FFF2-40B4-BE49-F238E27FC236}">
                <a16:creationId xmlns:a16="http://schemas.microsoft.com/office/drawing/2014/main" id="{FBA3C40A-59DA-4FE1-ACA5-1F728432D520}"/>
              </a:ext>
            </a:extLst>
          </p:cNvPr>
          <p:cNvSpPr>
            <a:spLocks xmlns:a="http://schemas.openxmlformats.org/drawingml/2006/main" noGrp="1"/>
          </p:cNvSpPr>
          <p:nvPr/>
        </p:nvSpPr>
        <p:spPr>
          <a:xfrm xmlns:a="http://schemas.openxmlformats.org/drawingml/2006/main">
            <a:off x="8229600" y="2743200"/>
            <a:ext cx="3008376"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700"/>
              </a:lnSpc>
              <a:buNone/>
            </a:pPr>
            <a:r>
              <a:rPr sz="1400" b="1">
                <a:solidFill>
                  <a:srgbClr val="1A344D"/>
                </a:solidFill>
                <a:latin typeface="Aptos"/>
                <a:ea typeface="Aptos"/>
                <a:cs typeface="Aptos"/>
              </a:rPr>
              <a:t>Measured benefit</a:t>
            </a:r>
            <a:endParaRPr sz="1400"/>
          </a:p>
        </p:txBody>
      </p:sp>
      <p:sp>
        <p:nvSpPr>
          <p:cNvPr id="19" name="Text 17">
            <a:extLst xmlns:a="http://schemas.openxmlformats.org/drawingml/2006/main">
              <a:ext uri="{FF2B5EF4-FFF2-40B4-BE49-F238E27FC236}">
                <a16:creationId xmlns:a16="http://schemas.microsoft.com/office/drawing/2014/main" id="{E0FD5E32-0B2E-4C4B-8E77-3BC11EA705D4}"/>
              </a:ext>
            </a:extLst>
          </p:cNvPr>
          <p:cNvSpPr>
            <a:spLocks xmlns:a="http://schemas.openxmlformats.org/drawingml/2006/main" noGrp="1"/>
          </p:cNvSpPr>
          <p:nvPr/>
        </p:nvSpPr>
        <p:spPr>
          <a:xfrm xmlns:a="http://schemas.openxmlformats.org/drawingml/2006/main">
            <a:off x="8229600" y="3200400"/>
            <a:ext cx="3008376"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ts val="1400"/>
              </a:lnSpc>
              <a:buNone/>
            </a:pPr>
            <a:r>
              <a:rPr sz="1050">
                <a:solidFill>
                  <a:srgbClr val="5C6978"/>
                </a:solidFill>
                <a:latin typeface="Aptos"/>
                <a:ea typeface="Aptos"/>
                <a:cs typeface="Aptos"/>
              </a:rPr>
              <a:t>QoS mismatch exposure falls from 15,698 to 6,192 session-ms across 40 seeds.</a:t>
            </a:r>
            <a:endParaRPr sz="1050"/>
          </a:p>
        </p:txBody>
      </p:sp>
      <p:sp>
        <p:nvSpPr>
          <p:cNvPr id="20" name="Shape 18">
            <a:extLst xmlns:a="http://schemas.openxmlformats.org/drawingml/2006/main">
              <a:ext uri="{FF2B5EF4-FFF2-40B4-BE49-F238E27FC236}">
                <a16:creationId xmlns:a16="http://schemas.microsoft.com/office/drawing/2014/main" id="{D682692D-B212-4474-8494-4B585006C578}"/>
              </a:ext>
            </a:extLst>
          </p:cNvPr>
          <p:cNvSpPr>
            <a:spLocks xmlns:a="http://schemas.openxmlformats.org/drawingml/2006/main" noGrp="1"/>
          </p:cNvSpPr>
          <p:nvPr/>
        </p:nvSpPr>
        <p:spPr>
          <a:xfrm xmlns:a="http://schemas.openxmlformats.org/drawingml/2006/main">
            <a:off x="566928" y="4251960"/>
            <a:ext cx="11064240" cy="1005840"/>
          </a:xfrm>
          <a:prstGeom xmlns:a="http://schemas.openxmlformats.org/drawingml/2006/main" prst="roundRect">
            <a:avLst>
              <a:gd name="adj" fmla="val 8182"/>
            </a:avLst>
          </a:prstGeom>
          <a:solidFill xmlns:a="http://schemas.openxmlformats.org/drawingml/2006/main">
            <a:srgbClr val="0F2538"/>
          </a:solidFill>
          <a:ln xmlns:a="http://schemas.openxmlformats.org/drawingml/2006/main" w="12700">
            <a:solidFill>
              <a:srgbClr val="0F2538"/>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71C61DE1-9030-49B9-B7A4-1F114EFD5756}"/>
              </a:ext>
            </a:extLst>
          </p:cNvPr>
          <p:cNvSpPr>
            <a:spLocks xmlns:a="http://schemas.openxmlformats.org/drawingml/2006/main" noGrp="1"/>
          </p:cNvSpPr>
          <p:nvPr/>
        </p:nvSpPr>
        <p:spPr>
          <a:xfrm xmlns:a="http://schemas.openxmlformats.org/drawingml/2006/main">
            <a:off x="841248" y="4251960"/>
            <a:ext cx="457200"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000" b="1">
                <a:solidFill>
                  <a:srgbClr val="7FB2FF"/>
                </a:solidFill>
                <a:latin typeface="Aptos"/>
                <a:ea typeface="Aptos"/>
                <a:cs typeface="Aptos"/>
              </a:rPr>
              <a:t>→</a:t>
            </a:r>
            <a:endParaRPr sz="2000"/>
          </a:p>
        </p:txBody>
      </p:sp>
      <p:sp>
        <p:nvSpPr>
          <p:cNvPr id="22" name="Text 20">
            <a:extLst xmlns:a="http://schemas.openxmlformats.org/drawingml/2006/main">
              <a:ext uri="{FF2B5EF4-FFF2-40B4-BE49-F238E27FC236}">
                <a16:creationId xmlns:a16="http://schemas.microsoft.com/office/drawing/2014/main" id="{527B3082-9DEE-417A-BE05-E472E9295750}"/>
              </a:ext>
            </a:extLst>
          </p:cNvPr>
          <p:cNvSpPr>
            <a:spLocks xmlns:a="http://schemas.openxmlformats.org/drawingml/2006/main" noGrp="1"/>
          </p:cNvSpPr>
          <p:nvPr/>
        </p:nvSpPr>
        <p:spPr>
          <a:xfrm xmlns:a="http://schemas.openxmlformats.org/drawingml/2006/main">
            <a:off x="1389888" y="4434840"/>
            <a:ext cx="2743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7FB2FF"/>
                </a:solidFill>
                <a:latin typeface="Aptos"/>
                <a:ea typeface="Aptos"/>
                <a:cs typeface="Aptos"/>
              </a:rPr>
              <a:t>Next step</a:t>
            </a:r>
            <a:endParaRPr sz="1250"/>
          </a:p>
        </p:txBody>
      </p:sp>
      <p:sp>
        <p:nvSpPr>
          <p:cNvPr id="23" name="Text 21">
            <a:extLst xmlns:a="http://schemas.openxmlformats.org/drawingml/2006/main">
              <a:ext uri="{FF2B5EF4-FFF2-40B4-BE49-F238E27FC236}">
                <a16:creationId xmlns:a16="http://schemas.microsoft.com/office/drawing/2014/main" id="{7E778B0E-790A-4462-9367-6B375A03672D}"/>
              </a:ext>
            </a:extLst>
          </p:cNvPr>
          <p:cNvSpPr>
            <a:spLocks xmlns:a="http://schemas.openxmlformats.org/drawingml/2006/main" noGrp="1"/>
          </p:cNvSpPr>
          <p:nvPr/>
        </p:nvSpPr>
        <p:spPr>
          <a:xfrm xmlns:a="http://schemas.openxmlformats.org/drawingml/2006/main">
            <a:off x="1389888" y="4754880"/>
            <a:ext cx="987552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a:solidFill>
                  <a:srgbClr val="FFFFFF"/>
                </a:solidFill>
                <a:latin typeface="Aptos"/>
                <a:ea typeface="Aptos"/>
                <a:cs typeface="Aptos"/>
              </a:rPr>
              <a:t>Validate on a RAN/Core testbed with user traffic, clock skew and full mobility. Current probes measure consistency only.</a:t>
            </a:r>
            <a:endParaRPr sz="1250"/>
          </a:p>
        </p:txBody>
      </p:sp>
      <p:sp>
        <p:nvSpPr>
          <p:cNvPr id="24" name="Text 22">
            <a:extLst xmlns:a="http://schemas.openxmlformats.org/drawingml/2006/main">
              <a:ext uri="{FF2B5EF4-FFF2-40B4-BE49-F238E27FC236}">
                <a16:creationId xmlns:a16="http://schemas.microsoft.com/office/drawing/2014/main" id="{05679CB4-42A1-4D48-B5DF-09875D89FC4A}"/>
              </a:ext>
            </a:extLst>
          </p:cNvPr>
          <p:cNvSpPr>
            <a:spLocks xmlns:a="http://schemas.openxmlformats.org/drawingml/2006/main" noGrp="1"/>
          </p:cNvSpPr>
          <p:nvPr/>
        </p:nvSpPr>
        <p:spPr>
          <a:xfrm xmlns:a="http://schemas.openxmlformats.org/drawingml/2006/main">
            <a:off x="566928" y="6510528"/>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00">
                <a:solidFill>
                  <a:srgbClr val="8A94A0"/>
                </a:solidFill>
                <a:latin typeface="Aptos"/>
                <a:ea typeface="Aptos"/>
                <a:cs typeface="Aptos"/>
              </a:rPr>
              <a:t>Final Project</a:t>
            </a:r>
            <a:r>
              <a:rPr sz="800">
                <a:solidFill>
                  <a:srgbClr val="8A94A0"/>
                </a:solidFill>
                <a:latin typeface="Aptos"/>
                <a:ea typeface="Aptos"/>
                <a:cs typeface="Aptos"/>
              </a:rPr>
              <a:t>  •  5G UE Context Desynchronization Detection and Recovery</a:t>
            </a:r>
            <a:endParaRPr sz="800"/>
          </a:p>
        </p:txBody>
      </p:sp>
      <p:sp>
        <p:nvSpPr>
          <p:cNvPr id="25" name="Text 23">
            <a:extLst xmlns:a="http://schemas.openxmlformats.org/drawingml/2006/main">
              <a:ext uri="{FF2B5EF4-FFF2-40B4-BE49-F238E27FC236}">
                <a16:creationId xmlns:a16="http://schemas.microsoft.com/office/drawing/2014/main" id="{68A3F8C6-CB58-41F9-B306-E34B203B9BAB}"/>
              </a:ext>
            </a:extLst>
          </p:cNvPr>
          <p:cNvSpPr>
            <a:spLocks xmlns:a="http://schemas.openxmlformats.org/drawingml/2006/main" noGrp="1"/>
          </p:cNvSpPr>
          <p:nvPr/>
        </p:nvSpPr>
        <p:spPr>
          <a:xfrm xmlns:a="http://schemas.openxmlformats.org/drawingml/2006/main">
            <a:off x="11164824" y="6510528"/>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b="1">
                <a:solidFill>
                  <a:srgbClr val="8A94A0"/>
                </a:solidFill>
                <a:latin typeface="Aptos"/>
                <a:ea typeface="Aptos"/>
                <a:cs typeface="Aptos"/>
              </a:rPr>
              <a:t>14</a:t>
            </a:r>
            <a:endParaRPr sz="900"/>
          </a:p>
        </p:txBody>
      </p:sp>
    </p:spTree>
    <p:extLst>
      <p:ext uri="{BB962C8B-B14F-4D97-AF65-F5344CB8AC3E}">
        <p14:creationId xmlns:p14="http://schemas.microsoft.com/office/powerpoint/2010/main" val="180086692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907D0B-36D7-423A-974B-EA0E536E1FC7}"/>
              </a:ext>
            </a:extLst>
          </p:cNvPr>
          <p:cNvSpPr>
            <a:spLocks xmlns:a="http://schemas.openxmlformats.org/drawingml/2006/main" noGrp="1"/>
          </p:cNvSpPr>
          <p:nvPr/>
        </p:nvSpPr>
        <p:spPr>
          <a:xfrm xmlns:a="http://schemas.openxmlformats.org/drawingml/2006/main">
            <a:off x="566928" y="384048"/>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2F6FED"/>
                </a:solidFill>
                <a:latin typeface="Aptos"/>
                <a:ea typeface="Aptos"/>
                <a:cs typeface="Aptos"/>
              </a:rPr>
              <a:t>10 · REFERENCES</a:t>
            </a:r>
            <a:endParaRPr sz="1100"/>
          </a:p>
        </p:txBody>
      </p:sp>
      <p:sp>
        <p:nvSpPr>
          <p:cNvPr id="3" name="Text 1">
            <a:extLst xmlns:a="http://schemas.openxmlformats.org/drawingml/2006/main">
              <a:ext uri="{FF2B5EF4-FFF2-40B4-BE49-F238E27FC236}">
                <a16:creationId xmlns:a16="http://schemas.microsoft.com/office/drawing/2014/main" id="{06FC5E8C-9DD8-4BF1-A6F8-C0EC69F4BF58}"/>
              </a:ext>
            </a:extLst>
          </p:cNvPr>
          <p:cNvSpPr>
            <a:spLocks xmlns:a="http://schemas.openxmlformats.org/drawingml/2006/main" noGrp="1"/>
          </p:cNvSpPr>
          <p:nvPr/>
        </p:nvSpPr>
        <p:spPr>
          <a:xfrm xmlns:a="http://schemas.openxmlformats.org/drawingml/2006/main">
            <a:off x="566928" y="676656"/>
            <a:ext cx="10789920" cy="5669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3000" b="1">
                <a:solidFill>
                  <a:srgbClr val="1A344D"/>
                </a:solidFill>
                <a:latin typeface="Aptos"/>
                <a:ea typeface="Aptos"/>
                <a:cs typeface="Aptos"/>
              </a:rPr>
              <a:t>Key standards and supporting literature</a:t>
            </a:r>
            <a:endParaRPr sz="3000"/>
          </a:p>
        </p:txBody>
      </p:sp>
      <p:sp>
        <p:nvSpPr>
          <p:cNvPr id="4" name="Text 2">
            <a:extLst xmlns:a="http://schemas.openxmlformats.org/drawingml/2006/main">
              <a:ext uri="{FF2B5EF4-FFF2-40B4-BE49-F238E27FC236}">
                <a16:creationId xmlns:a16="http://schemas.microsoft.com/office/drawing/2014/main" id="{C3FB427F-CEC3-4A70-9FF0-82E9D828FEC7}"/>
              </a:ext>
            </a:extLst>
          </p:cNvPr>
          <p:cNvSpPr>
            <a:spLocks xmlns:a="http://schemas.openxmlformats.org/drawingml/2006/main" noGrp="1"/>
          </p:cNvSpPr>
          <p:nvPr/>
        </p:nvSpPr>
        <p:spPr>
          <a:xfrm xmlns:a="http://schemas.openxmlformats.org/drawingml/2006/main">
            <a:off x="566928" y="1225296"/>
            <a:ext cx="106070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5C6978"/>
                </a:solidFill>
                <a:latin typeface="Aptos"/>
                <a:ea typeface="Aptos"/>
                <a:cs typeface="Aptos"/>
              </a:rPr>
              <a:t>Primary references for architecture, procedures, RRC, simulation, and anomaly monitoring.</a:t>
            </a:r>
            <a:endParaRPr sz="1300"/>
          </a:p>
        </p:txBody>
      </p:sp>
      <p:sp>
        <p:nvSpPr>
          <p:cNvPr id="5" name="Shape 3">
            <a:extLst xmlns:a="http://schemas.openxmlformats.org/drawingml/2006/main">
              <a:ext uri="{FF2B5EF4-FFF2-40B4-BE49-F238E27FC236}">
                <a16:creationId xmlns:a16="http://schemas.microsoft.com/office/drawing/2014/main" id="{6645B50D-8FD2-4E56-9B87-15CDEA1E0947}"/>
              </a:ext>
            </a:extLst>
          </p:cNvPr>
          <p:cNvSpPr>
            <a:spLocks xmlns:a="http://schemas.openxmlformats.org/drawingml/2006/main" noGrp="1"/>
          </p:cNvSpPr>
          <p:nvPr/>
        </p:nvSpPr>
        <p:spPr>
          <a:xfrm xmlns:a="http://schemas.openxmlformats.org/drawingml/2006/main">
            <a:off x="566928" y="1783080"/>
            <a:ext cx="11064240" cy="530352"/>
          </a:xfrm>
          <a:prstGeom xmlns:a="http://schemas.openxmlformats.org/drawingml/2006/main" prst="roundRect">
            <a:avLst>
              <a:gd name="adj" fmla="val 15517"/>
            </a:avLst>
          </a:prstGeom>
          <a:solidFill xmlns:a="http://schemas.openxmlformats.org/drawingml/2006/main">
            <a:srgbClr val="FFFFFF"/>
          </a:solidFill>
          <a:ln xmlns:a="http://schemas.openxmlformats.org/drawingml/2006/main" w="12700">
            <a:solidFill>
              <a:srgbClr val="E4E9F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9626E6E7-0B3A-4585-8044-691303BDBEDA}"/>
              </a:ext>
            </a:extLst>
          </p:cNvPr>
          <p:cNvSpPr>
            <a:spLocks xmlns:a="http://schemas.openxmlformats.org/drawingml/2006/main" noGrp="1"/>
          </p:cNvSpPr>
          <p:nvPr/>
        </p:nvSpPr>
        <p:spPr>
          <a:xfrm xmlns:a="http://schemas.openxmlformats.org/drawingml/2006/main">
            <a:off x="768096" y="1783080"/>
            <a:ext cx="45720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2F6FED"/>
                </a:solidFill>
                <a:latin typeface="Aptos"/>
                <a:ea typeface="Aptos"/>
                <a:cs typeface="Aptos"/>
              </a:rPr>
              <a:t>[1]</a:t>
            </a:r>
            <a:endParaRPr sz="1150"/>
          </a:p>
        </p:txBody>
      </p:sp>
      <p:sp>
        <p:nvSpPr>
          <p:cNvPr id="7" name="Text 5">
            <a:extLst xmlns:a="http://schemas.openxmlformats.org/drawingml/2006/main">
              <a:ext uri="{FF2B5EF4-FFF2-40B4-BE49-F238E27FC236}">
                <a16:creationId xmlns:a16="http://schemas.microsoft.com/office/drawing/2014/main" id="{519B0E58-AFF2-4C9C-9079-F91AD1157B45}"/>
              </a:ext>
            </a:extLst>
          </p:cNvPr>
          <p:cNvSpPr>
            <a:spLocks xmlns:a="http://schemas.openxmlformats.org/drawingml/2006/main" noGrp="1"/>
          </p:cNvSpPr>
          <p:nvPr/>
        </p:nvSpPr>
        <p:spPr>
          <a:xfrm xmlns:a="http://schemas.openxmlformats.org/drawingml/2006/main">
            <a:off x="1252728" y="1783080"/>
            <a:ext cx="210312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A344D"/>
                </a:solidFill>
                <a:latin typeface="Aptos"/>
                <a:ea typeface="Aptos"/>
                <a:cs typeface="Aptos"/>
              </a:rPr>
              <a:t>3GPP TS 23.501</a:t>
            </a:r>
            <a:endParaRPr sz="1100"/>
          </a:p>
        </p:txBody>
      </p:sp>
      <p:sp>
        <p:nvSpPr>
          <p:cNvPr id="8" name="Text 6">
            <a:extLst xmlns:a="http://schemas.openxmlformats.org/drawingml/2006/main">
              <a:ext uri="{FF2B5EF4-FFF2-40B4-BE49-F238E27FC236}">
                <a16:creationId xmlns:a16="http://schemas.microsoft.com/office/drawing/2014/main" id="{77CE4465-7DE3-4038-914C-080E58FE895B}"/>
              </a:ext>
            </a:extLst>
          </p:cNvPr>
          <p:cNvSpPr>
            <a:spLocks xmlns:a="http://schemas.openxmlformats.org/drawingml/2006/main" noGrp="1"/>
          </p:cNvSpPr>
          <p:nvPr/>
        </p:nvSpPr>
        <p:spPr>
          <a:xfrm xmlns:a="http://schemas.openxmlformats.org/drawingml/2006/main">
            <a:off x="3447288" y="1783080"/>
            <a:ext cx="800100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C6978"/>
                </a:solidFill>
                <a:latin typeface="Aptos"/>
                <a:ea typeface="Aptos"/>
                <a:cs typeface="Aptos"/>
              </a:rPr>
              <a:t>System architecture for the 5G System (5GS).</a:t>
            </a:r>
            <a:endParaRPr sz="1050"/>
          </a:p>
        </p:txBody>
      </p:sp>
      <p:sp>
        <p:nvSpPr>
          <p:cNvPr id="9" name="Shape 7">
            <a:extLst xmlns:a="http://schemas.openxmlformats.org/drawingml/2006/main">
              <a:ext uri="{FF2B5EF4-FFF2-40B4-BE49-F238E27FC236}">
                <a16:creationId xmlns:a16="http://schemas.microsoft.com/office/drawing/2014/main" id="{AEA22704-6162-48B3-AEEF-AFA11062C7FF}"/>
              </a:ext>
            </a:extLst>
          </p:cNvPr>
          <p:cNvSpPr>
            <a:spLocks xmlns:a="http://schemas.openxmlformats.org/drawingml/2006/main" noGrp="1"/>
          </p:cNvSpPr>
          <p:nvPr/>
        </p:nvSpPr>
        <p:spPr>
          <a:xfrm xmlns:a="http://schemas.openxmlformats.org/drawingml/2006/main">
            <a:off x="566928" y="2404872"/>
            <a:ext cx="11064240" cy="530352"/>
          </a:xfrm>
          <a:prstGeom xmlns:a="http://schemas.openxmlformats.org/drawingml/2006/main" prst="roundRect">
            <a:avLst>
              <a:gd name="adj" fmla="val 15517"/>
            </a:avLst>
          </a:prstGeom>
          <a:solidFill xmlns:a="http://schemas.openxmlformats.org/drawingml/2006/main">
            <a:srgbClr val="F6F8FB"/>
          </a:solidFill>
          <a:ln xmlns:a="http://schemas.openxmlformats.org/drawingml/2006/main" w="12700">
            <a:solidFill>
              <a:srgbClr val="E4E9F0"/>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3C6C0105-A254-4246-8896-A2640248A92E}"/>
              </a:ext>
            </a:extLst>
          </p:cNvPr>
          <p:cNvSpPr>
            <a:spLocks xmlns:a="http://schemas.openxmlformats.org/drawingml/2006/main" noGrp="1"/>
          </p:cNvSpPr>
          <p:nvPr/>
        </p:nvSpPr>
        <p:spPr>
          <a:xfrm xmlns:a="http://schemas.openxmlformats.org/drawingml/2006/main">
            <a:off x="768096" y="2404872"/>
            <a:ext cx="45720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2F6FED"/>
                </a:solidFill>
                <a:latin typeface="Aptos"/>
                <a:ea typeface="Aptos"/>
                <a:cs typeface="Aptos"/>
              </a:rPr>
              <a:t>[2]</a:t>
            </a:r>
            <a:endParaRPr sz="1150"/>
          </a:p>
        </p:txBody>
      </p:sp>
      <p:sp>
        <p:nvSpPr>
          <p:cNvPr id="11" name="Text 9">
            <a:extLst xmlns:a="http://schemas.openxmlformats.org/drawingml/2006/main">
              <a:ext uri="{FF2B5EF4-FFF2-40B4-BE49-F238E27FC236}">
                <a16:creationId xmlns:a16="http://schemas.microsoft.com/office/drawing/2014/main" id="{676C5A50-79B5-4F6C-89F7-C4755A780C16}"/>
              </a:ext>
            </a:extLst>
          </p:cNvPr>
          <p:cNvSpPr>
            <a:spLocks xmlns:a="http://schemas.openxmlformats.org/drawingml/2006/main" noGrp="1"/>
          </p:cNvSpPr>
          <p:nvPr/>
        </p:nvSpPr>
        <p:spPr>
          <a:xfrm xmlns:a="http://schemas.openxmlformats.org/drawingml/2006/main">
            <a:off x="1252728" y="2404872"/>
            <a:ext cx="210312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A344D"/>
                </a:solidFill>
                <a:latin typeface="Aptos"/>
                <a:ea typeface="Aptos"/>
                <a:cs typeface="Aptos"/>
              </a:rPr>
              <a:t>3GPP TS 23.502</a:t>
            </a:r>
            <a:endParaRPr sz="1100"/>
          </a:p>
        </p:txBody>
      </p:sp>
      <p:sp>
        <p:nvSpPr>
          <p:cNvPr id="12" name="Text 10">
            <a:extLst xmlns:a="http://schemas.openxmlformats.org/drawingml/2006/main">
              <a:ext uri="{FF2B5EF4-FFF2-40B4-BE49-F238E27FC236}">
                <a16:creationId xmlns:a16="http://schemas.microsoft.com/office/drawing/2014/main" id="{298C9720-A3BF-46E2-92AF-2C40171FD083}"/>
              </a:ext>
            </a:extLst>
          </p:cNvPr>
          <p:cNvSpPr>
            <a:spLocks xmlns:a="http://schemas.openxmlformats.org/drawingml/2006/main" noGrp="1"/>
          </p:cNvSpPr>
          <p:nvPr/>
        </p:nvSpPr>
        <p:spPr>
          <a:xfrm xmlns:a="http://schemas.openxmlformats.org/drawingml/2006/main">
            <a:off x="3447288" y="2404872"/>
            <a:ext cx="800100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C6978"/>
                </a:solidFill>
                <a:latin typeface="Aptos"/>
                <a:ea typeface="Aptos"/>
                <a:cs typeface="Aptos"/>
              </a:rPr>
              <a:t>Procedures for the 5G System (5GS).</a:t>
            </a:r>
            <a:endParaRPr sz="1050"/>
          </a:p>
        </p:txBody>
      </p:sp>
      <p:sp>
        <p:nvSpPr>
          <p:cNvPr id="13" name="Shape 11">
            <a:extLst xmlns:a="http://schemas.openxmlformats.org/drawingml/2006/main">
              <a:ext uri="{FF2B5EF4-FFF2-40B4-BE49-F238E27FC236}">
                <a16:creationId xmlns:a16="http://schemas.microsoft.com/office/drawing/2014/main" id="{480870C1-5E49-491E-BC14-3D07ADB157A7}"/>
              </a:ext>
            </a:extLst>
          </p:cNvPr>
          <p:cNvSpPr>
            <a:spLocks xmlns:a="http://schemas.openxmlformats.org/drawingml/2006/main" noGrp="1"/>
          </p:cNvSpPr>
          <p:nvPr/>
        </p:nvSpPr>
        <p:spPr>
          <a:xfrm xmlns:a="http://schemas.openxmlformats.org/drawingml/2006/main">
            <a:off x="566928" y="3026664"/>
            <a:ext cx="11064240" cy="530352"/>
          </a:xfrm>
          <a:prstGeom xmlns:a="http://schemas.openxmlformats.org/drawingml/2006/main" prst="roundRect">
            <a:avLst>
              <a:gd name="adj" fmla="val 15517"/>
            </a:avLst>
          </a:prstGeom>
          <a:solidFill xmlns:a="http://schemas.openxmlformats.org/drawingml/2006/main">
            <a:srgbClr val="FFFFFF"/>
          </a:solidFill>
          <a:ln xmlns:a="http://schemas.openxmlformats.org/drawingml/2006/main" w="12700">
            <a:solidFill>
              <a:srgbClr val="E4E9F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B36CE5D6-5929-4801-91BA-51D4C1763274}"/>
              </a:ext>
            </a:extLst>
          </p:cNvPr>
          <p:cNvSpPr>
            <a:spLocks xmlns:a="http://schemas.openxmlformats.org/drawingml/2006/main" noGrp="1"/>
          </p:cNvSpPr>
          <p:nvPr/>
        </p:nvSpPr>
        <p:spPr>
          <a:xfrm xmlns:a="http://schemas.openxmlformats.org/drawingml/2006/main">
            <a:off x="768096" y="3026664"/>
            <a:ext cx="45720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2F6FED"/>
                </a:solidFill>
                <a:latin typeface="Aptos"/>
                <a:ea typeface="Aptos"/>
                <a:cs typeface="Aptos"/>
              </a:rPr>
              <a:t>[3]</a:t>
            </a:r>
            <a:endParaRPr sz="1150"/>
          </a:p>
        </p:txBody>
      </p:sp>
      <p:sp>
        <p:nvSpPr>
          <p:cNvPr id="15" name="Text 13">
            <a:extLst xmlns:a="http://schemas.openxmlformats.org/drawingml/2006/main">
              <a:ext uri="{FF2B5EF4-FFF2-40B4-BE49-F238E27FC236}">
                <a16:creationId xmlns:a16="http://schemas.microsoft.com/office/drawing/2014/main" id="{80DD5425-A34E-406E-B370-801A5A848E86}"/>
              </a:ext>
            </a:extLst>
          </p:cNvPr>
          <p:cNvSpPr>
            <a:spLocks xmlns:a="http://schemas.openxmlformats.org/drawingml/2006/main" noGrp="1"/>
          </p:cNvSpPr>
          <p:nvPr/>
        </p:nvSpPr>
        <p:spPr>
          <a:xfrm xmlns:a="http://schemas.openxmlformats.org/drawingml/2006/main">
            <a:off x="1252728" y="3026664"/>
            <a:ext cx="210312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A344D"/>
                </a:solidFill>
                <a:latin typeface="Aptos"/>
                <a:ea typeface="Aptos"/>
                <a:cs typeface="Aptos"/>
              </a:rPr>
              <a:t>3GPP TS 38.413</a:t>
            </a:r>
            <a:endParaRPr sz="1100"/>
          </a:p>
        </p:txBody>
      </p:sp>
      <p:sp>
        <p:nvSpPr>
          <p:cNvPr id="16" name="Text 14">
            <a:extLst xmlns:a="http://schemas.openxmlformats.org/drawingml/2006/main">
              <a:ext uri="{FF2B5EF4-FFF2-40B4-BE49-F238E27FC236}">
                <a16:creationId xmlns:a16="http://schemas.microsoft.com/office/drawing/2014/main" id="{29283573-EF46-49FA-84EE-6C39E79ADCF4}"/>
              </a:ext>
            </a:extLst>
          </p:cNvPr>
          <p:cNvSpPr>
            <a:spLocks xmlns:a="http://schemas.openxmlformats.org/drawingml/2006/main" noGrp="1"/>
          </p:cNvSpPr>
          <p:nvPr/>
        </p:nvSpPr>
        <p:spPr>
          <a:xfrm xmlns:a="http://schemas.openxmlformats.org/drawingml/2006/main">
            <a:off x="3447288" y="3026664"/>
            <a:ext cx="800100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C6978"/>
                </a:solidFill>
                <a:latin typeface="Aptos"/>
                <a:ea typeface="Aptos"/>
                <a:cs typeface="Aptos"/>
              </a:rPr>
              <a:t>NG Application Protocol; resource setup, modification and release.</a:t>
            </a:r>
            <a:endParaRPr sz="1050"/>
          </a:p>
        </p:txBody>
      </p:sp>
      <p:sp>
        <p:nvSpPr>
          <p:cNvPr id="17" name="Shape 15">
            <a:extLst xmlns:a="http://schemas.openxmlformats.org/drawingml/2006/main">
              <a:ext uri="{FF2B5EF4-FFF2-40B4-BE49-F238E27FC236}">
                <a16:creationId xmlns:a16="http://schemas.microsoft.com/office/drawing/2014/main" id="{C12A4BA2-99BA-4E8B-A479-4D446768A548}"/>
              </a:ext>
            </a:extLst>
          </p:cNvPr>
          <p:cNvSpPr>
            <a:spLocks xmlns:a="http://schemas.openxmlformats.org/drawingml/2006/main" noGrp="1"/>
          </p:cNvSpPr>
          <p:nvPr/>
        </p:nvSpPr>
        <p:spPr>
          <a:xfrm xmlns:a="http://schemas.openxmlformats.org/drawingml/2006/main">
            <a:off x="566928" y="3648456"/>
            <a:ext cx="11064240" cy="530352"/>
          </a:xfrm>
          <a:prstGeom xmlns:a="http://schemas.openxmlformats.org/drawingml/2006/main" prst="roundRect">
            <a:avLst>
              <a:gd name="adj" fmla="val 15517"/>
            </a:avLst>
          </a:prstGeom>
          <a:solidFill xmlns:a="http://schemas.openxmlformats.org/drawingml/2006/main">
            <a:srgbClr val="F6F8FB"/>
          </a:solidFill>
          <a:ln xmlns:a="http://schemas.openxmlformats.org/drawingml/2006/main" w="12700">
            <a:solidFill>
              <a:srgbClr val="E4E9F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F2167881-3873-4857-9D3B-938C1CC2D73A}"/>
              </a:ext>
            </a:extLst>
          </p:cNvPr>
          <p:cNvSpPr>
            <a:spLocks xmlns:a="http://schemas.openxmlformats.org/drawingml/2006/main" noGrp="1"/>
          </p:cNvSpPr>
          <p:nvPr/>
        </p:nvSpPr>
        <p:spPr>
          <a:xfrm xmlns:a="http://schemas.openxmlformats.org/drawingml/2006/main">
            <a:off x="768096" y="3648456"/>
            <a:ext cx="45720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2F6FED"/>
                </a:solidFill>
                <a:latin typeface="Aptos"/>
                <a:ea typeface="Aptos"/>
                <a:cs typeface="Aptos"/>
              </a:rPr>
              <a:t>[4]</a:t>
            </a:r>
            <a:endParaRPr sz="1150"/>
          </a:p>
        </p:txBody>
      </p:sp>
      <p:sp>
        <p:nvSpPr>
          <p:cNvPr id="19" name="Text 17">
            <a:extLst xmlns:a="http://schemas.openxmlformats.org/drawingml/2006/main">
              <a:ext uri="{FF2B5EF4-FFF2-40B4-BE49-F238E27FC236}">
                <a16:creationId xmlns:a16="http://schemas.microsoft.com/office/drawing/2014/main" id="{B2250362-B695-4C57-8F66-8BC469899D8F}"/>
              </a:ext>
            </a:extLst>
          </p:cNvPr>
          <p:cNvSpPr>
            <a:spLocks xmlns:a="http://schemas.openxmlformats.org/drawingml/2006/main" noGrp="1"/>
          </p:cNvSpPr>
          <p:nvPr/>
        </p:nvSpPr>
        <p:spPr>
          <a:xfrm xmlns:a="http://schemas.openxmlformats.org/drawingml/2006/main">
            <a:off x="1252728" y="3648456"/>
            <a:ext cx="210312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A344D"/>
                </a:solidFill>
                <a:latin typeface="Aptos"/>
                <a:ea typeface="Aptos"/>
                <a:cs typeface="Aptos"/>
              </a:rPr>
              <a:t>3GPP TS 38.412</a:t>
            </a:r>
            <a:endParaRPr sz="1100"/>
          </a:p>
        </p:txBody>
      </p:sp>
      <p:sp>
        <p:nvSpPr>
          <p:cNvPr id="20" name="Text 18">
            <a:extLst xmlns:a="http://schemas.openxmlformats.org/drawingml/2006/main">
              <a:ext uri="{FF2B5EF4-FFF2-40B4-BE49-F238E27FC236}">
                <a16:creationId xmlns:a16="http://schemas.microsoft.com/office/drawing/2014/main" id="{FB5CE61A-4A75-4050-BD36-81856AA58A2C}"/>
              </a:ext>
            </a:extLst>
          </p:cNvPr>
          <p:cNvSpPr>
            <a:spLocks xmlns:a="http://schemas.openxmlformats.org/drawingml/2006/main" noGrp="1"/>
          </p:cNvSpPr>
          <p:nvPr/>
        </p:nvSpPr>
        <p:spPr>
          <a:xfrm xmlns:a="http://schemas.openxmlformats.org/drawingml/2006/main">
            <a:off x="3447288" y="3648456"/>
            <a:ext cx="800100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C6978"/>
                </a:solidFill>
                <a:latin typeface="Aptos"/>
                <a:ea typeface="Aptos"/>
                <a:cs typeface="Aptos"/>
              </a:rPr>
              <a:t>NG signalling transport; reliable NGAP transfer over SCTP.</a:t>
            </a:r>
            <a:endParaRPr sz="1050"/>
          </a:p>
        </p:txBody>
      </p:sp>
      <p:sp>
        <p:nvSpPr>
          <p:cNvPr id="21" name="Shape 19">
            <a:extLst xmlns:a="http://schemas.openxmlformats.org/drawingml/2006/main">
              <a:ext uri="{FF2B5EF4-FFF2-40B4-BE49-F238E27FC236}">
                <a16:creationId xmlns:a16="http://schemas.microsoft.com/office/drawing/2014/main" id="{2674E10D-FE37-44E0-9564-B94596C03F93}"/>
              </a:ext>
            </a:extLst>
          </p:cNvPr>
          <p:cNvSpPr>
            <a:spLocks xmlns:a="http://schemas.openxmlformats.org/drawingml/2006/main" noGrp="1"/>
          </p:cNvSpPr>
          <p:nvPr/>
        </p:nvSpPr>
        <p:spPr>
          <a:xfrm xmlns:a="http://schemas.openxmlformats.org/drawingml/2006/main">
            <a:off x="566928" y="4270248"/>
            <a:ext cx="11064240" cy="530352"/>
          </a:xfrm>
          <a:prstGeom xmlns:a="http://schemas.openxmlformats.org/drawingml/2006/main" prst="roundRect">
            <a:avLst>
              <a:gd name="adj" fmla="val 15517"/>
            </a:avLst>
          </a:prstGeom>
          <a:solidFill xmlns:a="http://schemas.openxmlformats.org/drawingml/2006/main">
            <a:srgbClr val="FFFFFF"/>
          </a:solidFill>
          <a:ln xmlns:a="http://schemas.openxmlformats.org/drawingml/2006/main" w="12700">
            <a:solidFill>
              <a:srgbClr val="E4E9F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B5C01F73-EAEC-426F-94B7-3A37D175E2A2}"/>
              </a:ext>
            </a:extLst>
          </p:cNvPr>
          <p:cNvSpPr>
            <a:spLocks xmlns:a="http://schemas.openxmlformats.org/drawingml/2006/main" noGrp="1"/>
          </p:cNvSpPr>
          <p:nvPr/>
        </p:nvSpPr>
        <p:spPr>
          <a:xfrm xmlns:a="http://schemas.openxmlformats.org/drawingml/2006/main">
            <a:off x="768096" y="4270248"/>
            <a:ext cx="45720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2F6FED"/>
                </a:solidFill>
                <a:latin typeface="Aptos"/>
                <a:ea typeface="Aptos"/>
                <a:cs typeface="Aptos"/>
              </a:rPr>
              <a:t>[5]</a:t>
            </a:r>
            <a:endParaRPr sz="1150"/>
          </a:p>
        </p:txBody>
      </p:sp>
      <p:sp>
        <p:nvSpPr>
          <p:cNvPr id="23" name="Text 21">
            <a:extLst xmlns:a="http://schemas.openxmlformats.org/drawingml/2006/main">
              <a:ext uri="{FF2B5EF4-FFF2-40B4-BE49-F238E27FC236}">
                <a16:creationId xmlns:a16="http://schemas.microsoft.com/office/drawing/2014/main" id="{587C155C-CB03-4AF5-876C-71C6A317A618}"/>
              </a:ext>
            </a:extLst>
          </p:cNvPr>
          <p:cNvSpPr>
            <a:spLocks xmlns:a="http://schemas.openxmlformats.org/drawingml/2006/main" noGrp="1"/>
          </p:cNvSpPr>
          <p:nvPr/>
        </p:nvSpPr>
        <p:spPr>
          <a:xfrm xmlns:a="http://schemas.openxmlformats.org/drawingml/2006/main">
            <a:off x="1252728" y="4270248"/>
            <a:ext cx="210312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A344D"/>
                </a:solidFill>
                <a:latin typeface="Aptos"/>
                <a:ea typeface="Aptos"/>
                <a:cs typeface="Aptos"/>
              </a:rPr>
              <a:t>IEEE ICIN 2020</a:t>
            </a:r>
            <a:endParaRPr sz="1100"/>
          </a:p>
        </p:txBody>
      </p:sp>
      <p:sp>
        <p:nvSpPr>
          <p:cNvPr id="24" name="Text 22">
            <a:extLst xmlns:a="http://schemas.openxmlformats.org/drawingml/2006/main">
              <a:ext uri="{FF2B5EF4-FFF2-40B4-BE49-F238E27FC236}">
                <a16:creationId xmlns:a16="http://schemas.microsoft.com/office/drawing/2014/main" id="{A1D73FA4-45A2-46EF-9F34-5FC864AF5AFA}"/>
              </a:ext>
            </a:extLst>
          </p:cNvPr>
          <p:cNvSpPr>
            <a:spLocks xmlns:a="http://schemas.openxmlformats.org/drawingml/2006/main" noGrp="1"/>
          </p:cNvSpPr>
          <p:nvPr/>
        </p:nvSpPr>
        <p:spPr>
          <a:xfrm xmlns:a="http://schemas.openxmlformats.org/drawingml/2006/main">
            <a:off x="3447288" y="4270248"/>
            <a:ext cx="800100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C6978"/>
                </a:solidFill>
                <a:latin typeface="Aptos"/>
                <a:ea typeface="Aptos"/>
                <a:cs typeface="Aptos"/>
              </a:rPr>
              <a:t>Sid-Otmane et al., Data Consistency in the 5G Specification (additional conceptual reference).</a:t>
            </a:r>
            <a:endParaRPr sz="1050"/>
          </a:p>
        </p:txBody>
      </p:sp>
      <p:sp>
        <p:nvSpPr>
          <p:cNvPr id="25" name="Shape 23">
            <a:extLst xmlns:a="http://schemas.openxmlformats.org/drawingml/2006/main">
              <a:ext uri="{FF2B5EF4-FFF2-40B4-BE49-F238E27FC236}">
                <a16:creationId xmlns:a16="http://schemas.microsoft.com/office/drawing/2014/main" id="{A80030F9-9CF5-48B4-833C-F772CDAF6003}"/>
              </a:ext>
            </a:extLst>
          </p:cNvPr>
          <p:cNvSpPr>
            <a:spLocks xmlns:a="http://schemas.openxmlformats.org/drawingml/2006/main" noGrp="1"/>
          </p:cNvSpPr>
          <p:nvPr/>
        </p:nvSpPr>
        <p:spPr>
          <a:xfrm xmlns:a="http://schemas.openxmlformats.org/drawingml/2006/main">
            <a:off x="566928" y="4892040"/>
            <a:ext cx="11064240" cy="530352"/>
          </a:xfrm>
          <a:prstGeom xmlns:a="http://schemas.openxmlformats.org/drawingml/2006/main" prst="roundRect">
            <a:avLst>
              <a:gd name="adj" fmla="val 15517"/>
            </a:avLst>
          </a:prstGeom>
          <a:solidFill xmlns:a="http://schemas.openxmlformats.org/drawingml/2006/main">
            <a:srgbClr val="F6F8FB"/>
          </a:solidFill>
          <a:ln xmlns:a="http://schemas.openxmlformats.org/drawingml/2006/main" w="12700">
            <a:solidFill>
              <a:srgbClr val="E4E9F0"/>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5CE5B5A9-3F35-4AF2-9DD4-8FD7C9962549}"/>
              </a:ext>
            </a:extLst>
          </p:cNvPr>
          <p:cNvSpPr>
            <a:spLocks xmlns:a="http://schemas.openxmlformats.org/drawingml/2006/main" noGrp="1"/>
          </p:cNvSpPr>
          <p:nvPr/>
        </p:nvSpPr>
        <p:spPr>
          <a:xfrm xmlns:a="http://schemas.openxmlformats.org/drawingml/2006/main">
            <a:off x="768096" y="4892040"/>
            <a:ext cx="45720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b="1">
                <a:solidFill>
                  <a:srgbClr val="2F6FED"/>
                </a:solidFill>
                <a:latin typeface="Aptos"/>
                <a:ea typeface="Aptos"/>
                <a:cs typeface="Aptos"/>
              </a:rPr>
              <a:t>[6]</a:t>
            </a:r>
            <a:endParaRPr sz="1150"/>
          </a:p>
        </p:txBody>
      </p:sp>
      <p:sp>
        <p:nvSpPr>
          <p:cNvPr id="27" name="Text 25">
            <a:extLst xmlns:a="http://schemas.openxmlformats.org/drawingml/2006/main">
              <a:ext uri="{FF2B5EF4-FFF2-40B4-BE49-F238E27FC236}">
                <a16:creationId xmlns:a16="http://schemas.microsoft.com/office/drawing/2014/main" id="{89B63937-6435-4438-A013-6B10D0B39E17}"/>
              </a:ext>
            </a:extLst>
          </p:cNvPr>
          <p:cNvSpPr>
            <a:spLocks xmlns:a="http://schemas.openxmlformats.org/drawingml/2006/main" noGrp="1"/>
          </p:cNvSpPr>
          <p:nvPr/>
        </p:nvSpPr>
        <p:spPr>
          <a:xfrm xmlns:a="http://schemas.openxmlformats.org/drawingml/2006/main">
            <a:off x="1252728" y="4892040"/>
            <a:ext cx="210312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A344D"/>
                </a:solidFill>
                <a:latin typeface="Aptos"/>
                <a:ea typeface="Aptos"/>
                <a:cs typeface="Aptos"/>
              </a:rPr>
              <a:t>IEEE ICTC 2025</a:t>
            </a:r>
            <a:endParaRPr sz="1100"/>
          </a:p>
        </p:txBody>
      </p:sp>
      <p:sp>
        <p:nvSpPr>
          <p:cNvPr id="28" name="Text 26">
            <a:extLst xmlns:a="http://schemas.openxmlformats.org/drawingml/2006/main">
              <a:ext uri="{FF2B5EF4-FFF2-40B4-BE49-F238E27FC236}">
                <a16:creationId xmlns:a16="http://schemas.microsoft.com/office/drawing/2014/main" id="{F78AF855-A6CB-4F2A-BE81-79F8D9C2BA7A}"/>
              </a:ext>
            </a:extLst>
          </p:cNvPr>
          <p:cNvSpPr>
            <a:spLocks xmlns:a="http://schemas.openxmlformats.org/drawingml/2006/main" noGrp="1"/>
          </p:cNvSpPr>
          <p:nvPr/>
        </p:nvSpPr>
        <p:spPr>
          <a:xfrm xmlns:a="http://schemas.openxmlformats.org/drawingml/2006/main">
            <a:off x="3447288" y="4892040"/>
            <a:ext cx="8001000" cy="53035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a:solidFill>
                  <a:srgbClr val="5C6978"/>
                </a:solidFill>
                <a:latin typeface="Aptos"/>
                <a:ea typeface="Aptos"/>
                <a:cs typeface="Aptos"/>
              </a:rPr>
              <a:t>Y.-J. Cho et al., A Framework for AI-Based Large-Scale Time-Series Anomaly Detection in 5G Core Networks (base paper).</a:t>
            </a:r>
            <a:endParaRPr sz="1050"/>
          </a:p>
        </p:txBody>
      </p:sp>
      <p:sp>
        <p:nvSpPr>
          <p:cNvPr id="29" name="Text 27">
            <a:extLst xmlns:a="http://schemas.openxmlformats.org/drawingml/2006/main">
              <a:ext uri="{FF2B5EF4-FFF2-40B4-BE49-F238E27FC236}">
                <a16:creationId xmlns:a16="http://schemas.microsoft.com/office/drawing/2014/main" id="{ED3E4679-5AA6-4891-B590-ED3D7CFF20A9}"/>
              </a:ext>
            </a:extLst>
          </p:cNvPr>
          <p:cNvSpPr>
            <a:spLocks xmlns:a="http://schemas.openxmlformats.org/drawingml/2006/main" noGrp="1"/>
          </p:cNvSpPr>
          <p:nvPr/>
        </p:nvSpPr>
        <p:spPr>
          <a:xfrm xmlns:a="http://schemas.openxmlformats.org/drawingml/2006/main">
            <a:off x="566928" y="5623560"/>
            <a:ext cx="10515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8A94A0"/>
                </a:solidFill>
                <a:latin typeface="Aptos"/>
                <a:ea typeface="Aptos"/>
                <a:cs typeface="Aptos"/>
              </a:rPr>
              <a:t>Source data: results/final-benchmark/summary.json. Procedure timings and recovery policy are experimental assumptions.</a:t>
            </a:r>
            <a:endParaRPr sz="1000"/>
          </a:p>
        </p:txBody>
      </p:sp>
      <p:sp>
        <p:nvSpPr>
          <p:cNvPr id="30" name="Text 28">
            <a:extLst xmlns:a="http://schemas.openxmlformats.org/drawingml/2006/main">
              <a:ext uri="{FF2B5EF4-FFF2-40B4-BE49-F238E27FC236}">
                <a16:creationId xmlns:a16="http://schemas.microsoft.com/office/drawing/2014/main" id="{AFCD4DA1-4835-475D-8D5E-7B60FDC7F502}"/>
              </a:ext>
            </a:extLst>
          </p:cNvPr>
          <p:cNvSpPr>
            <a:spLocks xmlns:a="http://schemas.openxmlformats.org/drawingml/2006/main" noGrp="1"/>
          </p:cNvSpPr>
          <p:nvPr/>
        </p:nvSpPr>
        <p:spPr>
          <a:xfrm xmlns:a="http://schemas.openxmlformats.org/drawingml/2006/main">
            <a:off x="566928" y="6510528"/>
            <a:ext cx="86868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800">
                <a:solidFill>
                  <a:srgbClr val="8A94A0"/>
                </a:solidFill>
                <a:latin typeface="Aptos"/>
                <a:ea typeface="Aptos"/>
                <a:cs typeface="Aptos"/>
              </a:rPr>
              <a:t>Final Project</a:t>
            </a:r>
            <a:r>
              <a:rPr sz="800">
                <a:solidFill>
                  <a:srgbClr val="8A94A0"/>
                </a:solidFill>
                <a:latin typeface="Aptos"/>
                <a:ea typeface="Aptos"/>
                <a:cs typeface="Aptos"/>
              </a:rPr>
              <a:t>  •  5G UE Context Desynchronization Detection and Recovery</a:t>
            </a:r>
            <a:endParaRPr sz="800"/>
          </a:p>
        </p:txBody>
      </p:sp>
      <p:sp>
        <p:nvSpPr>
          <p:cNvPr id="31" name="Text 29">
            <a:extLst xmlns:a="http://schemas.openxmlformats.org/drawingml/2006/main">
              <a:ext uri="{FF2B5EF4-FFF2-40B4-BE49-F238E27FC236}">
                <a16:creationId xmlns:a16="http://schemas.microsoft.com/office/drawing/2014/main" id="{D0D504C2-4CFF-497C-9DD4-22785B7E0E9A}"/>
              </a:ext>
            </a:extLst>
          </p:cNvPr>
          <p:cNvSpPr>
            <a:spLocks xmlns:a="http://schemas.openxmlformats.org/drawingml/2006/main" noGrp="1"/>
          </p:cNvSpPr>
          <p:nvPr/>
        </p:nvSpPr>
        <p:spPr>
          <a:xfrm xmlns:a="http://schemas.openxmlformats.org/drawingml/2006/main">
            <a:off x="11164824" y="6510528"/>
            <a:ext cx="45720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b="1">
                <a:solidFill>
                  <a:srgbClr val="8A94A0"/>
                </a:solidFill>
                <a:latin typeface="Aptos"/>
                <a:ea typeface="Aptos"/>
                <a:cs typeface="Aptos"/>
              </a:rPr>
              <a:t>15</a:t>
            </a:r>
            <a:endParaRPr sz="900"/>
          </a:p>
        </p:txBody>
      </p:sp>
    </p:spTree>
    <p:extLst>
      <p:ext uri="{BB962C8B-B14F-4D97-AF65-F5344CB8AC3E}">
        <p14:creationId xmlns:p14="http://schemas.microsoft.com/office/powerpoint/2010/main" val="152634234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2026-10-16T04:17:45.3270000Z</dcterms:created>
  <dcterms:modified xsi:type="dcterms:W3CDTF">2026-10-16T04:17:45.3270000Z</dcterms:modified>
</coreProperties>
</file>